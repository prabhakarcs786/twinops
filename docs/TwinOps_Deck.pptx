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7619755b544d55" /><Relationship Type="http://schemas.openxmlformats.org/officeDocument/2006/relationships/extended-properties" Target="/docProps/app.xml" Id="R79454c805db04b84" /><Relationship Type="http://schemas.openxmlformats.org/officeDocument/2006/relationships/officeDocument" Target="/ppt/presentation.xml" Id="R9b745fb7126c4cc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f26502e26444181"/>
  </p:sldMasterIdLst>
  <p:notesMasterIdLst>
    <p:notesMasterId xmlns:r="http://schemas.openxmlformats.org/officeDocument/2006/relationships" r:id="Rb699ab9956404d7e"/>
  </p:notesMasterIdLst>
  <p:sldIdLst>
    <p:sldId xmlns:r="http://schemas.openxmlformats.org/officeDocument/2006/relationships" id="256" r:id="Rcb9f2c3483ff49a8"/>
    <p:sldId xmlns:r="http://schemas.openxmlformats.org/officeDocument/2006/relationships" id="257" r:id="R62326b4ce1914ebf"/>
    <p:sldId xmlns:r="http://schemas.openxmlformats.org/officeDocument/2006/relationships" id="258" r:id="R56b3241562024c8b"/>
    <p:sldId xmlns:r="http://schemas.openxmlformats.org/officeDocument/2006/relationships" id="259" r:id="R51812158173b40c6"/>
    <p:sldId xmlns:r="http://schemas.openxmlformats.org/officeDocument/2006/relationships" id="260" r:id="R6605293bd6104d2e"/>
    <p:sldId xmlns:r="http://schemas.openxmlformats.org/officeDocument/2006/relationships" id="261" r:id="R56e7910fee944db4"/>
    <p:sldId xmlns:r="http://schemas.openxmlformats.org/officeDocument/2006/relationships" id="262" r:id="R7f9d34e3ba1c44e2"/>
    <p:sldId xmlns:r="http://schemas.openxmlformats.org/officeDocument/2006/relationships" id="263" r:id="R0abba83807554b07"/>
    <p:sldId xmlns:r="http://schemas.openxmlformats.org/officeDocument/2006/relationships" id="264" r:id="Rae8f8686bfda4d66"/>
    <p:sldId xmlns:r="http://schemas.openxmlformats.org/officeDocument/2006/relationships" id="265" r:id="R1a1a404c260f438b"/>
    <p:sldId xmlns:r="http://schemas.openxmlformats.org/officeDocument/2006/relationships" id="266" r:id="R1186cdf737d34b7e"/>
    <p:sldId xmlns:r="http://schemas.openxmlformats.org/officeDocument/2006/relationships" id="267" r:id="Ra573d6aba4374d99"/>
    <p:sldId xmlns:r="http://schemas.openxmlformats.org/officeDocument/2006/relationships" id="268" r:id="R0d88d05f40e74cba"/>
  </p:sldIdLst>
  <p:sldSz cx="9144000" cy="5143500"/>
  <p:notesSz cx="6858000" cy="9144000"/>
  <p:embeddedFontLst>
    <p:embeddedFont>
      <p:font typeface="Google Sans Flex Medium"/>
      <p:regular xmlns:r="http://schemas.openxmlformats.org/officeDocument/2006/relationships" r:id="R0bc1b1bf691543cb"/>
      <p:bold xmlns:r="http://schemas.openxmlformats.org/officeDocument/2006/relationships" r:id="Rda0fee517a904bf9"/>
    </p:embeddedFont>
    <p:embeddedFont>
      <p:font typeface="Google Sans Flex"/>
      <p:regular xmlns:r="http://schemas.openxmlformats.org/officeDocument/2006/relationships" r:id="Re28444c225c247ee"/>
      <p:bold xmlns:r="http://schemas.openxmlformats.org/officeDocument/2006/relationships" r:id="R6f59c48abe9a4532"/>
    </p:embeddedFont>
    <p:embeddedFont>
      <p:font typeface="Google Sans Flex SemiBold"/>
      <p:regular xmlns:r="http://schemas.openxmlformats.org/officeDocument/2006/relationships" r:id="R8aadd239d18448f0"/>
      <p:bold xmlns:r="http://schemas.openxmlformats.org/officeDocument/2006/relationships" r:id="Rf09f08f7261440e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5a35449b346413d" /><Relationship Type="http://schemas.openxmlformats.org/officeDocument/2006/relationships/slideMaster" Target="/ppt/slideMasters/slideMaster1.xml" Id="Rff26502e26444181" /><Relationship Type="http://schemas.openxmlformats.org/officeDocument/2006/relationships/notesMaster" Target="/ppt/notesMasters/notesMaster1.xml" Id="Rb699ab9956404d7e" /><Relationship Type="http://schemas.openxmlformats.org/officeDocument/2006/relationships/presProps" Target="/ppt/presProps.xml" Id="R38ae3dce50a045dc" /><Relationship Type="http://schemas.openxmlformats.org/officeDocument/2006/relationships/viewProps" Target="/ppt/viewProps.xml" Id="R325c81f1b29549a9" /><Relationship Type="http://schemas.openxmlformats.org/officeDocument/2006/relationships/tableStyles" Target="/ppt/tableStyles.xml" Id="R1910d3c32ae24579" /><Relationship Type="http://schemas.openxmlformats.org/officeDocument/2006/relationships/font" Target="/ppt/fonts/font.dat" Id="R0bc1b1bf691543cb" /><Relationship Type="http://schemas.openxmlformats.org/officeDocument/2006/relationships/font" Target="/ppt/fonts/font2.dat" Id="Rda0fee517a904bf9" /><Relationship Type="http://schemas.openxmlformats.org/officeDocument/2006/relationships/font" Target="/ppt/fonts/font3.dat" Id="Re28444c225c247ee" /><Relationship Type="http://schemas.openxmlformats.org/officeDocument/2006/relationships/font" Target="/ppt/fonts/font4.dat" Id="R6f59c48abe9a4532" /><Relationship Type="http://schemas.openxmlformats.org/officeDocument/2006/relationships/font" Target="/ppt/fonts/font5.dat" Id="R8aadd239d18448f0" /><Relationship Type="http://schemas.openxmlformats.org/officeDocument/2006/relationships/font" Target="/ppt/fonts/font6.dat" Id="Rf09f08f7261440ea" /><Relationship Type="http://schemas.openxmlformats.org/officeDocument/2006/relationships/slide" Target="/ppt/slides/slide1.xml" Id="Rcb9f2c3483ff49a8" /><Relationship Type="http://schemas.openxmlformats.org/officeDocument/2006/relationships/slide" Target="/ppt/slides/slide2.xml" Id="R62326b4ce1914ebf" /><Relationship Type="http://schemas.openxmlformats.org/officeDocument/2006/relationships/slide" Target="/ppt/slides/slide3.xml" Id="R56b3241562024c8b" /><Relationship Type="http://schemas.openxmlformats.org/officeDocument/2006/relationships/slide" Target="/ppt/slides/slide4.xml" Id="R51812158173b40c6" /><Relationship Type="http://schemas.openxmlformats.org/officeDocument/2006/relationships/slide" Target="/ppt/slides/slide5.xml" Id="R6605293bd6104d2e" /><Relationship Type="http://schemas.openxmlformats.org/officeDocument/2006/relationships/slide" Target="/ppt/slides/slide6.xml" Id="R56e7910fee944db4" /><Relationship Type="http://schemas.openxmlformats.org/officeDocument/2006/relationships/slide" Target="/ppt/slides/slide7.xml" Id="R7f9d34e3ba1c44e2" /><Relationship Type="http://schemas.openxmlformats.org/officeDocument/2006/relationships/slide" Target="/ppt/slides/slide8.xml" Id="R0abba83807554b07" /><Relationship Type="http://schemas.openxmlformats.org/officeDocument/2006/relationships/slide" Target="/ppt/slides/slide9.xml" Id="Rae8f8686bfda4d66" /><Relationship Type="http://schemas.openxmlformats.org/officeDocument/2006/relationships/slide" Target="/ppt/slides/slide10.xml" Id="R1a1a404c260f438b" /><Relationship Type="http://schemas.openxmlformats.org/officeDocument/2006/relationships/slide" Target="/ppt/slides/slide11.xml" Id="R1186cdf737d34b7e" /><Relationship Type="http://schemas.openxmlformats.org/officeDocument/2006/relationships/slide" Target="/ppt/slides/slide12.xml" Id="Ra573d6aba4374d99" /><Relationship Type="http://schemas.openxmlformats.org/officeDocument/2006/relationships/slide" Target="/ppt/slides/slide13.xml" Id="R0d88d05f40e74c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0f00e4fde64c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acd722acfb4578" /><Relationship Type="http://schemas.openxmlformats.org/officeDocument/2006/relationships/notesMaster" Target="/ppt/notesMasters/notesMaster1.xml" Id="R362afeee0a4948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c1783543644fa0" /><Relationship Type="http://schemas.openxmlformats.org/officeDocument/2006/relationships/notesMaster" Target="/ppt/notesMasters/notesMaster1.xml" Id="Rb16585cc0ac8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9967a00f004750" /><Relationship Type="http://schemas.openxmlformats.org/officeDocument/2006/relationships/notesMaster" Target="/ppt/notesMasters/notesMaster1.xml" Id="Rf5c7394274124d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3736b69ae94616" /><Relationship Type="http://schemas.openxmlformats.org/officeDocument/2006/relationships/notesMaster" Target="/ppt/notesMasters/notesMaster1.xml" Id="Rd0243ea033b541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2d318fa177480c" /><Relationship Type="http://schemas.openxmlformats.org/officeDocument/2006/relationships/notesMaster" Target="/ppt/notesMasters/notesMaster1.xml" Id="Re0d0ffdb933f45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793ddf21414114" /><Relationship Type="http://schemas.openxmlformats.org/officeDocument/2006/relationships/notesMaster" Target="/ppt/notesMasters/notesMaster1.xml" Id="R29ffb1872c0e43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d9bfed14d8445b" /><Relationship Type="http://schemas.openxmlformats.org/officeDocument/2006/relationships/notesMaster" Target="/ppt/notesMasters/notesMaster1.xml" Id="Rcecd8e76e2634c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54eca3f93c4a8a" /><Relationship Type="http://schemas.openxmlformats.org/officeDocument/2006/relationships/notesMaster" Target="/ppt/notesMasters/notesMaster1.xml" Id="R42f5b60e400b46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b84bcbd1b44b49" /><Relationship Type="http://schemas.openxmlformats.org/officeDocument/2006/relationships/notesMaster" Target="/ppt/notesMasters/notesMaster1.xml" Id="R54cea249c83f47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c6fd9e79d548f3" /><Relationship Type="http://schemas.openxmlformats.org/officeDocument/2006/relationships/notesMaster" Target="/ppt/notesMasters/notesMaster1.xml" Id="Rb042f59ff0f848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7c0ca98c224403" /><Relationship Type="http://schemas.openxmlformats.org/officeDocument/2006/relationships/notesMaster" Target="/ppt/notesMasters/notesMaster1.xml" Id="R8fcee9409f0a41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9c4e1c4de34b13" /><Relationship Type="http://schemas.openxmlformats.org/officeDocument/2006/relationships/notesMaster" Target="/ppt/notesMasters/notesMaster1.xml" Id="R6006af9534424e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3a8ed1d1d542c1" /><Relationship Type="http://schemas.openxmlformats.org/officeDocument/2006/relationships/notesMaster" Target="/ppt/notesMasters/notesMaster1.xml" Id="Raf78729d3b8443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Registered team and names confirmed by the project owner on 16 October 2026. Project: TwinOps. The network topology and incidents are synthetic. Contact email addresses are intentionally omitted from this public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Real application screenshot from the recorded routing incident on 15 October 2026. BER means Berlin and HAM means Hamburg. Two of four journeys fail when a route filter blocks their return routes. The prototype serves network operations engineers, SREs and change approvers. Source: https://github.com/prabhakarcs786/twinops/blob/main/docs/evidence/recorded-demo.json.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diagram explains TwinOps’s role in an operations workflow. The implemented target is the synthetic Metro application lab, not a production carrier network. Evidence passes to the human reviewer before authorized apply. Sources: https://github.com/prabhakarcs786/twinops/blob/main/docs/TECHNICAL_GUIDE.md and https://github.com/prabhakarcs786/twinops/blob/main/docs/evidence/recorded-demo.json.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 editable summary of candidates A and B from the actual hosted run. Candidate B was superseded after a failed IPv6 challenge. Additional revisions and a restart candidate also failed. The chosen repair removes B17 route-filter entry 30. Sources: https://github.com/prabhakarcs786/twinops/blob/main/docs/evidence/recorded-demo.json and the recorded workbench comparison. Supported exercises include routing, DNS and TLS.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Follow the top row left to right, then the bottom row right to left. The selected exercise fault is never sent to the planner. Step 5 challenges the alternatives before the engineer reviews evidence. The apply gateway rechecks evidence age and target drift. Recorded outcome: four journeys and three safety controls healthy, with 11 of 11 recovery checks across three windows. Source: https://github.com/prabhakarcs786/twinops/blob/main/docs/evidence/recorded-demo.json.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Actual screenshot from the hosted recording, cropped to the evidence panel. The credential form is outside the crop. The operator sees the tested action, content and target-state hashes, rehearsed rollback and explicit limits. The private approval credential is never included in submission materials. Public evidence: https://github.com/prabhakarcs786/twinops/blob/main/docs/evidence/recorded-demo.json.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Logical architecture of the deployed prototype. Blue lines show observations, structured AI requests and experiments. Green lines show evidence-gated and human-authorized writes, followed by verification. The model has no direct network-write tool. Metro and the twin use separate Linux network namespaces inside one Cloud Run instance. SQLite and lab state are ephemeral. Sources: https://github.com/prabhakarcs786/twinops/blob/main/backend/twinops/cloudrun.py, https://github.com/prabhakarcs786/twinops/blob/main/deploy/cloudrun-lab.Dockerfile and https://github.com/prabhakarcs786/twinops/blob/main/docs/TECHNICAL_GUIDE.md.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https://github.com/prabhakarcs786/twinops/blob/main/backend/pyproject.toml, https://github.com/prabhakarcs786/twinops/blob/main/frontend/package.json, https://github.com/prabhakarcs786/twinops/blob/main/deploy/cloudrun-lab.sh. Technology eligibility clarification supplied by the owner on 16 October 2026: Firebase and Firestore are not mandatory when using Cloud 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Cropped actual Metro screen from the same incident as the video. The before/during/after rows are independent connectivity measurements. BER = Berlin, HAM = Hamburg, MUC = Munich, FRA = Frankfurt. Selected repair: remove B17 prefix-list entry 30. All four journeys and three safety controls were healthy afterward. This is one lab run, not a production reliability or latency improvement claim. Source: https://github.com/prabhakarcs786/twinops/blob/main/docs/evidence/recorded-demo.json.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https://github.com/prabhakarcs786/twinops/blob/main/docs/evidence/recorded-demo.json and https://github.com/prabhakarcs786/twinops/blob/main/docs/evidence/foundation-evaluation.json. The evidence scopes are distinct; no model-versus-runbook superiority is claimed. All results are scoped to the recorded protocol-lab run or deterministic model cases. Human productivity trials are pending. The video shortens waiting and review time and is not a repair-time benchmark.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https://github.com/prabhakarcs786/twinops/blob/main/docs/TECHNICAL_GUIDE.md#limits-and-next-steps and https://github.com/prabhakarcs786/twinops/blob/main/docs/SUBMISSION.md. These are planned steps, not implemented production capabilities. Physical hardware, routing convergence at production scale and arbitrary concurrent faults remain outside validated fidelity.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Public links checked on 16 October 2026. The current public video preserves the hosted repair described in this presentation. Waiting and review time are shortened. Approval access is provided privately by the project host; no credential is included in this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5d7a05fcef42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f6e49b395d45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9fe014fe2e47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8c784611b845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9d29fbd47148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4e6841558f460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6399562a49749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aea15125d0b47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02d9bfb978c48f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6df040cba8b491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16e629d2b074e1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77DE86CC-2D47-4876-A1BF-774CB36196EB}"/>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F7A97BD8-6762-4BF7-8BAB-3FD974AE26D1}"/>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B9EAB2D-041E-476D-83E6-DE7AC8F6FAA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2D1B3DE1-D337-4677-8543-098B876F0F51}"/>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293E9EF0-C9FB-4503-89E3-D930CDF2DE6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52695196-BD29-4F84-87EC-256FFC78C77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27AD551-EB81-4A7C-97A1-EEC7505D5C3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96E396D0-8A17-4D32-AFC5-255EFED3C8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FCDEF8AA-4F98-496D-9A2C-9E3369BB511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B6822A04-76DE-4938-8153-84E876FCB0D9}"/>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FD0E2430-5E2B-4CB4-9F00-D97B5E34B2A7}"/>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22A973B-210F-4BA7-9FC2-AA10CDFCA6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190F2E9B-0107-4351-84E8-C2F63F3D77D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5CBB9E80-495C-40E2-BAAC-CCFD2D74FD6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EB97CE41-11A0-41B9-96EA-F7EEA44E2F15}"/>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B5319A6-A434-4175-91B2-26827758A40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312E6B44-E648-4E90-88A1-07D003D021D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D510D12E-B427-446B-826C-DD0BE9703175}"/>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4345CEB1-F07B-4BC1-906E-12FA4473EEA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3BDB8363-D20A-405F-95E7-AD27BC312B5D}"/>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3991308F-BD6A-41BD-8FFF-5C399C9B6A5E}"/>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EF9B6962-13C6-459D-BC57-411EC21B8A3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8FD0042E-AB52-4FB3-870E-18556AFF19E0}"/>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64BC1D1B-142A-42D1-A985-4CBE08CA24A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04CCB19C-FF85-44B6-886F-6A14AB0B883B}"/>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1F003DA0-20EA-4054-9348-F94D8C622CB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7A1391DF-7A1C-4937-A078-79D5500A5606}"/>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42C926DF-CB5B-4786-BF08-09B84AE5DF1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5C200199-83A6-43C1-B978-DC2AD947EA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B8AF0AD0-F89B-41F4-9006-49CB151C95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49b60619c144ba" /><Relationship Type="http://schemas.openxmlformats.org/officeDocument/2006/relationships/slideLayout" Target="/ppt/slideLayouts/slideLayout1.xml" Id="Rd45bb3b69a7a4479" /><Relationship Type="http://schemas.openxmlformats.org/officeDocument/2006/relationships/slideLayout" Target="/ppt/slideLayouts/slideLayout2.xml" Id="R35fcd0cc3f7f4215" /><Relationship Type="http://schemas.openxmlformats.org/officeDocument/2006/relationships/slideLayout" Target="/ppt/slideLayouts/slideLayout3.xml" Id="R99a9a521ee4c4e5c" /><Relationship Type="http://schemas.openxmlformats.org/officeDocument/2006/relationships/slideLayout" Target="/ppt/slideLayouts/slideLayout4.xml" Id="Rc963109e6d9b4df8" /><Relationship Type="http://schemas.openxmlformats.org/officeDocument/2006/relationships/slideLayout" Target="/ppt/slideLayouts/slideLayout5.xml" Id="Rf3090baa6e494be1" /><Relationship Type="http://schemas.openxmlformats.org/officeDocument/2006/relationships/slideLayout" Target="/ppt/slideLayouts/slideLayout6.xml" Id="R8ca06620e763422c" /><Relationship Type="http://schemas.openxmlformats.org/officeDocument/2006/relationships/slideLayout" Target="/ppt/slideLayouts/slideLayout7.xml" Id="R388d37720b264c20" /><Relationship Type="http://schemas.openxmlformats.org/officeDocument/2006/relationships/slideLayout" Target="/ppt/slideLayouts/slideLayout8.xml" Id="Reec87663ab02414c" /><Relationship Type="http://schemas.openxmlformats.org/officeDocument/2006/relationships/slideLayout" Target="/ppt/slideLayouts/slideLayout9.xml" Id="Ree1c1e76c165408b" /><Relationship Type="http://schemas.openxmlformats.org/officeDocument/2006/relationships/slideLayout" Target="/ppt/slideLayouts/slideLayout10.xml" Id="Red073f3bd8684d75" /><Relationship Type="http://schemas.openxmlformats.org/officeDocument/2006/relationships/slideLayout" Target="/ppt/slideLayouts/slideLayout11.xml" Id="R986065fcc0fb416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953EF0E-7630-4711-9813-1B8E4E24185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EA3D832F-2F0E-4AC1-97A9-9A950B3EF98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9C2AAB94-41DF-4EEB-9E58-B61C6D7B5DD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45bb3b69a7a4479"/>
    <p:sldLayoutId xmlns:r="http://schemas.openxmlformats.org/officeDocument/2006/relationships" id="2147483650" r:id="R35fcd0cc3f7f4215"/>
    <p:sldLayoutId xmlns:r="http://schemas.openxmlformats.org/officeDocument/2006/relationships" id="2147483651" r:id="R99a9a521ee4c4e5c"/>
    <p:sldLayoutId xmlns:r="http://schemas.openxmlformats.org/officeDocument/2006/relationships" id="2147483652" r:id="Rc963109e6d9b4df8"/>
    <p:sldLayoutId xmlns:r="http://schemas.openxmlformats.org/officeDocument/2006/relationships" id="2147483653" r:id="Rf3090baa6e494be1"/>
    <p:sldLayoutId xmlns:r="http://schemas.openxmlformats.org/officeDocument/2006/relationships" id="2147483654" r:id="R8ca06620e763422c"/>
    <p:sldLayoutId xmlns:r="http://schemas.openxmlformats.org/officeDocument/2006/relationships" id="2147483655" r:id="R388d37720b264c20"/>
    <p:sldLayoutId xmlns:r="http://schemas.openxmlformats.org/officeDocument/2006/relationships" id="2147483656" r:id="Reec87663ab02414c"/>
    <p:sldLayoutId xmlns:r="http://schemas.openxmlformats.org/officeDocument/2006/relationships" id="2147483657" r:id="Ree1c1e76c165408b"/>
    <p:sldLayoutId xmlns:r="http://schemas.openxmlformats.org/officeDocument/2006/relationships" id="2147483658" r:id="Red073f3bd8684d75"/>
    <p:sldLayoutId xmlns:r="http://schemas.openxmlformats.org/officeDocument/2006/relationships" id="2147483659" r:id="R986065fcc0fb416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8a72951442486f" /><Relationship Type="http://schemas.openxmlformats.org/officeDocument/2006/relationships/image" Target="/ppt/media/image.png" Id="Rd61db4cd146944b8" /><Relationship Type="http://schemas.openxmlformats.org/officeDocument/2006/relationships/image" Target="/ppt/media/image2.png" Id="Raafb277776164f05" /><Relationship Type="http://schemas.openxmlformats.org/officeDocument/2006/relationships/notesSlide" Target="/ppt/notesSlides/notesSlide1.xml" Id="R7e2513fbeeff4d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e3c18ba7764507" /><Relationship Type="http://schemas.openxmlformats.org/officeDocument/2006/relationships/image" Target="/ppt/media/image3.png" Id="R966fc945f1394fcb" /><Relationship Type="http://schemas.openxmlformats.org/officeDocument/2006/relationships/image" Target="/ppt/media/image4.png" Id="Rda4bcb8bf7c740b6" /><Relationship Type="http://schemas.openxmlformats.org/officeDocument/2006/relationships/notesSlide" Target="/ppt/notesSlides/notesSlide2.xml" Id="R402789a63c7143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a5c4713bee43bd" /><Relationship Type="http://schemas.openxmlformats.org/officeDocument/2006/relationships/image" Target="/ppt/media/image2.png" Id="R8da834dcf66340fc" /><Relationship Type="http://schemas.openxmlformats.org/officeDocument/2006/relationships/image" Target="/ppt/media/image3.png" Id="Rc0d27c1758704573" /><Relationship Type="http://schemas.openxmlformats.org/officeDocument/2006/relationships/notesSlide" Target="/ppt/notesSlides/notesSlide3.xml" Id="R7bde1bb0b82c4a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b11fd683f5463e" /><Relationship Type="http://schemas.openxmlformats.org/officeDocument/2006/relationships/image" Target="/ppt/media/image2.png" Id="Rc8ea1290e61b4316" /><Relationship Type="http://schemas.openxmlformats.org/officeDocument/2006/relationships/image" Target="/ppt/media/image3.png" Id="R69b83d84bfc14d05" /><Relationship Type="http://schemas.openxmlformats.org/officeDocument/2006/relationships/notesSlide" Target="/ppt/notesSlides/notesSlide4.xml" Id="Rb2df0ed98ad040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09aeffdc21419b" /><Relationship Type="http://schemas.openxmlformats.org/officeDocument/2006/relationships/image" Target="/ppt/media/image2.png" Id="R38da7c7fe20f40b9" /><Relationship Type="http://schemas.openxmlformats.org/officeDocument/2006/relationships/image" Target="/ppt/media/image3.png" Id="Rd4ce2b3d332542b7" /><Relationship Type="http://schemas.openxmlformats.org/officeDocument/2006/relationships/notesSlide" Target="/ppt/notesSlides/notesSlide5.xml" Id="R1ad3455d39a740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33e774eab94083" /><Relationship Type="http://schemas.openxmlformats.org/officeDocument/2006/relationships/image" Target="/ppt/media/image2.png" Id="R64b8e1e2fe554ef0" /><Relationship Type="http://schemas.openxmlformats.org/officeDocument/2006/relationships/image" Target="/ppt/media/image3.png" Id="R1a71814b29664f93" /><Relationship Type="http://schemas.openxmlformats.org/officeDocument/2006/relationships/image" Target="/ppt/media/image5.png" Id="R9861b08f6ff14209" /><Relationship Type="http://schemas.openxmlformats.org/officeDocument/2006/relationships/notesSlide" Target="/ppt/notesSlides/notesSlide6.xml" Id="R8cf6023e925946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a33b136fcf4ebd" /><Relationship Type="http://schemas.openxmlformats.org/officeDocument/2006/relationships/image" Target="/ppt/media/image2.png" Id="Rb954f2294a0346b4" /><Relationship Type="http://schemas.openxmlformats.org/officeDocument/2006/relationships/image" Target="/ppt/media/image3.png" Id="R91291e4263054d84" /><Relationship Type="http://schemas.openxmlformats.org/officeDocument/2006/relationships/notesSlide" Target="/ppt/notesSlides/notesSlide7.xml" Id="R55768a95a9164f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a28c6a90464ee1" /><Relationship Type="http://schemas.openxmlformats.org/officeDocument/2006/relationships/image" Target="/ppt/media/image2.png" Id="Rcdb538bf88af4fdf" /><Relationship Type="http://schemas.openxmlformats.org/officeDocument/2006/relationships/image" Target="/ppt/media/image3.png" Id="Rad402c1ff0024259" /><Relationship Type="http://schemas.openxmlformats.org/officeDocument/2006/relationships/notesSlide" Target="/ppt/notesSlides/notesSlide8.xml" Id="Rc67904983b6945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2a3b1929714f1b" /><Relationship Type="http://schemas.openxmlformats.org/officeDocument/2006/relationships/image" Target="/ppt/media/image2.png" Id="R6181098298d04fa6" /><Relationship Type="http://schemas.openxmlformats.org/officeDocument/2006/relationships/image" Target="/ppt/media/image3.png" Id="R1aca3bb622794140" /><Relationship Type="http://schemas.openxmlformats.org/officeDocument/2006/relationships/image" Target="/ppt/media/image6.png" Id="R19ccabfbfac9470e" /><Relationship Type="http://schemas.openxmlformats.org/officeDocument/2006/relationships/notesSlide" Target="/ppt/notesSlides/notesSlide9.xml" Id="R6deb258a5d404e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5543a92e024aae" /><Relationship Type="http://schemas.openxmlformats.org/officeDocument/2006/relationships/image" Target="/ppt/media/image2.png" Id="Rd425e616ce53404b" /><Relationship Type="http://schemas.openxmlformats.org/officeDocument/2006/relationships/image" Target="/ppt/media/image3.png" Id="R970f862899934de1" /><Relationship Type="http://schemas.openxmlformats.org/officeDocument/2006/relationships/notesSlide" Target="/ppt/notesSlides/notesSlide10.xml" Id="R7003f2bd1a5b43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522bb64ab64221" /><Relationship Type="http://schemas.openxmlformats.org/officeDocument/2006/relationships/image" Target="/ppt/media/image2.png" Id="R96d8e45632824257" /><Relationship Type="http://schemas.openxmlformats.org/officeDocument/2006/relationships/image" Target="/ppt/media/image3.png" Id="R17c14f62b89a423a" /><Relationship Type="http://schemas.openxmlformats.org/officeDocument/2006/relationships/notesSlide" Target="/ppt/notesSlides/notesSlide11.xml" Id="R6f9df38f02a547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aac3f00ce0408d" /><Relationship Type="http://schemas.openxmlformats.org/officeDocument/2006/relationships/image" Target="/ppt/media/image2.png" Id="R05854d012ba4461f" /><Relationship Type="http://schemas.openxmlformats.org/officeDocument/2006/relationships/image" Target="/ppt/media/image3.png" Id="R9964ebd679b548c6" /><Relationship Type="http://schemas.openxmlformats.org/officeDocument/2006/relationships/hyperlink" Target="https://github.com/prabhakarcs786/twinops" TargetMode="External" Id="Rd6049b4cc6304a15" /><Relationship Type="http://schemas.openxmlformats.org/officeDocument/2006/relationships/hyperlink" Target="https://youtu.be/0LjDHiUBy0Y" TargetMode="External" Id="R990a349f3828444f" /><Relationship Type="http://schemas.openxmlformats.org/officeDocument/2006/relationships/hyperlink" Target="https://twinops-live-705406130795.europe-west1.run.app/workbench" TargetMode="External" Id="R10b4bd3dbc824b2a" /><Relationship Type="http://schemas.openxmlformats.org/officeDocument/2006/relationships/hyperlink" Target="https://twinops-live-705406130795.europe-west1.run.app/metro/" TargetMode="External" Id="Rbb4eba4bc19b4c98" /><Relationship Type="http://schemas.openxmlformats.org/officeDocument/2006/relationships/hyperlink" Target="https://github.com/prabhakarcs786/twinops/blob/main/docs/JUDGE_GUIDE.md" TargetMode="External" Id="R80a21f21ddbe4bdc" /><Relationship Type="http://schemas.openxmlformats.org/officeDocument/2006/relationships/notesSlide" Target="/ppt/notesSlides/notesSlide12.xml" Id="Rd3dc3d127b824f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f1e0323252496a" /><Relationship Type="http://schemas.openxmlformats.org/officeDocument/2006/relationships/image" Target="/ppt/media/image2.png" Id="Re56bd39a764449fe" /><Relationship Type="http://schemas.openxmlformats.org/officeDocument/2006/relationships/image" Target="/ppt/media/image7.png" Id="R7017c2dc29264fd3" /><Relationship Type="http://schemas.openxmlformats.org/officeDocument/2006/relationships/notesSlide" Target="/ppt/notesSlides/notesSlide13.xml" Id="R699993c069bd410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BEACF300-B400-4F2E-B8B1-4698603ACC86}"/>
              </a:ext>
            </a:extLst>
          </p:cNvPr>
          <p:cNvSpPr>
            <a:spLocks xmlns:a="http://schemas.openxmlformats.org/drawingml/2006/main" noGrp="1"/>
          </p:cNvSpPr>
          <p:nvPr/>
        </p:nvSpPr>
        <p:spPr>
          <a:xfrm xmlns:a="http://schemas.openxmlformats.org/drawingml/2006/main">
            <a:off x="238125" y="2924175"/>
            <a:ext cx="8572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10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2100">
                <a:solidFill>
                  <a:srgbClr val="000000"/>
                </a:solidFill>
                <a:latin typeface="Google Sans Flex Medium"/>
                <a:ea typeface="Google Sans Flex Medium"/>
                <a:cs typeface="Google Sans Flex Medium"/>
              </a:defRPr>
            </a:pPr>
            <a:r>
              <a:rPr sz="2100">
                <a:solidFill>
                  <a:srgbClr val="000000"/>
                </a:solidFill>
                <a:latin typeface="Google Sans Flex Medium"/>
                <a:ea typeface="Google Sans Flex Medium"/>
                <a:cs typeface="Google Sans Flex Medium"/>
              </a:rPr>
              <a:t>Team Details</a:t>
            </a:r>
            <a:endParaRPr sz="2100">
              <a:latin typeface="Google Sans Flex SemiBold"/>
              <a:ea typeface="Google Sans Flex SemiBold"/>
              <a:cs typeface="Google Sans Flex SemiBold"/>
            </a:endParaRPr>
          </a:p>
        </p:txBody>
      </p:sp>
      <p:pic>
        <p:nvPicPr>
          <p:cNvPr id="55" name="Google Shape;55;p13">
            <a:extLst xmlns:a="http://schemas.openxmlformats.org/drawingml/2006/main">
              <a:ext uri="{FF2B5EF4-FFF2-40B4-BE49-F238E27FC236}">
                <a16:creationId xmlns:a16="http://schemas.microsoft.com/office/drawing/2014/main" id="{72B3D496-987A-49BA-8471-B979DEE506DD}"/>
              </a:ext>
            </a:extLst>
          </p:cNvPr>
          <p:cNvPicPr>
            <a:picLocks xmlns:a="http://schemas.openxmlformats.org/drawingml/2006/main" noChangeAspect="1"/>
          </p:cNvPicPr>
          <p:nvPr/>
        </p:nvPicPr>
        <p:blipFill>
          <a:blip xmlns:r="http://schemas.openxmlformats.org/officeDocument/2006/relationships" xmlns:a="http://schemas.openxmlformats.org/drawingml/2006/main" r:embed="Rd61db4cd146944b8">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94D66FA3-2C9F-49DB-9B3E-56576063BC1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afb277776164f05">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sp>
        <p:nvSpPr>
          <p:cNvPr id="57" name="cover-product">
            <a:extLst xmlns:a="http://schemas.openxmlformats.org/drawingml/2006/main">
              <a:ext uri="{FF2B5EF4-FFF2-40B4-BE49-F238E27FC236}">
                <a16:creationId xmlns:a16="http://schemas.microsoft.com/office/drawing/2014/main" id="{4034098B-01BA-41B2-A5B7-4F9F47173573}"/>
              </a:ext>
            </a:extLst>
          </p:cNvPr>
          <p:cNvSpPr>
            <a:spLocks xmlns:a="http://schemas.openxmlformats.org/drawingml/2006/main" noGrp="1"/>
          </p:cNvSpPr>
          <p:nvPr/>
        </p:nvSpPr>
        <p:spPr>
          <a:xfrm xmlns:a="http://schemas.openxmlformats.org/drawingml/2006/main">
            <a:off x="342900" y="3390900"/>
            <a:ext cx="845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967D2"/>
                </a:solidFill>
                <a:latin typeface="Google Sans Flex"/>
                <a:ea typeface="Google Sans Flex"/>
                <a:cs typeface="Google Sans Flex"/>
              </a:defRPr>
            </a:defPPr>
          </a:lstStyle>
          <a:p xmlns:a="http://schemas.openxmlformats.org/drawingml/2006/main">
            <a:pPr>
              <a:defRPr sz="2025" b="1">
                <a:solidFill>
                  <a:srgbClr val="1967D2"/>
                </a:solidFill>
                <a:latin typeface="Google Sans Flex"/>
                <a:ea typeface="Google Sans Flex"/>
                <a:cs typeface="Google Sans Flex"/>
              </a:defRPr>
            </a:pPr>
            <a:r>
              <a:rPr sz="2025" b="1">
                <a:solidFill>
                  <a:srgbClr val="1967D2"/>
                </a:solidFill>
                <a:latin typeface="Google Sans Flex"/>
                <a:ea typeface="Google Sans Flex"/>
                <a:cs typeface="Google Sans Flex"/>
              </a:rPr>
              <a:t>TwinOps: a rehearsal space for network repairs</a:t>
            </a:r>
          </a:p>
        </p:txBody>
      </p:sp>
      <p:sp>
        <p:nvSpPr>
          <p:cNvPr id="58" name="cover-definition">
            <a:extLst xmlns:a="http://schemas.openxmlformats.org/drawingml/2006/main">
              <a:ext uri="{FF2B5EF4-FFF2-40B4-BE49-F238E27FC236}">
                <a16:creationId xmlns:a16="http://schemas.microsoft.com/office/drawing/2014/main" id="{1D5044C4-64CF-42DB-9D53-212C8FBEEE02}"/>
              </a:ext>
            </a:extLst>
          </p:cNvPr>
          <p:cNvSpPr>
            <a:spLocks xmlns:a="http://schemas.openxmlformats.org/drawingml/2006/main" noGrp="1"/>
          </p:cNvSpPr>
          <p:nvPr/>
        </p:nvSpPr>
        <p:spPr>
          <a:xfrm xmlns:a="http://schemas.openxmlformats.org/drawingml/2006/main">
            <a:off x="342900" y="3800475"/>
            <a:ext cx="845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2124"/>
                </a:solidFill>
                <a:latin typeface="Google Sans Flex"/>
                <a:ea typeface="Google Sans Flex"/>
                <a:cs typeface="Google Sans Flex"/>
              </a:defRPr>
            </a:defPPr>
          </a:lstStyle>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AI tests a fix in a separate network. An engineer decides what to apply.</a:t>
            </a:r>
          </a:p>
        </p:txBody>
      </p:sp>
      <p:sp>
        <p:nvSpPr>
          <p:cNvPr id="59" name="registered-team">
            <a:extLst xmlns:a="http://schemas.openxmlformats.org/drawingml/2006/main">
              <a:ext uri="{FF2B5EF4-FFF2-40B4-BE49-F238E27FC236}">
                <a16:creationId xmlns:a16="http://schemas.microsoft.com/office/drawing/2014/main" id="{7107381B-B0C3-44C3-8D25-118FFB418E74}"/>
              </a:ext>
            </a:extLst>
          </p:cNvPr>
          <p:cNvSpPr>
            <a:spLocks xmlns:a="http://schemas.openxmlformats.org/drawingml/2006/main" noGrp="1"/>
          </p:cNvSpPr>
          <p:nvPr/>
        </p:nvSpPr>
        <p:spPr>
          <a:xfrm xmlns:a="http://schemas.openxmlformats.org/drawingml/2006/main">
            <a:off x="342900" y="4248150"/>
            <a:ext cx="845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HackSmith  /  Prabhakar Srivastava (leader)  /  Shivam Anand</a:t>
            </a:r>
          </a:p>
        </p:txBody>
      </p:sp>
      <p:sp>
        <p:nvSpPr>
          <p:cNvPr id="60" name="theme">
            <a:extLst xmlns:a="http://schemas.openxmlformats.org/drawingml/2006/main">
              <a:ext uri="{FF2B5EF4-FFF2-40B4-BE49-F238E27FC236}">
                <a16:creationId xmlns:a16="http://schemas.microsoft.com/office/drawing/2014/main" id="{4CB50820-38C4-4820-934D-0579156CD04A}"/>
              </a:ext>
            </a:extLst>
          </p:cNvPr>
          <p:cNvSpPr>
            <a:spLocks xmlns:a="http://schemas.openxmlformats.org/drawingml/2006/main" noGrp="1"/>
          </p:cNvSpPr>
          <p:nvPr/>
        </p:nvSpPr>
        <p:spPr>
          <a:xfrm xmlns:a="http://schemas.openxmlformats.org/drawingml/2006/main">
            <a:off x="342900" y="4619625"/>
            <a:ext cx="845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6368"/>
                </a:solidFill>
                <a:latin typeface="Google Sans Flex"/>
                <a:ea typeface="Google Sans Flex"/>
                <a:cs typeface="Google Sans Flex"/>
              </a:defRPr>
            </a:defPPr>
          </a:lstStyle>
          <a:p xmlns:a="http://schemas.openxmlformats.org/drawingml/2006/main">
            <a:pPr>
              <a:defRPr sz="1350" b="0">
                <a:solidFill>
                  <a:srgbClr val="5F6368"/>
                </a:solidFill>
                <a:latin typeface="Google Sans Flex"/>
                <a:ea typeface="Google Sans Flex"/>
                <a:cs typeface="Google Sans Flex"/>
              </a:defRPr>
            </a:pPr>
            <a:r>
              <a:rPr sz="1350" b="0">
                <a:solidFill>
                  <a:srgbClr val="5F6368"/>
                </a:solidFill>
                <a:latin typeface="Google Sans Flex"/>
                <a:ea typeface="Google Sans Flex"/>
                <a:cs typeface="Google Sans Flex"/>
              </a:rPr>
              <a:t>Theme: Future of Work &amp; Enterprise Productivity</a:t>
            </a:r>
          </a:p>
        </p:txBody>
      </p:sp>
    </p:spTree>
    <p:extLst>
      <p:ext uri="{BB962C8B-B14F-4D97-AF65-F5344CB8AC3E}">
        <p14:creationId xmlns:p14="http://schemas.microsoft.com/office/powerpoint/2010/main" val="8198472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D1A9192A-D2E4-4725-BB39-1DFC4A88ED18}"/>
              </a:ext>
            </a:extLst>
          </p:cNvPr>
          <p:cNvPicPr>
            <a:picLocks xmlns:a="http://schemas.openxmlformats.org/drawingml/2006/main" noChangeAspect="1"/>
          </p:cNvPicPr>
          <p:nvPr/>
        </p:nvPicPr>
        <p:blipFill>
          <a:blip xmlns:r="http://schemas.openxmlformats.org/officeDocument/2006/relationships" xmlns:a="http://schemas.openxmlformats.org/drawingml/2006/main" r:embed="R966fc945f1394fcb">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09B93712-1DF9-4DB1-AD6D-74D5E6270F64}"/>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A0575BEB-7F23-484C-8AF3-93E475216F13}"/>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Brief about the idea</a:t>
            </a:r>
            <a:endParaRPr sz="1600">
              <a:latin typeface="Google Sans Flex Medium"/>
              <a:ea typeface="Google Sans Flex Medium"/>
              <a:cs typeface="Google Sans Flex Medium"/>
            </a:endParaRPr>
          </a:p>
        </p:txBody>
      </p:sp>
      <p:sp>
        <p:nvSpPr>
          <p:cNvPr id="72" name="idea-headline">
            <a:extLst xmlns:a="http://schemas.openxmlformats.org/drawingml/2006/main">
              <a:ext uri="{FF2B5EF4-FFF2-40B4-BE49-F238E27FC236}">
                <a16:creationId xmlns:a16="http://schemas.microsoft.com/office/drawing/2014/main" id="{8DC6DAC6-E7E4-42B1-9251-E331D279D9E3}"/>
              </a:ext>
            </a:extLst>
          </p:cNvPr>
          <p:cNvSpPr>
            <a:spLocks xmlns:a="http://schemas.openxmlformats.org/drawingml/2006/main" noGrp="1"/>
          </p:cNvSpPr>
          <p:nvPr/>
        </p:nvSpPr>
        <p:spPr>
          <a:xfrm xmlns:a="http://schemas.openxmlformats.org/drawingml/2006/main">
            <a:off x="342900" y="136207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02124"/>
                </a:solidFill>
                <a:latin typeface="Google Sans Flex"/>
                <a:ea typeface="Google Sans Flex"/>
                <a:cs typeface="Google Sans Flex"/>
              </a:defRPr>
            </a:defPPr>
          </a:lstStyle>
          <a:p xmlns:a="http://schemas.openxmlformats.org/drawingml/2006/main">
            <a:pPr>
              <a:defRPr sz="2250" b="1">
                <a:solidFill>
                  <a:srgbClr val="202124"/>
                </a:solidFill>
                <a:latin typeface="Google Sans Flex"/>
                <a:ea typeface="Google Sans Flex"/>
                <a:cs typeface="Google Sans Flex"/>
              </a:defRPr>
            </a:pPr>
            <a:r>
              <a:rPr sz="2250" b="1">
                <a:solidFill>
                  <a:srgbClr val="202124"/>
                </a:solidFill>
                <a:latin typeface="Google Sans Flex"/>
                <a:ea typeface="Google Sans Flex"/>
                <a:cs typeface="Google Sans Flex"/>
              </a:rPr>
              <a:t>Two branch sites lose access. Which repair can we trust?</a:t>
            </a:r>
          </a:p>
        </p:txBody>
      </p:sp>
      <p:pic>
        <p:nvPicPr>
          <p:cNvPr id="73" name="">
            <a:extLst xmlns:a="http://schemas.openxmlformats.org/drawingml/2006/main">
              <a:ext uri="{FF2B5EF4-FFF2-40B4-BE49-F238E27FC236}">
                <a16:creationId xmlns:a16="http://schemas.microsoft.com/office/drawing/2014/main" id="{59657331-B6AD-4D16-8A68-C8C37542DBA4}"/>
              </a:ext>
            </a:extLst>
          </p:cNvPr>
          <p:cNvPicPr>
            <a:picLocks xmlns:a="http://schemas.openxmlformats.org/drawingml/2006/main" noChangeAspect="1"/>
          </p:cNvPicPr>
          <p:nvPr/>
        </p:nvPicPr>
        <p:blipFill>
          <a:blip xmlns:r="http://schemas.openxmlformats.org/officeDocument/2006/relationships" xmlns:a="http://schemas.openxmlformats.org/drawingml/2006/main" r:embed="Rda4bcb8bf7c740b6"/>
          <a:srcRect xmlns:a="http://schemas.openxmlformats.org/drawingml/2006/main" l="19500" t="26700" r="47000" b="33700"/>
          <a:stretch xmlns:a="http://schemas.openxmlformats.org/drawingml/2006/main"/>
        </p:blipFill>
        <p:spPr>
          <a:xfrm xmlns:a="http://schemas.openxmlformats.org/drawingml/2006/main">
            <a:off x="342900" y="2105025"/>
            <a:ext cx="4429125" cy="2571750"/>
          </a:xfrm>
          <a:prstGeom xmlns:a="http://schemas.openxmlformats.org/drawingml/2006/main" prst="rect">
            <a:avLst/>
          </a:prstGeom>
        </p:spPr>
      </p:pic>
      <p:sp>
        <p:nvSpPr>
          <p:cNvPr id="74" name="problem">
            <a:extLst xmlns:a="http://schemas.openxmlformats.org/drawingml/2006/main">
              <a:ext uri="{FF2B5EF4-FFF2-40B4-BE49-F238E27FC236}">
                <a16:creationId xmlns:a16="http://schemas.microsoft.com/office/drawing/2014/main" id="{E393671F-1FBB-482D-95DC-4A34E4239D48}"/>
              </a:ext>
            </a:extLst>
          </p:cNvPr>
          <p:cNvSpPr>
            <a:spLocks xmlns:a="http://schemas.openxmlformats.org/drawingml/2006/main" noGrp="1"/>
          </p:cNvSpPr>
          <p:nvPr/>
        </p:nvSpPr>
        <p:spPr>
          <a:xfrm xmlns:a="http://schemas.openxmlformats.org/drawingml/2006/main">
            <a:off x="5095875" y="2066925"/>
            <a:ext cx="3705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967D2"/>
                </a:solidFill>
                <a:latin typeface="Google Sans Flex"/>
                <a:ea typeface="Google Sans Flex"/>
                <a:cs typeface="Google Sans Flex"/>
              </a:defRPr>
            </a:defPPr>
          </a:lstStyle>
          <a:p xmlns:a="http://schemas.openxmlformats.org/drawingml/2006/main">
            <a:pPr>
              <a:defRPr sz="1725" b="1">
                <a:solidFill>
                  <a:srgbClr val="1967D2"/>
                </a:solidFill>
                <a:latin typeface="Google Sans Flex"/>
                <a:ea typeface="Google Sans Flex"/>
                <a:cs typeface="Google Sans Flex"/>
              </a:defRPr>
            </a:pPr>
            <a:r>
              <a:rPr sz="1725" b="1">
                <a:solidFill>
                  <a:srgbClr val="1967D2"/>
                </a:solidFill>
                <a:latin typeface="Google Sans Flex"/>
                <a:ea typeface="Google Sans Flex"/>
                <a:cs typeface="Google Sans Flex"/>
              </a:rPr>
              <a:t>The engineer’s problem</a:t>
            </a:r>
          </a:p>
        </p:txBody>
      </p:sp>
      <p:sp>
        <p:nvSpPr>
          <p:cNvPr id="75" name="problem-body">
            <a:extLst xmlns:a="http://schemas.openxmlformats.org/drawingml/2006/main">
              <a:ext uri="{FF2B5EF4-FFF2-40B4-BE49-F238E27FC236}">
                <a16:creationId xmlns:a16="http://schemas.microsoft.com/office/drawing/2014/main" id="{C1D8F9E1-FF35-43E1-A962-F46D6290DBA7}"/>
              </a:ext>
            </a:extLst>
          </p:cNvPr>
          <p:cNvSpPr>
            <a:spLocks xmlns:a="http://schemas.openxmlformats.org/drawingml/2006/main" noGrp="1"/>
          </p:cNvSpPr>
          <p:nvPr/>
        </p:nvSpPr>
        <p:spPr>
          <a:xfrm xmlns:a="http://schemas.openxmlformats.org/drawingml/2006/main">
            <a:off x="5095875" y="2457450"/>
            <a:ext cx="3705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2124"/>
                </a:solidFill>
                <a:latin typeface="Google Sans Flex"/>
                <a:ea typeface="Google Sans Flex"/>
                <a:cs typeface="Google Sans Flex"/>
              </a:defRPr>
            </a:defPPr>
          </a:lstStyle>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A quick rollback might restore access</a:t>
            </a:r>
          </a:p>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while breaking another connection.</a:t>
            </a:r>
          </a:p>
        </p:txBody>
      </p:sp>
      <p:sp>
        <p:nvSpPr>
          <p:cNvPr id="76" name="solution">
            <a:extLst xmlns:a="http://schemas.openxmlformats.org/drawingml/2006/main">
              <a:ext uri="{FF2B5EF4-FFF2-40B4-BE49-F238E27FC236}">
                <a16:creationId xmlns:a16="http://schemas.microsoft.com/office/drawing/2014/main" id="{BDD38F00-59EB-429B-9315-C6561DF45695}"/>
              </a:ext>
            </a:extLst>
          </p:cNvPr>
          <p:cNvSpPr>
            <a:spLocks xmlns:a="http://schemas.openxmlformats.org/drawingml/2006/main" noGrp="1"/>
          </p:cNvSpPr>
          <p:nvPr/>
        </p:nvSpPr>
        <p:spPr>
          <a:xfrm xmlns:a="http://schemas.openxmlformats.org/drawingml/2006/main">
            <a:off x="5095875" y="3209925"/>
            <a:ext cx="3705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967D2"/>
                </a:solidFill>
                <a:latin typeface="Google Sans Flex"/>
                <a:ea typeface="Google Sans Flex"/>
                <a:cs typeface="Google Sans Flex"/>
              </a:defRPr>
            </a:defPPr>
          </a:lstStyle>
          <a:p xmlns:a="http://schemas.openxmlformats.org/drawingml/2006/main">
            <a:pPr>
              <a:defRPr sz="1725" b="1">
                <a:solidFill>
                  <a:srgbClr val="1967D2"/>
                </a:solidFill>
                <a:latin typeface="Google Sans Flex"/>
                <a:ea typeface="Google Sans Flex"/>
                <a:cs typeface="Google Sans Flex"/>
              </a:defRPr>
            </a:pPr>
            <a:r>
              <a:rPr sz="1725" b="1">
                <a:solidFill>
                  <a:srgbClr val="1967D2"/>
                </a:solidFill>
                <a:latin typeface="Google Sans Flex"/>
                <a:ea typeface="Google Sans Flex"/>
                <a:cs typeface="Google Sans Flex"/>
              </a:rPr>
              <a:t>TwinOps rehearses the repair</a:t>
            </a:r>
          </a:p>
        </p:txBody>
      </p:sp>
      <p:sp>
        <p:nvSpPr>
          <p:cNvPr id="77" name="solution-body">
            <a:extLst xmlns:a="http://schemas.openxmlformats.org/drawingml/2006/main">
              <a:ext uri="{FF2B5EF4-FFF2-40B4-BE49-F238E27FC236}">
                <a16:creationId xmlns:a16="http://schemas.microsoft.com/office/drawing/2014/main" id="{803FDCEC-C7C1-4448-921F-9CCE72EA214F}"/>
              </a:ext>
            </a:extLst>
          </p:cNvPr>
          <p:cNvSpPr>
            <a:spLocks xmlns:a="http://schemas.openxmlformats.org/drawingml/2006/main" noGrp="1"/>
          </p:cNvSpPr>
          <p:nvPr/>
        </p:nvSpPr>
        <p:spPr>
          <a:xfrm xmlns:a="http://schemas.openxmlformats.org/drawingml/2006/main">
            <a:off x="5095875" y="3600450"/>
            <a:ext cx="3705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02124"/>
                </a:solidFill>
                <a:latin typeface="Google Sans Flex"/>
                <a:ea typeface="Google Sans Flex"/>
                <a:cs typeface="Google Sans Flex"/>
              </a:defRPr>
            </a:defPPr>
          </a:lstStyle>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A digital twin is a separate copy of the</a:t>
            </a:r>
          </a:p>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affected network. AI tests alternatives</a:t>
            </a:r>
          </a:p>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there and gives the engineer evidence</a:t>
            </a:r>
          </a:p>
          <a:p xmlns:a="http://schemas.openxmlformats.org/drawingml/2006/main">
            <a:pPr>
              <a:defRPr sz="1575" b="0">
                <a:solidFill>
                  <a:srgbClr val="202124"/>
                </a:solidFill>
                <a:latin typeface="Google Sans Flex"/>
                <a:ea typeface="Google Sans Flex"/>
                <a:cs typeface="Google Sans Flex"/>
              </a:defRPr>
            </a:pPr>
            <a:r>
              <a:rPr sz="1575" b="0">
                <a:solidFill>
                  <a:srgbClr val="202124"/>
                </a:solidFill>
                <a:latin typeface="Google Sans Flex"/>
                <a:ea typeface="Google Sans Flex"/>
                <a:cs typeface="Google Sans Flex"/>
              </a:rPr>
              <a:t>before asking for approval.</a:t>
            </a:r>
          </a:p>
        </p:txBody>
      </p:sp>
      <p:sp>
        <p:nvSpPr>
          <p:cNvPr id="78" name="definition">
            <a:extLst xmlns:a="http://schemas.openxmlformats.org/drawingml/2006/main">
              <a:ext uri="{FF2B5EF4-FFF2-40B4-BE49-F238E27FC236}">
                <a16:creationId xmlns:a16="http://schemas.microsoft.com/office/drawing/2014/main" id="{62E80767-04AB-4146-872F-3B237C43303F}"/>
              </a:ext>
            </a:extLst>
          </p:cNvPr>
          <p:cNvSpPr>
            <a:spLocks xmlns:a="http://schemas.openxmlformats.org/drawingml/2006/main" noGrp="1"/>
          </p:cNvSpPr>
          <p:nvPr/>
        </p:nvSpPr>
        <p:spPr>
          <a:xfrm xmlns:a="http://schemas.openxmlformats.org/drawingml/2006/main">
            <a:off x="342900" y="4800600"/>
            <a:ext cx="845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F6368"/>
                </a:solidFill>
                <a:latin typeface="Google Sans Flex"/>
                <a:ea typeface="Google Sans Flex"/>
                <a:cs typeface="Google Sans Flex"/>
              </a:defRPr>
            </a:defPPr>
          </a:lstStyle>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Metro is our synthetic application network. A “journey” is a site-to-service connectivity check.</a:t>
            </a:r>
          </a:p>
        </p:txBody>
      </p:sp>
    </p:spTree>
    <p:extLst>
      <p:ext uri="{BB962C8B-B14F-4D97-AF65-F5344CB8AC3E}">
        <p14:creationId xmlns:p14="http://schemas.microsoft.com/office/powerpoint/2010/main" val="16169497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87" name="">
            <a:extLst xmlns:a="http://schemas.openxmlformats.org/drawingml/2006/main">
              <a:ext uri="{FF2B5EF4-FFF2-40B4-BE49-F238E27FC236}">
                <a16:creationId xmlns:a16="http://schemas.microsoft.com/office/drawing/2014/main" id="{7A01BBD3-E30A-42F3-A4CA-5804E88E2FB1}"/>
              </a:ext>
            </a:extLst>
          </p:cNvPr>
          <p:cNvCxnSpPr>
            <a:stCxn xmlns:a="http://schemas.openxmlformats.org/drawingml/2006/main" id="83" idx="3"/>
            <a:endCxn xmlns:a="http://schemas.openxmlformats.org/drawingml/2006/main" id="84" idx="1"/>
          </p:cNvCxnSpPr>
          <p:nvPr/>
        </p:nvCxnSpPr>
        <p:spPr>
          <a:xfrm xmlns:a="http://schemas.openxmlformats.org/drawingml/2006/main">
            <a:off x="6838950" y="2747963"/>
            <a:ext cx="342900" cy="0"/>
          </a:xfrm>
          <a:prstGeom xmlns:a="http://schemas.openxmlformats.org/drawingml/2006/main" prst="straightConnector1">
            <a:avLst/>
          </a:prstGeom>
          <a:ln xmlns:a="http://schemas.openxmlformats.org/drawingml/2006/main" w="14288">
            <a:solidFill>
              <a:srgbClr val="137333"/>
            </a:solidFill>
            <a:tailEnd type="triangle" w="sm" len="sm"/>
          </a:ln>
        </p:spPr>
      </p:cxnSp>
      <p:cxnSp>
        <p:nvCxnSpPr>
          <p:cNvPr id="86" name="">
            <a:extLst xmlns:a="http://schemas.openxmlformats.org/drawingml/2006/main">
              <a:ext uri="{FF2B5EF4-FFF2-40B4-BE49-F238E27FC236}">
                <a16:creationId xmlns:a16="http://schemas.microsoft.com/office/drawing/2014/main" id="{088EA86F-646D-455A-9A63-184D163796BC}"/>
              </a:ext>
            </a:extLst>
          </p:cNvPr>
          <p:cNvCxnSpPr>
            <a:stCxn xmlns:a="http://schemas.openxmlformats.org/drawingml/2006/main" id="82" idx="3"/>
            <a:endCxn xmlns:a="http://schemas.openxmlformats.org/drawingml/2006/main" id="83" idx="1"/>
          </p:cNvCxnSpPr>
          <p:nvPr/>
        </p:nvCxnSpPr>
        <p:spPr>
          <a:xfrm xmlns:a="http://schemas.openxmlformats.org/drawingml/2006/main">
            <a:off x="4743450" y="2747963"/>
            <a:ext cx="342900" cy="0"/>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85" name="">
            <a:extLst xmlns:a="http://schemas.openxmlformats.org/drawingml/2006/main">
              <a:ext uri="{FF2B5EF4-FFF2-40B4-BE49-F238E27FC236}">
                <a16:creationId xmlns:a16="http://schemas.microsoft.com/office/drawing/2014/main" id="{894B8E4F-EF3E-41FE-874A-46840469094F}"/>
              </a:ext>
            </a:extLst>
          </p:cNvPr>
          <p:cNvCxnSpPr>
            <a:stCxn xmlns:a="http://schemas.openxmlformats.org/drawingml/2006/main" id="81" idx="3"/>
            <a:endCxn xmlns:a="http://schemas.openxmlformats.org/drawingml/2006/main" id="82" idx="1"/>
          </p:cNvCxnSpPr>
          <p:nvPr/>
        </p:nvCxnSpPr>
        <p:spPr>
          <a:xfrm xmlns:a="http://schemas.openxmlformats.org/drawingml/2006/main">
            <a:off x="2095500" y="2747963"/>
            <a:ext cx="342900" cy="0"/>
          </a:xfrm>
          <a:prstGeom xmlns:a="http://schemas.openxmlformats.org/drawingml/2006/main" prst="straightConnector1">
            <a:avLst/>
          </a:prstGeom>
          <a:ln xmlns:a="http://schemas.openxmlformats.org/drawingml/2006/main" w="14288">
            <a:solidFill>
              <a:srgbClr val="1967D2"/>
            </a:solidFill>
            <a:tailEnd type="triangle" w="sm" len="sm"/>
          </a:ln>
        </p:spPr>
      </p:cxnSp>
      <p:pic>
        <p:nvPicPr>
          <p:cNvPr id="76" name="Google Shape;76;p16">
            <a:extLst xmlns:a="http://schemas.openxmlformats.org/drawingml/2006/main">
              <a:ext uri="{FF2B5EF4-FFF2-40B4-BE49-F238E27FC236}">
                <a16:creationId xmlns:a16="http://schemas.microsoft.com/office/drawing/2014/main" id="{DCDD9596-E450-4C70-85EF-AD963CC9AE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da834dcf66340fc">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B89F3E4E-100B-401B-BF75-27159811DEB1}"/>
              </a:ext>
            </a:extLst>
          </p:cNvPr>
          <p:cNvPicPr>
            <a:picLocks xmlns:a="http://schemas.openxmlformats.org/drawingml/2006/main" noChangeAspect="1"/>
          </p:cNvPicPr>
          <p:nvPr/>
        </p:nvPicPr>
        <p:blipFill>
          <a:blip xmlns:r="http://schemas.openxmlformats.org/officeDocument/2006/relationships" xmlns:a="http://schemas.openxmlformats.org/drawingml/2006/main" r:embed="Rc0d27c175870457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88241DDC-45E2-4D12-B240-0665ACCBBC54}"/>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11348B2A-BD0A-435D-A6F0-409442D01D60}"/>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Opportunities</a:t>
            </a:r>
            <a:endParaRPr sz="1600">
              <a:latin typeface="Google Sans Flex SemiBold"/>
              <a:ea typeface="Google Sans Flex SemiBold"/>
              <a:cs typeface="Google Sans Flex SemiBold"/>
            </a:endParaRPr>
          </a:p>
        </p:txBody>
      </p:sp>
      <p:sp>
        <p:nvSpPr>
          <p:cNvPr id="80" name="fit-headline">
            <a:extLst xmlns:a="http://schemas.openxmlformats.org/drawingml/2006/main">
              <a:ext uri="{FF2B5EF4-FFF2-40B4-BE49-F238E27FC236}">
                <a16:creationId xmlns:a16="http://schemas.microsoft.com/office/drawing/2014/main" id="{E7E12CEF-5BF0-47F1-83FA-8DC8859F79DF}"/>
              </a:ext>
            </a:extLst>
          </p:cNvPr>
          <p:cNvSpPr>
            <a:spLocks xmlns:a="http://schemas.openxmlformats.org/drawingml/2006/main" noGrp="1"/>
          </p:cNvSpPr>
          <p:nvPr/>
        </p:nvSpPr>
        <p:spPr>
          <a:xfrm xmlns:a="http://schemas.openxmlformats.org/drawingml/2006/main">
            <a:off x="342900" y="1362075"/>
            <a:ext cx="845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124"/>
                </a:solidFill>
                <a:latin typeface="Google Sans Flex"/>
                <a:ea typeface="Google Sans Flex"/>
                <a:cs typeface="Google Sans Flex"/>
              </a:defRPr>
            </a:defPPr>
          </a:lstStyle>
          <a:p xmlns:a="http://schemas.openxmlformats.org/drawingml/2006/main">
            <a:pPr>
              <a:defRPr sz="2175" b="1">
                <a:solidFill>
                  <a:srgbClr val="202124"/>
                </a:solidFill>
                <a:latin typeface="Google Sans Flex"/>
                <a:ea typeface="Google Sans Flex"/>
                <a:cs typeface="Google Sans Flex"/>
              </a:defRPr>
            </a:pPr>
            <a:r>
              <a:rPr sz="2175" b="1">
                <a:solidFill>
                  <a:srgbClr val="202124"/>
                </a:solidFill>
                <a:latin typeface="Google Sans Flex"/>
                <a:ea typeface="Google Sans Flex"/>
                <a:cs typeface="Google Sans Flex"/>
              </a:rPr>
              <a:t>TwinOps sits between an incident and an approved change.</a:t>
            </a:r>
          </a:p>
        </p:txBody>
      </p:sp>
      <p:sp>
        <p:nvSpPr>
          <p:cNvPr id="81" name="observe">
            <a:extLst xmlns:a="http://schemas.openxmlformats.org/drawingml/2006/main">
              <a:ext uri="{FF2B5EF4-FFF2-40B4-BE49-F238E27FC236}">
                <a16:creationId xmlns:a16="http://schemas.microsoft.com/office/drawing/2014/main" id="{A2DA9B0F-9AA4-4928-A7C2-5987E2C9F606}"/>
              </a:ext>
            </a:extLst>
          </p:cNvPr>
          <p:cNvSpPr>
            <a:spLocks xmlns:a="http://schemas.openxmlformats.org/drawingml/2006/main" noGrp="1"/>
          </p:cNvSpPr>
          <p:nvPr/>
        </p:nvSpPr>
        <p:spPr>
          <a:xfrm xmlns:a="http://schemas.openxmlformats.org/drawingml/2006/main">
            <a:off x="342900" y="2314575"/>
            <a:ext cx="17526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Network symptoms</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What is failing?</a:t>
            </a:r>
          </a:p>
        </p:txBody>
      </p:sp>
      <p:sp>
        <p:nvSpPr>
          <p:cNvPr id="82" name="rehearse">
            <a:extLst xmlns:a="http://schemas.openxmlformats.org/drawingml/2006/main">
              <a:ext uri="{FF2B5EF4-FFF2-40B4-BE49-F238E27FC236}">
                <a16:creationId xmlns:a16="http://schemas.microsoft.com/office/drawing/2014/main" id="{185291BF-BE9C-421D-8B5F-790BF894F169}"/>
              </a:ext>
            </a:extLst>
          </p:cNvPr>
          <p:cNvSpPr>
            <a:spLocks xmlns:a="http://schemas.openxmlformats.org/drawingml/2006/main" noGrp="1"/>
          </p:cNvSpPr>
          <p:nvPr/>
        </p:nvSpPr>
        <p:spPr>
          <a:xfrm xmlns:a="http://schemas.openxmlformats.org/drawingml/2006/main">
            <a:off x="2438400" y="2314575"/>
            <a:ext cx="230505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TwinOps</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Test repairs in isolation</a:t>
            </a:r>
          </a:p>
        </p:txBody>
      </p:sp>
      <p:sp>
        <p:nvSpPr>
          <p:cNvPr id="83" name="review">
            <a:extLst xmlns:a="http://schemas.openxmlformats.org/drawingml/2006/main">
              <a:ext uri="{FF2B5EF4-FFF2-40B4-BE49-F238E27FC236}">
                <a16:creationId xmlns:a16="http://schemas.microsoft.com/office/drawing/2014/main" id="{B759DEE2-2BA5-4DB0-8430-AC9C3C5693E8}"/>
              </a:ext>
            </a:extLst>
          </p:cNvPr>
          <p:cNvSpPr>
            <a:spLocks xmlns:a="http://schemas.openxmlformats.org/drawingml/2006/main" noGrp="1"/>
          </p:cNvSpPr>
          <p:nvPr/>
        </p:nvSpPr>
        <p:spPr>
          <a:xfrm xmlns:a="http://schemas.openxmlformats.org/drawingml/2006/main">
            <a:off x="5086350" y="2314575"/>
            <a:ext cx="17526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Engineer review</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Inspect the evidence</a:t>
            </a:r>
          </a:p>
        </p:txBody>
      </p:sp>
      <p:sp>
        <p:nvSpPr>
          <p:cNvPr id="84" name="apply">
            <a:extLst xmlns:a="http://schemas.openxmlformats.org/drawingml/2006/main">
              <a:ext uri="{FF2B5EF4-FFF2-40B4-BE49-F238E27FC236}">
                <a16:creationId xmlns:a16="http://schemas.microsoft.com/office/drawing/2014/main" id="{3DFB22F9-626C-47CB-8692-970DF73C60D5}"/>
              </a:ext>
            </a:extLst>
          </p:cNvPr>
          <p:cNvSpPr>
            <a:spLocks xmlns:a="http://schemas.openxmlformats.org/drawingml/2006/main" noGrp="1"/>
          </p:cNvSpPr>
          <p:nvPr/>
        </p:nvSpPr>
        <p:spPr>
          <a:xfrm xmlns:a="http://schemas.openxmlformats.org/drawingml/2006/main">
            <a:off x="7181850" y="2314575"/>
            <a:ext cx="161925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Approved change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Verify recovery</a:t>
            </a:r>
          </a:p>
        </p:txBody>
      </p:sp>
      <p:sp>
        <p:nvSpPr>
          <p:cNvPr id="88" name="fit-bridge">
            <a:extLst xmlns:a="http://schemas.openxmlformats.org/drawingml/2006/main">
              <a:ext uri="{FF2B5EF4-FFF2-40B4-BE49-F238E27FC236}">
                <a16:creationId xmlns:a16="http://schemas.microsoft.com/office/drawing/2014/main" id="{7B2DD5D1-CABA-46DB-937D-7D65D0C5963F}"/>
              </a:ext>
            </a:extLst>
          </p:cNvPr>
          <p:cNvSpPr>
            <a:spLocks xmlns:a="http://schemas.openxmlformats.org/drawingml/2006/main" noGrp="1"/>
          </p:cNvSpPr>
          <p:nvPr/>
        </p:nvSpPr>
        <p:spPr>
          <a:xfrm xmlns:a="http://schemas.openxmlformats.org/drawingml/2006/main">
            <a:off x="342900" y="2009775"/>
            <a:ext cx="1752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F6368"/>
                </a:solidFill>
                <a:latin typeface="Google Sans Flex"/>
                <a:ea typeface="Google Sans Flex"/>
                <a:cs typeface="Google Sans Flex"/>
              </a:defRPr>
            </a:defPPr>
          </a:lstStyle>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Read observations</a:t>
            </a:r>
          </a:p>
        </p:txBody>
      </p:sp>
      <p:sp>
        <p:nvSpPr>
          <p:cNvPr id="89" name="fit-bridge2">
            <a:extLst xmlns:a="http://schemas.openxmlformats.org/drawingml/2006/main">
              <a:ext uri="{FF2B5EF4-FFF2-40B4-BE49-F238E27FC236}">
                <a16:creationId xmlns:a16="http://schemas.microsoft.com/office/drawing/2014/main" id="{7BC43B29-DA95-40CD-8000-4A4C4282BF01}"/>
              </a:ext>
            </a:extLst>
          </p:cNvPr>
          <p:cNvSpPr>
            <a:spLocks xmlns:a="http://schemas.openxmlformats.org/drawingml/2006/main" noGrp="1"/>
          </p:cNvSpPr>
          <p:nvPr/>
        </p:nvSpPr>
        <p:spPr>
          <a:xfrm xmlns:a="http://schemas.openxmlformats.org/drawingml/2006/main">
            <a:off x="2438400" y="2009775"/>
            <a:ext cx="2305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967D2"/>
                </a:solidFill>
                <a:latin typeface="Google Sans Flex"/>
                <a:ea typeface="Google Sans Flex"/>
                <a:cs typeface="Google Sans Flex"/>
              </a:defRPr>
            </a:defPPr>
          </a:lstStyle>
          <a:p xmlns:a="http://schemas.openxmlformats.org/drawingml/2006/main">
            <a:pPr>
              <a:defRPr sz="1200" b="0">
                <a:solidFill>
                  <a:srgbClr val="1967D2"/>
                </a:solidFill>
                <a:latin typeface="Google Sans Flex"/>
                <a:ea typeface="Google Sans Flex"/>
                <a:cs typeface="Google Sans Flex"/>
              </a:defRPr>
            </a:pPr>
            <a:r>
              <a:rPr sz="1200" b="0">
                <a:solidFill>
                  <a:srgbClr val="1967D2"/>
                </a:solidFill>
                <a:latin typeface="Google Sans Flex"/>
                <a:ea typeface="Google Sans Flex"/>
                <a:cs typeface="Google Sans Flex"/>
              </a:rPr>
              <a:t>Experiment on the twin</a:t>
            </a:r>
          </a:p>
        </p:txBody>
      </p:sp>
      <p:sp>
        <p:nvSpPr>
          <p:cNvPr id="90" name="fit-bridge3">
            <a:extLst xmlns:a="http://schemas.openxmlformats.org/drawingml/2006/main">
              <a:ext uri="{FF2B5EF4-FFF2-40B4-BE49-F238E27FC236}">
                <a16:creationId xmlns:a16="http://schemas.microsoft.com/office/drawing/2014/main" id="{B7923285-80EE-4746-AF63-25803C136D73}"/>
              </a:ext>
            </a:extLst>
          </p:cNvPr>
          <p:cNvSpPr>
            <a:spLocks xmlns:a="http://schemas.openxmlformats.org/drawingml/2006/main" noGrp="1"/>
          </p:cNvSpPr>
          <p:nvPr/>
        </p:nvSpPr>
        <p:spPr>
          <a:xfrm xmlns:a="http://schemas.openxmlformats.org/drawingml/2006/main">
            <a:off x="5086350" y="2009775"/>
            <a:ext cx="3714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37333"/>
                </a:solidFill>
                <a:latin typeface="Google Sans Flex"/>
                <a:ea typeface="Google Sans Flex"/>
                <a:cs typeface="Google Sans Flex"/>
              </a:defRPr>
            </a:defPPr>
          </a:lstStyle>
          <a:p xmlns:a="http://schemas.openxmlformats.org/drawingml/2006/main">
            <a:pPr>
              <a:defRPr sz="1200" b="0">
                <a:solidFill>
                  <a:srgbClr val="137333"/>
                </a:solidFill>
                <a:latin typeface="Google Sans Flex"/>
                <a:ea typeface="Google Sans Flex"/>
                <a:cs typeface="Google Sans Flex"/>
              </a:defRPr>
            </a:pPr>
            <a:r>
              <a:rPr sz="1200" b="0">
                <a:solidFill>
                  <a:srgbClr val="137333"/>
                </a:solidFill>
                <a:latin typeface="Google Sans Flex"/>
                <a:ea typeface="Google Sans Flex"/>
                <a:cs typeface="Google Sans Flex"/>
              </a:rPr>
              <a:t>Authorize writes to the target</a:t>
            </a:r>
          </a:p>
        </p:txBody>
      </p:sp>
      <p:sp>
        <p:nvSpPr>
          <p:cNvPr id="91" name="opportunity-label-0">
            <a:extLst xmlns:a="http://schemas.openxmlformats.org/drawingml/2006/main">
              <a:ext uri="{FF2B5EF4-FFF2-40B4-BE49-F238E27FC236}">
                <a16:creationId xmlns:a16="http://schemas.microsoft.com/office/drawing/2014/main" id="{1B40767F-6C0C-4935-8BA9-E6CDC400DF1F}"/>
              </a:ext>
            </a:extLst>
          </p:cNvPr>
          <p:cNvSpPr>
            <a:spLocks xmlns:a="http://schemas.openxmlformats.org/drawingml/2006/main" noGrp="1"/>
          </p:cNvSpPr>
          <p:nvPr/>
        </p:nvSpPr>
        <p:spPr>
          <a:xfrm xmlns:a="http://schemas.openxmlformats.org/drawingml/2006/main">
            <a:off x="342900" y="35242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967D2"/>
                </a:solidFill>
                <a:latin typeface="Google Sans Flex"/>
                <a:ea typeface="Google Sans Flex"/>
                <a:cs typeface="Google Sans Flex"/>
              </a:defRPr>
            </a:defPPr>
          </a:lstStyle>
          <a:p xmlns:a="http://schemas.openxmlformats.org/drawingml/2006/main">
            <a:pPr>
              <a:defRPr sz="1500" b="1">
                <a:solidFill>
                  <a:srgbClr val="1967D2"/>
                </a:solidFill>
                <a:latin typeface="Google Sans Flex"/>
                <a:ea typeface="Google Sans Flex"/>
                <a:cs typeface="Google Sans Flex"/>
              </a:defRPr>
            </a:pPr>
            <a:r>
              <a:rPr sz="1500" b="1">
                <a:solidFill>
                  <a:srgbClr val="1967D2"/>
                </a:solidFill>
                <a:latin typeface="Google Sans Flex"/>
                <a:ea typeface="Google Sans Flex"/>
                <a:cs typeface="Google Sans Flex"/>
              </a:rPr>
              <a:t>Different approach</a:t>
            </a:r>
          </a:p>
        </p:txBody>
      </p:sp>
      <p:sp>
        <p:nvSpPr>
          <p:cNvPr id="92" name="opportunity-body-0">
            <a:extLst xmlns:a="http://schemas.openxmlformats.org/drawingml/2006/main">
              <a:ext uri="{FF2B5EF4-FFF2-40B4-BE49-F238E27FC236}">
                <a16:creationId xmlns:a16="http://schemas.microsoft.com/office/drawing/2014/main" id="{8E57EECD-0685-4AC0-8177-15870E06A751}"/>
              </a:ext>
            </a:extLst>
          </p:cNvPr>
          <p:cNvSpPr>
            <a:spLocks xmlns:a="http://schemas.openxmlformats.org/drawingml/2006/main" noGrp="1"/>
          </p:cNvSpPr>
          <p:nvPr/>
        </p:nvSpPr>
        <p:spPr>
          <a:xfrm xmlns:a="http://schemas.openxmlformats.org/drawingml/2006/main">
            <a:off x="2400300" y="3524250"/>
            <a:ext cx="640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Test competing repairs and challenge them before change review.</a:t>
            </a:r>
          </a:p>
        </p:txBody>
      </p:sp>
      <p:sp>
        <p:nvSpPr>
          <p:cNvPr id="93" name="opportunity-label-1">
            <a:extLst xmlns:a="http://schemas.openxmlformats.org/drawingml/2006/main">
              <a:ext uri="{FF2B5EF4-FFF2-40B4-BE49-F238E27FC236}">
                <a16:creationId xmlns:a16="http://schemas.microsoft.com/office/drawing/2014/main" id="{69BE745E-39B3-44CC-B340-F24576CAAAC8}"/>
              </a:ext>
            </a:extLst>
          </p:cNvPr>
          <p:cNvSpPr>
            <a:spLocks xmlns:a="http://schemas.openxmlformats.org/drawingml/2006/main" noGrp="1"/>
          </p:cNvSpPr>
          <p:nvPr/>
        </p:nvSpPr>
        <p:spPr>
          <a:xfrm xmlns:a="http://schemas.openxmlformats.org/drawingml/2006/main">
            <a:off x="342900" y="39719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967D2"/>
                </a:solidFill>
                <a:latin typeface="Google Sans Flex"/>
                <a:ea typeface="Google Sans Flex"/>
                <a:cs typeface="Google Sans Flex"/>
              </a:defRPr>
            </a:defPPr>
          </a:lstStyle>
          <a:p xmlns:a="http://schemas.openxmlformats.org/drawingml/2006/main">
            <a:pPr>
              <a:defRPr sz="1500" b="1">
                <a:solidFill>
                  <a:srgbClr val="1967D2"/>
                </a:solidFill>
                <a:latin typeface="Google Sans Flex"/>
                <a:ea typeface="Google Sans Flex"/>
                <a:cs typeface="Google Sans Flex"/>
              </a:defRPr>
            </a:pPr>
            <a:r>
              <a:rPr sz="1500" b="1">
                <a:solidFill>
                  <a:srgbClr val="1967D2"/>
                </a:solidFill>
                <a:latin typeface="Google Sans Flex"/>
                <a:ea typeface="Google Sans Flex"/>
                <a:cs typeface="Google Sans Flex"/>
              </a:rPr>
              <a:t>Problem solved</a:t>
            </a:r>
          </a:p>
        </p:txBody>
      </p:sp>
      <p:sp>
        <p:nvSpPr>
          <p:cNvPr id="94" name="opportunity-body-1">
            <a:extLst xmlns:a="http://schemas.openxmlformats.org/drawingml/2006/main">
              <a:ext uri="{FF2B5EF4-FFF2-40B4-BE49-F238E27FC236}">
                <a16:creationId xmlns:a16="http://schemas.microsoft.com/office/drawing/2014/main" id="{3C184ACE-4E4E-4E89-93B4-B4E960D5879B}"/>
              </a:ext>
            </a:extLst>
          </p:cNvPr>
          <p:cNvSpPr>
            <a:spLocks xmlns:a="http://schemas.openxmlformats.org/drawingml/2006/main" noGrp="1"/>
          </p:cNvSpPr>
          <p:nvPr/>
        </p:nvSpPr>
        <p:spPr>
          <a:xfrm xmlns:a="http://schemas.openxmlformats.org/drawingml/2006/main">
            <a:off x="2400300" y="3971925"/>
            <a:ext cx="640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A fix that restores access can still fail another required check.</a:t>
            </a:r>
          </a:p>
        </p:txBody>
      </p:sp>
      <p:sp>
        <p:nvSpPr>
          <p:cNvPr id="95" name="opportunity-label-2">
            <a:extLst xmlns:a="http://schemas.openxmlformats.org/drawingml/2006/main">
              <a:ext uri="{FF2B5EF4-FFF2-40B4-BE49-F238E27FC236}">
                <a16:creationId xmlns:a16="http://schemas.microsoft.com/office/drawing/2014/main" id="{3ACA5D6B-D9C5-441A-98B5-2187E7AFBCD3}"/>
              </a:ext>
            </a:extLst>
          </p:cNvPr>
          <p:cNvSpPr>
            <a:spLocks xmlns:a="http://schemas.openxmlformats.org/drawingml/2006/main" noGrp="1"/>
          </p:cNvSpPr>
          <p:nvPr/>
        </p:nvSpPr>
        <p:spPr>
          <a:xfrm xmlns:a="http://schemas.openxmlformats.org/drawingml/2006/main">
            <a:off x="342900" y="4419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967D2"/>
                </a:solidFill>
                <a:latin typeface="Google Sans Flex"/>
                <a:ea typeface="Google Sans Flex"/>
                <a:cs typeface="Google Sans Flex"/>
              </a:defRPr>
            </a:defPPr>
          </a:lstStyle>
          <a:p xmlns:a="http://schemas.openxmlformats.org/drawingml/2006/main">
            <a:pPr>
              <a:defRPr sz="1500" b="1">
                <a:solidFill>
                  <a:srgbClr val="1967D2"/>
                </a:solidFill>
                <a:latin typeface="Google Sans Flex"/>
                <a:ea typeface="Google Sans Flex"/>
                <a:cs typeface="Google Sans Flex"/>
              </a:defRPr>
            </a:pPr>
            <a:r>
              <a:rPr sz="1500" b="1">
                <a:solidFill>
                  <a:srgbClr val="1967D2"/>
                </a:solidFill>
                <a:latin typeface="Google Sans Flex"/>
                <a:ea typeface="Google Sans Flex"/>
                <a:cs typeface="Google Sans Flex"/>
              </a:rPr>
              <a:t>Unique value</a:t>
            </a:r>
          </a:p>
        </p:txBody>
      </p:sp>
      <p:sp>
        <p:nvSpPr>
          <p:cNvPr id="96" name="opportunity-body-2">
            <a:extLst xmlns:a="http://schemas.openxmlformats.org/drawingml/2006/main">
              <a:ext uri="{FF2B5EF4-FFF2-40B4-BE49-F238E27FC236}">
                <a16:creationId xmlns:a16="http://schemas.microsoft.com/office/drawing/2014/main" id="{AC8CA2C3-CBB8-4851-88F7-85D2703173ED}"/>
              </a:ext>
            </a:extLst>
          </p:cNvPr>
          <p:cNvSpPr>
            <a:spLocks xmlns:a="http://schemas.openxmlformats.org/drawingml/2006/main" noGrp="1"/>
          </p:cNvSpPr>
          <p:nvPr/>
        </p:nvSpPr>
        <p:spPr>
          <a:xfrm xmlns:a="http://schemas.openxmlformats.org/drawingml/2006/main">
            <a:off x="2400300" y="4419600"/>
            <a:ext cx="640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One reviewable record links the exact change, tests and rollback.</a:t>
            </a:r>
          </a:p>
        </p:txBody>
      </p:sp>
    </p:spTree>
    <p:extLst>
      <p:ext uri="{BB962C8B-B14F-4D97-AF65-F5344CB8AC3E}">
        <p14:creationId xmlns:p14="http://schemas.microsoft.com/office/powerpoint/2010/main" val="21053443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20D3920F-3381-43E7-9672-190F587E62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ea1290e61b4316">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AB18B8F4-9AE7-4474-ADEB-B2CD2F1EE491}"/>
              </a:ext>
            </a:extLst>
          </p:cNvPr>
          <p:cNvPicPr>
            <a:picLocks xmlns:a="http://schemas.openxmlformats.org/drawingml/2006/main" noChangeAspect="1"/>
          </p:cNvPicPr>
          <p:nvPr/>
        </p:nvPicPr>
        <p:blipFill>
          <a:blip xmlns:r="http://schemas.openxmlformats.org/officeDocument/2006/relationships" xmlns:a="http://schemas.openxmlformats.org/drawingml/2006/main" r:embed="R69b83d84bfc14d05">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1E70009D-4799-4771-9FDA-52820ACB7BFE}"/>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892BA722-EB65-4D24-B37B-60E83D8CDEC4}"/>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List of features offered by the solution</a:t>
            </a:r>
            <a:endParaRPr sz="1600">
              <a:latin typeface="Google Sans Flex Medium"/>
              <a:ea typeface="Google Sans Flex Medium"/>
              <a:cs typeface="Google Sans Flex Medium"/>
            </a:endParaRPr>
          </a:p>
        </p:txBody>
      </p:sp>
      <p:sp>
        <p:nvSpPr>
          <p:cNvPr id="88" name="feature-summary">
            <a:extLst xmlns:a="http://schemas.openxmlformats.org/drawingml/2006/main">
              <a:ext uri="{FF2B5EF4-FFF2-40B4-BE49-F238E27FC236}">
                <a16:creationId xmlns:a16="http://schemas.microsoft.com/office/drawing/2014/main" id="{42CA8497-7772-4A78-BD01-5EABE7F4B1FA}"/>
              </a:ext>
            </a:extLst>
          </p:cNvPr>
          <p:cNvSpPr>
            <a:spLocks xmlns:a="http://schemas.openxmlformats.org/drawingml/2006/main" noGrp="1"/>
          </p:cNvSpPr>
          <p:nvPr/>
        </p:nvSpPr>
        <p:spPr>
          <a:xfrm xmlns:a="http://schemas.openxmlformats.org/drawingml/2006/main">
            <a:off x="342900" y="1362075"/>
            <a:ext cx="8458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124"/>
                </a:solidFill>
                <a:latin typeface="Google Sans Flex"/>
                <a:ea typeface="Google Sans Flex"/>
                <a:cs typeface="Google Sans Flex"/>
              </a:defRPr>
            </a:defPPr>
          </a:lstStyle>
          <a:p xmlns:a="http://schemas.openxmlformats.org/drawingml/2006/main">
            <a:pPr>
              <a:defRPr sz="2175" b="1">
                <a:solidFill>
                  <a:srgbClr val="202124"/>
                </a:solidFill>
                <a:latin typeface="Google Sans Flex"/>
                <a:ea typeface="Google Sans Flex"/>
                <a:cs typeface="Google Sans Flex"/>
              </a:defRPr>
            </a:pPr>
            <a:r>
              <a:rPr sz="2175" b="1">
                <a:solidFill>
                  <a:srgbClr val="202124"/>
                </a:solidFill>
                <a:latin typeface="Google Sans Flex"/>
                <a:ea typeface="Google Sans Flex"/>
                <a:cs typeface="Google Sans Flex"/>
              </a:rPr>
              <a:t>TwinOps explains why one repair survives and another fails.</a:t>
            </a:r>
          </a:p>
        </p:txBody>
      </p:sp>
      <p:sp>
        <p:nvSpPr>
          <p:cNvPr id="89" name="feature-scope">
            <a:extLst xmlns:a="http://schemas.openxmlformats.org/drawingml/2006/main">
              <a:ext uri="{FF2B5EF4-FFF2-40B4-BE49-F238E27FC236}">
                <a16:creationId xmlns:a16="http://schemas.microsoft.com/office/drawing/2014/main" id="{689EE448-1AAE-4EE6-A2F5-BED3755369D5}"/>
              </a:ext>
            </a:extLst>
          </p:cNvPr>
          <p:cNvSpPr>
            <a:spLocks xmlns:a="http://schemas.openxmlformats.org/drawingml/2006/main" noGrp="1"/>
          </p:cNvSpPr>
          <p:nvPr/>
        </p:nvSpPr>
        <p:spPr>
          <a:xfrm xmlns:a="http://schemas.openxmlformats.org/drawingml/2006/main">
            <a:off x="342900" y="2009775"/>
            <a:ext cx="845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6368"/>
                </a:solidFill>
                <a:latin typeface="Google Sans Flex"/>
                <a:ea typeface="Google Sans Flex"/>
                <a:cs typeface="Google Sans Flex"/>
              </a:defRPr>
            </a:defPPr>
          </a:lstStyle>
          <a:p xmlns:a="http://schemas.openxmlformats.org/drawingml/2006/main">
            <a:pPr>
              <a:defRPr sz="1500" b="0">
                <a:solidFill>
                  <a:srgbClr val="5F6368"/>
                </a:solidFill>
                <a:latin typeface="Google Sans Flex"/>
                <a:ea typeface="Google Sans Flex"/>
                <a:cs typeface="Google Sans Flex"/>
              </a:defRPr>
            </a:pPr>
            <a:r>
              <a:rPr sz="1500" b="0">
                <a:solidFill>
                  <a:srgbClr val="5F6368"/>
                </a:solidFill>
                <a:latin typeface="Google Sans Flex"/>
                <a:ea typeface="Google Sans Flex"/>
                <a:cs typeface="Google Sans Flex"/>
              </a:rPr>
              <a:t>Gemini proposes repairs. Twin tests and fixed policy checks decide which can proceed.</a:t>
            </a:r>
          </a:p>
        </p:txBody>
      </p:sp>
      <p:graphicFrame>
        <p:nvGraphicFramePr>
          <p:cNvPr id="90" name="">
            <a:extLst xmlns:a="http://schemas.openxmlformats.org/drawingml/2006/main">
              <a:ext uri="{FF2B5EF4-FFF2-40B4-BE49-F238E27FC236}">
                <a16:creationId xmlns:a16="http://schemas.microsoft.com/office/drawing/2014/main" id="{2EEA3187-86AD-4263-A983-FBE9024C2121}"/>
              </a:ext>
            </a:extLst>
          </p:cNvPr>
          <p:cNvGraphicFramePr/>
          <p:nvPr/>
        </p:nvGraphicFramePr>
        <p:xfrm>
          <a:off xmlns:a="http://schemas.openxmlformats.org/drawingml/2006/main" x="342900" y="2647950"/>
          <a:ext xmlns:a="http://schemas.openxmlformats.org/drawingml/2006/main" cx="8458200" cy="1400175"/>
        </p:xfrm>
        <a:graphic xmlns:a="http://schemas.openxmlformats.org/drawingml/2006/main">
          <a:graphicData uri="http://schemas.openxmlformats.org/drawingml/2006/table">
            <a:tbl>
              <a:tblPr firstRow="1" bandRow="0"/>
              <a:tblGrid>
                <a:gridCol w="3486150"/>
                <a:gridCol w="1695450"/>
                <a:gridCol w="1524000"/>
                <a:gridCol w="1752600"/>
              </a:tblGrid>
              <a:tr h="466725">
                <a:tc>
                  <a:txBody>
                    <a:bodyPr wrap="square" lIns="76200" tIns="76200" rIns="76200" bIns="76200">
                      <a:noAutofit/>
                    </a:bodyPr>
                    <a:lstStyle/>
                    <a:p>
                      <a:r>
                        <a:rPr sz="1350" b="1">
                          <a:solidFill>
                            <a:srgbClr val="FFFFFF"/>
                          </a:solidFill>
                          <a:latin typeface="Google Sans Flex"/>
                          <a:ea typeface="Google Sans Flex"/>
                          <a:cs typeface="Google Sans Flex"/>
                        </a:rPr>
                        <a:t>Recorded candidate</a:t>
                      </a:r>
                    </a:p>
                  </a:txBody>
                  <a:tcPr marL="91440" marR="91440" marT="45720" marB="45720" anchor="ctr">
                    <a:lnL w="4763">
                      <a:solidFill>
                        <a:srgbClr val="DADCE0"/>
                      </a:solidFill>
                      <a:prstDash val="solid"/>
                    </a:lnL>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c>
                  <a:txBody>
                    <a:bodyPr wrap="square" lIns="76200" tIns="76200" rIns="76200" bIns="76200">
                      <a:noAutofit/>
                    </a:bodyPr>
                    <a:lstStyle/>
                    <a:p>
                      <a:r>
                        <a:rPr sz="1350" b="1">
                          <a:solidFill>
                            <a:srgbClr val="FFFFFF"/>
                          </a:solidFill>
                          <a:latin typeface="Google Sans Flex"/>
                          <a:ea typeface="Google Sans Flex"/>
                          <a:cs typeface="Google Sans Flex"/>
                        </a:rPr>
                        <a:t>Access restored</a:t>
                      </a:r>
                    </a:p>
                  </a:txBody>
                  <a:tcPr marL="91440" marR="91440" marT="45720" marB="45720" anchor="ctr">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c>
                  <a:txBody>
                    <a:bodyPr wrap="square" lIns="76200" tIns="76200" rIns="76200" bIns="76200">
                      <a:noAutofit/>
                    </a:bodyPr>
                    <a:lstStyle/>
                    <a:p>
                      <a:r>
                        <a:rPr sz="1350" b="1">
                          <a:solidFill>
                            <a:srgbClr val="FFFFFF"/>
                          </a:solidFill>
                          <a:latin typeface="Google Sans Flex"/>
                          <a:ea typeface="Google Sans Flex"/>
                          <a:cs typeface="Google Sans Flex"/>
                        </a:rPr>
                        <a:t>IPv6 check</a:t>
                      </a:r>
                    </a:p>
                  </a:txBody>
                  <a:tcPr marL="91440" marR="91440" marT="45720" marB="45720" anchor="ctr">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c>
                  <a:txBody>
                    <a:bodyPr wrap="square" lIns="76200" tIns="76200" rIns="76200" bIns="76200">
                      <a:noAutofit/>
                    </a:bodyPr>
                    <a:lstStyle/>
                    <a:p>
                      <a:r>
                        <a:rPr sz="1350" b="1">
                          <a:solidFill>
                            <a:srgbClr val="FFFFFF"/>
                          </a:solidFill>
                          <a:latin typeface="Google Sans Flex"/>
                          <a:ea typeface="Google Sans Flex"/>
                          <a:cs typeface="Google Sans Flex"/>
                        </a:rPr>
                        <a:t>Decision</a:t>
                      </a:r>
                    </a:p>
                  </a:txBody>
                  <a:tcPr marL="91440" marR="91440" marT="45720" marB="45720" anchor="ctr">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r>
              <a:tr h="466725">
                <a:tc>
                  <a:txBody>
                    <a:bodyPr wrap="square" lIns="76200" tIns="76200" rIns="76200" bIns="76200">
                      <a:noAutofit/>
                    </a:bodyPr>
                    <a:lstStyle/>
                    <a:p>
                      <a:r>
                        <a:rPr sz="1275" b="0">
                          <a:solidFill>
                            <a:srgbClr val="202124"/>
                          </a:solidFill>
                          <a:latin typeface="Google Sans Flex"/>
                          <a:ea typeface="Google Sans Flex"/>
                          <a:cs typeface="Google Sans Flex"/>
                        </a:rPr>
                        <a:t>Remove one bad route rule</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Yes</a:t>
                      </a:r>
                    </a:p>
                  </a:txBody>
                  <a:tcPr marL="91440" marR="91440" marT="45720" marB="45720" anchor="ctr">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Pass</a:t>
                      </a:r>
                    </a:p>
                  </a:txBody>
                  <a:tcPr marL="91440" marR="91440" marT="45720" marB="45720" anchor="ctr">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Passed tests</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466725">
                <a:tc>
                  <a:txBody>
                    <a:bodyPr wrap="square" lIns="76200" tIns="76200" rIns="76200" bIns="76200">
                      <a:noAutofit/>
                    </a:bodyPr>
                    <a:lstStyle/>
                    <a:p>
                      <a:r>
                        <a:rPr sz="1275" b="0">
                          <a:solidFill>
                            <a:srgbClr val="202124"/>
                          </a:solidFill>
                          <a:latin typeface="Google Sans Flex"/>
                          <a:ea typeface="Google Sans Flex"/>
                          <a:cs typeface="Google Sans Flex"/>
                        </a:rPr>
                        <a:t>Roll back the full configuration</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Yes</a:t>
                      </a:r>
                    </a:p>
                  </a:txBody>
                  <a:tcPr marL="91440" marR="91440" marT="45720" marB="45720" anchor="ctr">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Fail</a:t>
                      </a:r>
                    </a:p>
                  </a:txBody>
                  <a:tcPr marL="91440" marR="91440" marT="45720" marB="45720" anchor="ctr">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Stopped</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bl>
          </a:graphicData>
        </a:graphic>
      </p:graphicFrame>
      <p:sp>
        <p:nvSpPr>
          <p:cNvPr id="91" name="feature-takeaway">
            <a:extLst xmlns:a="http://schemas.openxmlformats.org/drawingml/2006/main">
              <a:ext uri="{FF2B5EF4-FFF2-40B4-BE49-F238E27FC236}">
                <a16:creationId xmlns:a16="http://schemas.microsoft.com/office/drawing/2014/main" id="{61E769E2-F01B-4F0C-AEC6-92DF0C342DC5}"/>
              </a:ext>
            </a:extLst>
          </p:cNvPr>
          <p:cNvSpPr>
            <a:spLocks xmlns:a="http://schemas.openxmlformats.org/drawingml/2006/main" noGrp="1"/>
          </p:cNvSpPr>
          <p:nvPr/>
        </p:nvSpPr>
        <p:spPr>
          <a:xfrm xmlns:a="http://schemas.openxmlformats.org/drawingml/2006/main">
            <a:off x="342900" y="4257675"/>
            <a:ext cx="845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967D2"/>
                </a:solidFill>
                <a:latin typeface="Google Sans Flex"/>
                <a:ea typeface="Google Sans Flex"/>
                <a:cs typeface="Google Sans Flex"/>
              </a:defRPr>
            </a:defPPr>
          </a:lstStyle>
          <a:p xmlns:a="http://schemas.openxmlformats.org/drawingml/2006/main">
            <a:pPr>
              <a:defRPr sz="1575" b="1">
                <a:solidFill>
                  <a:srgbClr val="1967D2"/>
                </a:solidFill>
                <a:latin typeface="Google Sans Flex"/>
                <a:ea typeface="Google Sans Flex"/>
                <a:cs typeface="Google Sans Flex"/>
              </a:defRPr>
            </a:pPr>
            <a:r>
              <a:rPr sz="1575" b="1">
                <a:solidFill>
                  <a:srgbClr val="1967D2"/>
                </a:solidFill>
                <a:latin typeface="Google Sans Flex"/>
                <a:ea typeface="Google Sans Flex"/>
                <a:cs typeface="Google Sans Flex"/>
              </a:rPr>
              <a:t>Both restored the initial journeys. Only the narrow repair preserved IPv6 reachability.</a:t>
            </a:r>
          </a:p>
        </p:txBody>
      </p:sp>
      <p:sp>
        <p:nvSpPr>
          <p:cNvPr id="92" name="feature-tail">
            <a:extLst xmlns:a="http://schemas.openxmlformats.org/drawingml/2006/main">
              <a:ext uri="{FF2B5EF4-FFF2-40B4-BE49-F238E27FC236}">
                <a16:creationId xmlns:a16="http://schemas.microsoft.com/office/drawing/2014/main" id="{87D83D0D-A259-4B16-9748-E95DE2BD2B50}"/>
              </a:ext>
            </a:extLst>
          </p:cNvPr>
          <p:cNvSpPr>
            <a:spLocks xmlns:a="http://schemas.openxmlformats.org/drawingml/2006/main" noGrp="1"/>
          </p:cNvSpPr>
          <p:nvPr/>
        </p:nvSpPr>
        <p:spPr>
          <a:xfrm xmlns:a="http://schemas.openxmlformats.org/drawingml/2006/main">
            <a:off x="342900" y="4667250"/>
            <a:ext cx="845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6368"/>
                </a:solidFill>
                <a:latin typeface="Google Sans Flex"/>
                <a:ea typeface="Google Sans Flex"/>
                <a:cs typeface="Google Sans Flex"/>
              </a:defRPr>
            </a:defPPr>
          </a:lstStyle>
          <a:p xmlns:a="http://schemas.openxmlformats.org/drawingml/2006/main">
            <a:pPr>
              <a:defRPr sz="1350" b="0">
                <a:solidFill>
                  <a:srgbClr val="5F6368"/>
                </a:solidFill>
                <a:latin typeface="Google Sans Flex"/>
                <a:ea typeface="Google Sans Flex"/>
                <a:cs typeface="Google Sans Flex"/>
              </a:defRPr>
            </a:pPr>
            <a:r>
              <a:rPr sz="1350" b="0">
                <a:solidFill>
                  <a:srgbClr val="5F6368"/>
                </a:solidFill>
                <a:latin typeface="Google Sans Flex"/>
                <a:ea typeface="Google Sans Flex"/>
                <a:cs typeface="Google Sans Flex"/>
              </a:rPr>
              <a:t>The workbench retains rejected alternatives, the exact diff and a rehearsed rollback for review.</a:t>
            </a:r>
          </a:p>
        </p:txBody>
      </p:sp>
    </p:spTree>
    <p:extLst>
      <p:ext uri="{BB962C8B-B14F-4D97-AF65-F5344CB8AC3E}">
        <p14:creationId xmlns:p14="http://schemas.microsoft.com/office/powerpoint/2010/main" val="16171965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12" name="">
            <a:extLst xmlns:a="http://schemas.openxmlformats.org/drawingml/2006/main">
              <a:ext uri="{FF2B5EF4-FFF2-40B4-BE49-F238E27FC236}">
                <a16:creationId xmlns:a16="http://schemas.microsoft.com/office/drawing/2014/main" id="{C645E2BF-8CEA-4604-9E24-C19B8BFFAF18}"/>
              </a:ext>
            </a:extLst>
          </p:cNvPr>
          <p:cNvCxnSpPr>
            <a:stCxn xmlns:a="http://schemas.openxmlformats.org/drawingml/2006/main" id="106" idx="1"/>
            <a:endCxn xmlns:a="http://schemas.openxmlformats.org/drawingml/2006/main" id="105" idx="3"/>
          </p:cNvCxnSpPr>
          <p:nvPr/>
        </p:nvCxnSpPr>
        <p:spPr>
          <a:xfrm xmlns:a="http://schemas.openxmlformats.org/drawingml/2006/main" flipH="1">
            <a:off x="2286000" y="4000500"/>
            <a:ext cx="200025" cy="0"/>
          </a:xfrm>
          <a:prstGeom xmlns:a="http://schemas.openxmlformats.org/drawingml/2006/main" prst="straightConnector1">
            <a:avLst/>
          </a:prstGeom>
          <a:ln xmlns:a="http://schemas.openxmlformats.org/drawingml/2006/main" w="14288">
            <a:solidFill>
              <a:srgbClr val="137333"/>
            </a:solidFill>
            <a:tailEnd type="triangle" w="sm" len="sm"/>
          </a:ln>
        </p:spPr>
      </p:cxnSp>
      <p:cxnSp>
        <p:nvCxnSpPr>
          <p:cNvPr id="111" name="">
            <a:extLst xmlns:a="http://schemas.openxmlformats.org/drawingml/2006/main">
              <a:ext uri="{FF2B5EF4-FFF2-40B4-BE49-F238E27FC236}">
                <a16:creationId xmlns:a16="http://schemas.microsoft.com/office/drawing/2014/main" id="{4D18DD40-9979-43E6-8E81-189F6AB264BC}"/>
              </a:ext>
            </a:extLst>
          </p:cNvPr>
          <p:cNvCxnSpPr>
            <a:stCxn xmlns:a="http://schemas.openxmlformats.org/drawingml/2006/main" id="107" idx="1"/>
            <a:endCxn xmlns:a="http://schemas.openxmlformats.org/drawingml/2006/main" id="106" idx="3"/>
          </p:cNvCxnSpPr>
          <p:nvPr/>
        </p:nvCxnSpPr>
        <p:spPr>
          <a:xfrm xmlns:a="http://schemas.openxmlformats.org/drawingml/2006/main" flipH="1">
            <a:off x="4429125" y="4000500"/>
            <a:ext cx="200025" cy="0"/>
          </a:xfrm>
          <a:prstGeom xmlns:a="http://schemas.openxmlformats.org/drawingml/2006/main" prst="straightConnector1">
            <a:avLst/>
          </a:prstGeom>
          <a:ln xmlns:a="http://schemas.openxmlformats.org/drawingml/2006/main" w="14288">
            <a:solidFill>
              <a:srgbClr val="137333"/>
            </a:solidFill>
            <a:tailEnd type="triangle" w="sm" len="sm"/>
          </a:ln>
        </p:spPr>
      </p:cxnSp>
      <p:cxnSp>
        <p:nvCxnSpPr>
          <p:cNvPr id="110" name="">
            <a:extLst xmlns:a="http://schemas.openxmlformats.org/drawingml/2006/main">
              <a:ext uri="{FF2B5EF4-FFF2-40B4-BE49-F238E27FC236}">
                <a16:creationId xmlns:a16="http://schemas.microsoft.com/office/drawing/2014/main" id="{94C14AA6-702B-4BC7-AD0C-12E206E47867}"/>
              </a:ext>
            </a:extLst>
          </p:cNvPr>
          <p:cNvCxnSpPr>
            <a:stCxn xmlns:a="http://schemas.openxmlformats.org/drawingml/2006/main" id="108" idx="1"/>
            <a:endCxn xmlns:a="http://schemas.openxmlformats.org/drawingml/2006/main" id="107" idx="3"/>
          </p:cNvCxnSpPr>
          <p:nvPr/>
        </p:nvCxnSpPr>
        <p:spPr>
          <a:xfrm xmlns:a="http://schemas.openxmlformats.org/drawingml/2006/main" flipH="1">
            <a:off x="6572250" y="4000500"/>
            <a:ext cx="200025" cy="0"/>
          </a:xfrm>
          <a:prstGeom xmlns:a="http://schemas.openxmlformats.org/drawingml/2006/main" prst="straightConnector1">
            <a:avLst/>
          </a:prstGeom>
          <a:ln xmlns:a="http://schemas.openxmlformats.org/drawingml/2006/main" w="14288">
            <a:solidFill>
              <a:srgbClr val="137333"/>
            </a:solidFill>
            <a:tailEnd type="triangle" w="sm" len="sm"/>
          </a:ln>
        </p:spPr>
      </p:cxnSp>
      <p:cxnSp>
        <p:nvCxnSpPr>
          <p:cNvPr id="109" name="">
            <a:extLst xmlns:a="http://schemas.openxmlformats.org/drawingml/2006/main">
              <a:ext uri="{FF2B5EF4-FFF2-40B4-BE49-F238E27FC236}">
                <a16:creationId xmlns:a16="http://schemas.microsoft.com/office/drawing/2014/main" id="{9406820D-F1FD-4E5D-8440-4937BFBD092B}"/>
              </a:ext>
            </a:extLst>
          </p:cNvPr>
          <p:cNvCxnSpPr>
            <a:stCxn xmlns:a="http://schemas.openxmlformats.org/drawingml/2006/main" id="101" idx="2"/>
            <a:endCxn xmlns:a="http://schemas.openxmlformats.org/drawingml/2006/main" id="108" idx="0"/>
          </p:cNvCxnSpPr>
          <p:nvPr/>
        </p:nvCxnSpPr>
        <p:spPr>
          <a:xfrm xmlns:a="http://schemas.openxmlformats.org/drawingml/2006/main">
            <a:off x="7743825" y="3076575"/>
            <a:ext cx="0" cy="561975"/>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104" name="">
            <a:extLst xmlns:a="http://schemas.openxmlformats.org/drawingml/2006/main">
              <a:ext uri="{FF2B5EF4-FFF2-40B4-BE49-F238E27FC236}">
                <a16:creationId xmlns:a16="http://schemas.microsoft.com/office/drawing/2014/main" id="{014F874C-0444-4959-A72C-91EC2F43047A}"/>
              </a:ext>
            </a:extLst>
          </p:cNvPr>
          <p:cNvCxnSpPr>
            <a:stCxn xmlns:a="http://schemas.openxmlformats.org/drawingml/2006/main" id="100" idx="3"/>
            <a:endCxn xmlns:a="http://schemas.openxmlformats.org/drawingml/2006/main" id="101" idx="1"/>
          </p:cNvCxnSpPr>
          <p:nvPr/>
        </p:nvCxnSpPr>
        <p:spPr>
          <a:xfrm xmlns:a="http://schemas.openxmlformats.org/drawingml/2006/main">
            <a:off x="6572250" y="2714625"/>
            <a:ext cx="200025" cy="0"/>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103" name="">
            <a:extLst xmlns:a="http://schemas.openxmlformats.org/drawingml/2006/main">
              <a:ext uri="{FF2B5EF4-FFF2-40B4-BE49-F238E27FC236}">
                <a16:creationId xmlns:a16="http://schemas.microsoft.com/office/drawing/2014/main" id="{4C34D965-90CD-4395-8B0F-319472ED8133}"/>
              </a:ext>
            </a:extLst>
          </p:cNvPr>
          <p:cNvCxnSpPr>
            <a:stCxn xmlns:a="http://schemas.openxmlformats.org/drawingml/2006/main" id="99" idx="3"/>
            <a:endCxn xmlns:a="http://schemas.openxmlformats.org/drawingml/2006/main" id="100" idx="1"/>
          </p:cNvCxnSpPr>
          <p:nvPr/>
        </p:nvCxnSpPr>
        <p:spPr>
          <a:xfrm xmlns:a="http://schemas.openxmlformats.org/drawingml/2006/main">
            <a:off x="4429125" y="2714625"/>
            <a:ext cx="200025" cy="0"/>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102" name="">
            <a:extLst xmlns:a="http://schemas.openxmlformats.org/drawingml/2006/main">
              <a:ext uri="{FF2B5EF4-FFF2-40B4-BE49-F238E27FC236}">
                <a16:creationId xmlns:a16="http://schemas.microsoft.com/office/drawing/2014/main" id="{A5A9C3B9-39BD-4956-88D8-D7FEC795CD5C}"/>
              </a:ext>
            </a:extLst>
          </p:cNvPr>
          <p:cNvCxnSpPr>
            <a:stCxn xmlns:a="http://schemas.openxmlformats.org/drawingml/2006/main" id="98" idx="3"/>
            <a:endCxn xmlns:a="http://schemas.openxmlformats.org/drawingml/2006/main" id="99" idx="1"/>
          </p:cNvCxnSpPr>
          <p:nvPr/>
        </p:nvCxnSpPr>
        <p:spPr>
          <a:xfrm xmlns:a="http://schemas.openxmlformats.org/drawingml/2006/main">
            <a:off x="2286000" y="2714625"/>
            <a:ext cx="200025" cy="0"/>
          </a:xfrm>
          <a:prstGeom xmlns:a="http://schemas.openxmlformats.org/drawingml/2006/main" prst="straightConnector1">
            <a:avLst/>
          </a:prstGeom>
          <a:ln xmlns:a="http://schemas.openxmlformats.org/drawingml/2006/main" w="14288">
            <a:solidFill>
              <a:srgbClr val="1967D2"/>
            </a:solidFill>
            <a:tailEnd type="triangle" w="sm" len="sm"/>
          </a:ln>
        </p:spPr>
      </p:cxnSp>
      <p:pic>
        <p:nvPicPr>
          <p:cNvPr id="92" name="Google Shape;92;p18">
            <a:extLst xmlns:a="http://schemas.openxmlformats.org/drawingml/2006/main">
              <a:ext uri="{FF2B5EF4-FFF2-40B4-BE49-F238E27FC236}">
                <a16:creationId xmlns:a16="http://schemas.microsoft.com/office/drawing/2014/main" id="{AF59E8AF-7451-4F77-A48B-1AFDE5169D5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8da7c7fe20f40b9">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B6A906D7-6D01-4665-B46F-27E46DFA363B}"/>
              </a:ext>
            </a:extLst>
          </p:cNvPr>
          <p:cNvPicPr>
            <a:picLocks xmlns:a="http://schemas.openxmlformats.org/drawingml/2006/main" noChangeAspect="1"/>
          </p:cNvPicPr>
          <p:nvPr/>
        </p:nvPicPr>
        <p:blipFill>
          <a:blip xmlns:r="http://schemas.openxmlformats.org/officeDocument/2006/relationships" xmlns:a="http://schemas.openxmlformats.org/drawingml/2006/main" r:embed="Rd4ce2b3d332542b7">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C466D09E-297E-4E02-BE89-F84837E682A0}"/>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24D5C3B4-60BB-404D-ADD0-697E2CB573BA}"/>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Process flow diagram</a:t>
            </a:r>
            <a:endParaRPr sz="1600">
              <a:latin typeface="Google Sans Flex Medium"/>
              <a:ea typeface="Google Sans Flex Medium"/>
              <a:cs typeface="Google Sans Flex Medium"/>
            </a:endParaRPr>
          </a:p>
        </p:txBody>
      </p:sp>
      <p:sp>
        <p:nvSpPr>
          <p:cNvPr id="96" name="flow-headline">
            <a:extLst xmlns:a="http://schemas.openxmlformats.org/drawingml/2006/main">
              <a:ext uri="{FF2B5EF4-FFF2-40B4-BE49-F238E27FC236}">
                <a16:creationId xmlns:a16="http://schemas.microsoft.com/office/drawing/2014/main" id="{9C35EDF0-B854-4157-A5F5-6D1A4E47738F}"/>
              </a:ext>
            </a:extLst>
          </p:cNvPr>
          <p:cNvSpPr>
            <a:spLocks xmlns:a="http://schemas.openxmlformats.org/drawingml/2006/main" noGrp="1"/>
          </p:cNvSpPr>
          <p:nvPr/>
        </p:nvSpPr>
        <p:spPr>
          <a:xfrm xmlns:a="http://schemas.openxmlformats.org/drawingml/2006/main">
            <a:off x="342900" y="1362075"/>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02124"/>
                </a:solidFill>
                <a:latin typeface="Google Sans Flex"/>
                <a:ea typeface="Google Sans Flex"/>
                <a:cs typeface="Google Sans Flex"/>
              </a:defRPr>
            </a:defPPr>
          </a:lstStyle>
          <a:p xmlns:a="http://schemas.openxmlformats.org/drawingml/2006/main">
            <a:pPr>
              <a:defRPr sz="2025" b="1">
                <a:solidFill>
                  <a:srgbClr val="202124"/>
                </a:solidFill>
                <a:latin typeface="Google Sans Flex"/>
                <a:ea typeface="Google Sans Flex"/>
                <a:cs typeface="Google Sans Flex"/>
              </a:defRPr>
            </a:pPr>
            <a:r>
              <a:rPr sz="2025" b="1">
                <a:solidFill>
                  <a:srgbClr val="202124"/>
                </a:solidFill>
                <a:latin typeface="Google Sans Flex"/>
                <a:ea typeface="Google Sans Flex"/>
                <a:cs typeface="Google Sans Flex"/>
              </a:rPr>
              <a:t>One routing incident, from failed access to verified recovery</a:t>
            </a:r>
          </a:p>
        </p:txBody>
      </p:sp>
      <p:sp>
        <p:nvSpPr>
          <p:cNvPr id="97" name="flow-test-label">
            <a:extLst xmlns:a="http://schemas.openxmlformats.org/drawingml/2006/main">
              <a:ext uri="{FF2B5EF4-FFF2-40B4-BE49-F238E27FC236}">
                <a16:creationId xmlns:a16="http://schemas.microsoft.com/office/drawing/2014/main" id="{43CB11D8-F6CA-409F-A4D3-5DA505D0C73F}"/>
              </a:ext>
            </a:extLst>
          </p:cNvPr>
          <p:cNvSpPr>
            <a:spLocks xmlns:a="http://schemas.openxmlformats.org/drawingml/2006/main" noGrp="1"/>
          </p:cNvSpPr>
          <p:nvPr/>
        </p:nvSpPr>
        <p:spPr>
          <a:xfrm xmlns:a="http://schemas.openxmlformats.org/drawingml/2006/main">
            <a:off x="342900" y="1885950"/>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1967D2"/>
                </a:solidFill>
                <a:latin typeface="Google Sans Flex"/>
                <a:ea typeface="Google Sans Flex"/>
                <a:cs typeface="Google Sans Flex"/>
              </a:defRPr>
            </a:defPPr>
          </a:lstStyle>
          <a:p xmlns:a="http://schemas.openxmlformats.org/drawingml/2006/main">
            <a:pPr>
              <a:defRPr sz="1425" b="0">
                <a:solidFill>
                  <a:srgbClr val="1967D2"/>
                </a:solidFill>
                <a:latin typeface="Google Sans Flex"/>
                <a:ea typeface="Google Sans Flex"/>
                <a:cs typeface="Google Sans Flex"/>
              </a:defRPr>
            </a:pPr>
            <a:r>
              <a:rPr sz="1425" b="0">
                <a:solidFill>
                  <a:srgbClr val="1967D2"/>
                </a:solidFill>
                <a:latin typeface="Google Sans Flex"/>
                <a:ea typeface="Google Sans Flex"/>
                <a:cs typeface="Google Sans Flex"/>
              </a:rPr>
              <a:t>Steps 1–5: TwinOps reads the application and experiments only on its twin.</a:t>
            </a:r>
          </a:p>
        </p:txBody>
      </p:sp>
      <p:sp>
        <p:nvSpPr>
          <p:cNvPr id="98" name="flow-1">
            <a:extLst xmlns:a="http://schemas.openxmlformats.org/drawingml/2006/main">
              <a:ext uri="{FF2B5EF4-FFF2-40B4-BE49-F238E27FC236}">
                <a16:creationId xmlns:a16="http://schemas.microsoft.com/office/drawing/2014/main" id="{E7C6EB7C-A397-49E5-9F6B-144C340A48A4}"/>
              </a:ext>
            </a:extLst>
          </p:cNvPr>
          <p:cNvSpPr>
            <a:spLocks xmlns:a="http://schemas.openxmlformats.org/drawingml/2006/main" noGrp="1"/>
          </p:cNvSpPr>
          <p:nvPr/>
        </p:nvSpPr>
        <p:spPr>
          <a:xfrm xmlns:a="http://schemas.openxmlformats.org/drawingml/2006/main">
            <a:off x="342900" y="2352675"/>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1  Observe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Two journeys fail</a:t>
            </a:r>
          </a:p>
        </p:txBody>
      </p:sp>
      <p:sp>
        <p:nvSpPr>
          <p:cNvPr id="99" name="flow-2">
            <a:extLst xmlns:a="http://schemas.openxmlformats.org/drawingml/2006/main">
              <a:ext uri="{FF2B5EF4-FFF2-40B4-BE49-F238E27FC236}">
                <a16:creationId xmlns:a16="http://schemas.microsoft.com/office/drawing/2014/main" id="{3A82E6FE-8D9A-4FEF-9C37-A3C9B6DBB752}"/>
              </a:ext>
            </a:extLst>
          </p:cNvPr>
          <p:cNvSpPr>
            <a:spLocks xmlns:a="http://schemas.openxmlformats.org/drawingml/2006/main" noGrp="1"/>
          </p:cNvSpPr>
          <p:nvPr/>
        </p:nvSpPr>
        <p:spPr>
          <a:xfrm xmlns:a="http://schemas.openxmlformats.org/drawingml/2006/main">
            <a:off x="2486025" y="2352675"/>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2  Investigate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Gemini ranks causes</a:t>
            </a:r>
          </a:p>
        </p:txBody>
      </p:sp>
      <p:sp>
        <p:nvSpPr>
          <p:cNvPr id="100" name="flow-3">
            <a:extLst xmlns:a="http://schemas.openxmlformats.org/drawingml/2006/main">
              <a:ext uri="{FF2B5EF4-FFF2-40B4-BE49-F238E27FC236}">
                <a16:creationId xmlns:a16="http://schemas.microsoft.com/office/drawing/2014/main" id="{181D43D7-FCBC-4D4E-8A63-36F00C6E02B2}"/>
              </a:ext>
            </a:extLst>
          </p:cNvPr>
          <p:cNvSpPr>
            <a:spLocks xmlns:a="http://schemas.openxmlformats.org/drawingml/2006/main" noGrp="1"/>
          </p:cNvSpPr>
          <p:nvPr/>
        </p:nvSpPr>
        <p:spPr>
          <a:xfrm xmlns:a="http://schemas.openxmlformats.org/drawingml/2006/main">
            <a:off x="4629150" y="2352675"/>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3  Reproduce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Copy the affected slice</a:t>
            </a:r>
          </a:p>
        </p:txBody>
      </p:sp>
      <p:sp>
        <p:nvSpPr>
          <p:cNvPr id="101" name="flow-4">
            <a:extLst xmlns:a="http://schemas.openxmlformats.org/drawingml/2006/main">
              <a:ext uri="{FF2B5EF4-FFF2-40B4-BE49-F238E27FC236}">
                <a16:creationId xmlns:a16="http://schemas.microsoft.com/office/drawing/2014/main" id="{75FEE7FC-3D73-4AC3-8D43-46908C63A057}"/>
              </a:ext>
            </a:extLst>
          </p:cNvPr>
          <p:cNvSpPr>
            <a:spLocks xmlns:a="http://schemas.openxmlformats.org/drawingml/2006/main" noGrp="1"/>
          </p:cNvSpPr>
          <p:nvPr/>
        </p:nvSpPr>
        <p:spPr>
          <a:xfrm xmlns:a="http://schemas.openxmlformats.org/drawingml/2006/main">
            <a:off x="6772275" y="2352675"/>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4  Compare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Test candidate repairs</a:t>
            </a:r>
          </a:p>
        </p:txBody>
      </p:sp>
      <p:sp>
        <p:nvSpPr>
          <p:cNvPr id="105" name="flow-8">
            <a:extLst xmlns:a="http://schemas.openxmlformats.org/drawingml/2006/main">
              <a:ext uri="{FF2B5EF4-FFF2-40B4-BE49-F238E27FC236}">
                <a16:creationId xmlns:a16="http://schemas.microsoft.com/office/drawing/2014/main" id="{AD09A971-2395-4BE8-98DB-34233016BD6C}"/>
              </a:ext>
            </a:extLst>
          </p:cNvPr>
          <p:cNvSpPr>
            <a:spLocks xmlns:a="http://schemas.openxmlformats.org/drawingml/2006/main" noGrp="1"/>
          </p:cNvSpPr>
          <p:nvPr/>
        </p:nvSpPr>
        <p:spPr>
          <a:xfrm xmlns:a="http://schemas.openxmlformats.org/drawingml/2006/main">
            <a:off x="342900" y="3638550"/>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8  Apply + verify</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Four journeys recover</a:t>
            </a:r>
          </a:p>
        </p:txBody>
      </p:sp>
      <p:sp>
        <p:nvSpPr>
          <p:cNvPr id="106" name="flow-7">
            <a:extLst xmlns:a="http://schemas.openxmlformats.org/drawingml/2006/main">
              <a:ext uri="{FF2B5EF4-FFF2-40B4-BE49-F238E27FC236}">
                <a16:creationId xmlns:a16="http://schemas.microsoft.com/office/drawing/2014/main" id="{E553B86B-7EC1-4FCA-9C53-86237103118B}"/>
              </a:ext>
            </a:extLst>
          </p:cNvPr>
          <p:cNvSpPr>
            <a:spLocks xmlns:a="http://schemas.openxmlformats.org/drawingml/2006/main" noGrp="1"/>
          </p:cNvSpPr>
          <p:nvPr/>
        </p:nvSpPr>
        <p:spPr>
          <a:xfrm xmlns:a="http://schemas.openxmlformats.org/drawingml/2006/main">
            <a:off x="2486025" y="3638550"/>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7  Approve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Bind change + state</a:t>
            </a:r>
          </a:p>
        </p:txBody>
      </p:sp>
      <p:sp>
        <p:nvSpPr>
          <p:cNvPr id="107" name="flow-6">
            <a:extLst xmlns:a="http://schemas.openxmlformats.org/drawingml/2006/main">
              <a:ext uri="{FF2B5EF4-FFF2-40B4-BE49-F238E27FC236}">
                <a16:creationId xmlns:a16="http://schemas.microsoft.com/office/drawing/2014/main" id="{BED6EBDA-B4C9-4A8F-B45B-2227A79D4199}"/>
              </a:ext>
            </a:extLst>
          </p:cNvPr>
          <p:cNvSpPr>
            <a:spLocks xmlns:a="http://schemas.openxmlformats.org/drawingml/2006/main" noGrp="1"/>
          </p:cNvSpPr>
          <p:nvPr/>
        </p:nvSpPr>
        <p:spPr>
          <a:xfrm xmlns:a="http://schemas.openxmlformats.org/drawingml/2006/main">
            <a:off x="4629150" y="3638550"/>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6  Review</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Read diff and rollback</a:t>
            </a:r>
          </a:p>
        </p:txBody>
      </p:sp>
      <p:sp>
        <p:nvSpPr>
          <p:cNvPr id="108" name="flow-5">
            <a:extLst xmlns:a="http://schemas.openxmlformats.org/drawingml/2006/main">
              <a:ext uri="{FF2B5EF4-FFF2-40B4-BE49-F238E27FC236}">
                <a16:creationId xmlns:a16="http://schemas.microsoft.com/office/drawing/2014/main" id="{EE0C19A3-7310-4CB9-8652-CE918C7C8A17}"/>
              </a:ext>
            </a:extLst>
          </p:cNvPr>
          <p:cNvSpPr>
            <a:spLocks xmlns:a="http://schemas.openxmlformats.org/drawingml/2006/main" noGrp="1"/>
          </p:cNvSpPr>
          <p:nvPr/>
        </p:nvSpPr>
        <p:spPr>
          <a:xfrm xmlns:a="http://schemas.openxmlformats.org/drawingml/2006/main">
            <a:off x="6772275" y="3638550"/>
            <a:ext cx="19431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5  Challenge</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Check for regressions</a:t>
            </a:r>
          </a:p>
        </p:txBody>
      </p:sp>
      <p:sp>
        <p:nvSpPr>
          <p:cNvPr id="113" name="flow-turn">
            <a:extLst xmlns:a="http://schemas.openxmlformats.org/drawingml/2006/main">
              <a:ext uri="{FF2B5EF4-FFF2-40B4-BE49-F238E27FC236}">
                <a16:creationId xmlns:a16="http://schemas.microsoft.com/office/drawing/2014/main" id="{F44461FA-0ACD-4F23-8761-FC3135918D52}"/>
              </a:ext>
            </a:extLst>
          </p:cNvPr>
          <p:cNvSpPr>
            <a:spLocks xmlns:a="http://schemas.openxmlformats.org/drawingml/2006/main" noGrp="1"/>
          </p:cNvSpPr>
          <p:nvPr/>
        </p:nvSpPr>
        <p:spPr>
          <a:xfrm xmlns:a="http://schemas.openxmlformats.org/drawingml/2006/main">
            <a:off x="342900" y="3267075"/>
            <a:ext cx="6315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6368"/>
                </a:solidFill>
                <a:latin typeface="Google Sans Flex"/>
                <a:ea typeface="Google Sans Flex"/>
                <a:cs typeface="Google Sans Flex"/>
              </a:defRPr>
            </a:defPPr>
          </a:lstStyle>
          <a:p xmlns:a="http://schemas.openxmlformats.org/drawingml/2006/main">
            <a:pPr>
              <a:defRPr sz="1350" b="0">
                <a:solidFill>
                  <a:srgbClr val="5F6368"/>
                </a:solidFill>
                <a:latin typeface="Google Sans Flex"/>
                <a:ea typeface="Google Sans Flex"/>
                <a:cs typeface="Google Sans Flex"/>
              </a:defRPr>
            </a:pPr>
            <a:r>
              <a:rPr sz="1350" b="0">
                <a:solidFill>
                  <a:srgbClr val="5F6368"/>
                </a:solidFill>
                <a:latin typeface="Google Sans Flex"/>
                <a:ea typeface="Google Sans Flex"/>
                <a:cs typeface="Google Sans Flex"/>
              </a:rPr>
              <a:t>Continue with the surviving evidence</a:t>
            </a:r>
          </a:p>
        </p:txBody>
      </p:sp>
      <p:sp>
        <p:nvSpPr>
          <p:cNvPr id="114" name="flow-rule">
            <a:extLst xmlns:a="http://schemas.openxmlformats.org/drawingml/2006/main">
              <a:ext uri="{FF2B5EF4-FFF2-40B4-BE49-F238E27FC236}">
                <a16:creationId xmlns:a16="http://schemas.microsoft.com/office/drawing/2014/main" id="{128F4313-7CA9-42B7-A8B1-7E08E7435FA1}"/>
              </a:ext>
            </a:extLst>
          </p:cNvPr>
          <p:cNvSpPr>
            <a:spLocks xmlns:a="http://schemas.openxmlformats.org/drawingml/2006/main" noGrp="1"/>
          </p:cNvSpPr>
          <p:nvPr/>
        </p:nvSpPr>
        <p:spPr>
          <a:xfrm xmlns:a="http://schemas.openxmlformats.org/drawingml/2006/main">
            <a:off x="342900" y="4648200"/>
            <a:ext cx="845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6368"/>
                </a:solidFill>
                <a:latin typeface="Google Sans Flex"/>
                <a:ea typeface="Google Sans Flex"/>
                <a:cs typeface="Google Sans Flex"/>
              </a:defRPr>
            </a:defPPr>
          </a:lstStyle>
          <a:p xmlns:a="http://schemas.openxmlformats.org/drawingml/2006/main">
            <a:pPr>
              <a:defRPr sz="1350" b="0">
                <a:solidFill>
                  <a:srgbClr val="5F6368"/>
                </a:solidFill>
                <a:latin typeface="Google Sans Flex"/>
                <a:ea typeface="Google Sans Flex"/>
                <a:cs typeface="Google Sans Flex"/>
              </a:defRPr>
            </a:pPr>
            <a:r>
              <a:rPr sz="1350" b="0">
                <a:solidFill>
                  <a:srgbClr val="5F6368"/>
                </a:solidFill>
                <a:latin typeface="Google Sans Flex"/>
                <a:ea typeface="Google Sans Flex"/>
                <a:cs typeface="Google Sans Flex"/>
              </a:rPr>
              <a:t>Missing evidence blocks a proposal. Failed recovery triggers rollback handling and escalation.</a:t>
            </a:r>
          </a:p>
        </p:txBody>
      </p:sp>
    </p:spTree>
    <p:extLst>
      <p:ext uri="{BB962C8B-B14F-4D97-AF65-F5344CB8AC3E}">
        <p14:creationId xmlns:p14="http://schemas.microsoft.com/office/powerpoint/2010/main" val="13146820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69855A37-2AB4-419C-A25E-D298DA95484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b8e1e2fe554ef0">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BCFC8FE8-3244-4DEA-A00A-3B1CD399C276}"/>
              </a:ext>
            </a:extLst>
          </p:cNvPr>
          <p:cNvPicPr>
            <a:picLocks xmlns:a="http://schemas.openxmlformats.org/drawingml/2006/main" noChangeAspect="1"/>
          </p:cNvPicPr>
          <p:nvPr/>
        </p:nvPicPr>
        <p:blipFill>
          <a:blip xmlns:r="http://schemas.openxmlformats.org/officeDocument/2006/relationships" xmlns:a="http://schemas.openxmlformats.org/drawingml/2006/main" r:embed="R1a71814b29664f9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4F2542C8-B734-46DC-9AC6-06A88E734BEA}"/>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6BA603E1-6CA0-4AF1-AC52-248827D47BAE}"/>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Wireframes / interface: the implemented workbench</a:t>
            </a:r>
            <a:endParaRPr sz="1600">
              <a:latin typeface="Google Sans Flex Medium"/>
              <a:ea typeface="Google Sans Flex Medium"/>
              <a:cs typeface="Google Sans Flex Medium"/>
            </a:endParaRPr>
          </a:p>
        </p:txBody>
      </p:sp>
      <p:sp>
        <p:nvSpPr>
          <p:cNvPr id="104" name="review-headline">
            <a:extLst xmlns:a="http://schemas.openxmlformats.org/drawingml/2006/main">
              <a:ext uri="{FF2B5EF4-FFF2-40B4-BE49-F238E27FC236}">
                <a16:creationId xmlns:a16="http://schemas.microsoft.com/office/drawing/2014/main" id="{3BFE4A6F-7C18-48E4-967C-559E809EE265}"/>
              </a:ext>
            </a:extLst>
          </p:cNvPr>
          <p:cNvSpPr>
            <a:spLocks xmlns:a="http://schemas.openxmlformats.org/drawingml/2006/main" noGrp="1"/>
          </p:cNvSpPr>
          <p:nvPr/>
        </p:nvSpPr>
        <p:spPr>
          <a:xfrm xmlns:a="http://schemas.openxmlformats.org/drawingml/2006/main">
            <a:off x="342900" y="1362075"/>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2124"/>
                </a:solidFill>
                <a:latin typeface="Google Sans Flex"/>
                <a:ea typeface="Google Sans Flex"/>
                <a:cs typeface="Google Sans Flex"/>
              </a:defRPr>
            </a:defPPr>
          </a:lstStyle>
          <a:p xmlns:a="http://schemas.openxmlformats.org/drawingml/2006/main">
            <a:pPr>
              <a:defRPr sz="2175" b="1">
                <a:solidFill>
                  <a:srgbClr val="202124"/>
                </a:solidFill>
                <a:latin typeface="Google Sans Flex"/>
                <a:ea typeface="Google Sans Flex"/>
                <a:cs typeface="Google Sans Flex"/>
              </a:defRPr>
            </a:pPr>
            <a:r>
              <a:rPr sz="2175" b="1">
                <a:solidFill>
                  <a:srgbClr val="202124"/>
                </a:solidFill>
                <a:latin typeface="Google Sans Flex"/>
                <a:ea typeface="Google Sans Flex"/>
                <a:cs typeface="Google Sans Flex"/>
              </a:rPr>
              <a:t>The engineer approves a specific, tested change.</a:t>
            </a:r>
          </a:p>
        </p:txBody>
      </p:sp>
      <p:pic>
        <p:nvPicPr>
          <p:cNvPr id="105" name="">
            <a:extLst xmlns:a="http://schemas.openxmlformats.org/drawingml/2006/main">
              <a:ext uri="{FF2B5EF4-FFF2-40B4-BE49-F238E27FC236}">
                <a16:creationId xmlns:a16="http://schemas.microsoft.com/office/drawing/2014/main" id="{9913C375-9B1E-4F6C-92C0-7A8638321866}"/>
              </a:ext>
            </a:extLst>
          </p:cNvPr>
          <p:cNvPicPr>
            <a:picLocks xmlns:a="http://schemas.openxmlformats.org/drawingml/2006/main" noChangeAspect="1"/>
          </p:cNvPicPr>
          <p:nvPr/>
        </p:nvPicPr>
        <p:blipFill>
          <a:blip xmlns:r="http://schemas.openxmlformats.org/officeDocument/2006/relationships" xmlns:a="http://schemas.openxmlformats.org/drawingml/2006/main" r:embed="R9861b08f6ff14209"/>
          <a:srcRect xmlns:a="http://schemas.openxmlformats.org/drawingml/2006/main" l="26000" t="16500" r="26000" b="44000"/>
          <a:stretch xmlns:a="http://schemas.openxmlformats.org/drawingml/2006/main"/>
        </p:blipFill>
        <p:spPr>
          <a:xfrm xmlns:a="http://schemas.openxmlformats.org/drawingml/2006/main">
            <a:off x="342900" y="1981200"/>
            <a:ext cx="5962650" cy="2781300"/>
          </a:xfrm>
          <a:prstGeom xmlns:a="http://schemas.openxmlformats.org/drawingml/2006/main" prst="rect">
            <a:avLst/>
          </a:prstGeom>
        </p:spPr>
      </p:pic>
      <p:sp>
        <p:nvSpPr>
          <p:cNvPr id="106" name="review-label-0">
            <a:extLst xmlns:a="http://schemas.openxmlformats.org/drawingml/2006/main">
              <a:ext uri="{FF2B5EF4-FFF2-40B4-BE49-F238E27FC236}">
                <a16:creationId xmlns:a16="http://schemas.microsoft.com/office/drawing/2014/main" id="{F4DAA970-54FC-41BF-A233-577B796654AC}"/>
              </a:ext>
            </a:extLst>
          </p:cNvPr>
          <p:cNvSpPr>
            <a:spLocks xmlns:a="http://schemas.openxmlformats.org/drawingml/2006/main" noGrp="1"/>
          </p:cNvSpPr>
          <p:nvPr/>
        </p:nvSpPr>
        <p:spPr>
          <a:xfrm xmlns:a="http://schemas.openxmlformats.org/drawingml/2006/main">
            <a:off x="6572250" y="20574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967D2"/>
                </a:solidFill>
                <a:latin typeface="Google Sans Flex"/>
                <a:ea typeface="Google Sans Flex"/>
                <a:cs typeface="Google Sans Flex"/>
              </a:defRPr>
            </a:defPPr>
          </a:lstStyle>
          <a:p xmlns:a="http://schemas.openxmlformats.org/drawingml/2006/main">
            <a:pPr>
              <a:defRPr sz="1650" b="1">
                <a:solidFill>
                  <a:srgbClr val="1967D2"/>
                </a:solidFill>
                <a:latin typeface="Google Sans Flex"/>
                <a:ea typeface="Google Sans Flex"/>
                <a:cs typeface="Google Sans Flex"/>
              </a:defRPr>
            </a:pPr>
            <a:r>
              <a:rPr sz="1650" b="1">
                <a:solidFill>
                  <a:srgbClr val="1967D2"/>
                </a:solidFill>
                <a:latin typeface="Google Sans Flex"/>
                <a:ea typeface="Google Sans Flex"/>
                <a:cs typeface="Google Sans Flex"/>
              </a:rPr>
              <a:t>Exact change</a:t>
            </a:r>
          </a:p>
        </p:txBody>
      </p:sp>
      <p:sp>
        <p:nvSpPr>
          <p:cNvPr id="107" name="review-body-0">
            <a:extLst xmlns:a="http://schemas.openxmlformats.org/drawingml/2006/main">
              <a:ext uri="{FF2B5EF4-FFF2-40B4-BE49-F238E27FC236}">
                <a16:creationId xmlns:a16="http://schemas.microsoft.com/office/drawing/2014/main" id="{4F79DFC4-5BBC-4DA2-A4C1-7E42BECA96FD}"/>
              </a:ext>
            </a:extLst>
          </p:cNvPr>
          <p:cNvSpPr>
            <a:spLocks xmlns:a="http://schemas.openxmlformats.org/drawingml/2006/main" noGrp="1"/>
          </p:cNvSpPr>
          <p:nvPr/>
        </p:nvSpPr>
        <p:spPr>
          <a:xfrm xmlns:a="http://schemas.openxmlformats.org/drawingml/2006/main">
            <a:off x="6572250" y="2409825"/>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Remove rule 30</a:t>
            </a:r>
          </a:p>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on router B17.</a:t>
            </a:r>
          </a:p>
        </p:txBody>
      </p:sp>
      <p:sp>
        <p:nvSpPr>
          <p:cNvPr id="108" name="review-label-1">
            <a:extLst xmlns:a="http://schemas.openxmlformats.org/drawingml/2006/main">
              <a:ext uri="{FF2B5EF4-FFF2-40B4-BE49-F238E27FC236}">
                <a16:creationId xmlns:a16="http://schemas.microsoft.com/office/drawing/2014/main" id="{D7F15BA1-2D26-4986-A580-6C557F453FEF}"/>
              </a:ext>
            </a:extLst>
          </p:cNvPr>
          <p:cNvSpPr>
            <a:spLocks xmlns:a="http://schemas.openxmlformats.org/drawingml/2006/main" noGrp="1"/>
          </p:cNvSpPr>
          <p:nvPr/>
        </p:nvSpPr>
        <p:spPr>
          <a:xfrm xmlns:a="http://schemas.openxmlformats.org/drawingml/2006/main">
            <a:off x="6572250" y="29908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967D2"/>
                </a:solidFill>
                <a:latin typeface="Google Sans Flex"/>
                <a:ea typeface="Google Sans Flex"/>
                <a:cs typeface="Google Sans Flex"/>
              </a:defRPr>
            </a:defPPr>
          </a:lstStyle>
          <a:p xmlns:a="http://schemas.openxmlformats.org/drawingml/2006/main">
            <a:pPr>
              <a:defRPr sz="1650" b="1">
                <a:solidFill>
                  <a:srgbClr val="1967D2"/>
                </a:solidFill>
                <a:latin typeface="Google Sans Flex"/>
                <a:ea typeface="Google Sans Flex"/>
                <a:cs typeface="Google Sans Flex"/>
              </a:defRPr>
            </a:pPr>
            <a:r>
              <a:rPr sz="1650" b="1">
                <a:solidFill>
                  <a:srgbClr val="1967D2"/>
                </a:solidFill>
                <a:latin typeface="Google Sans Flex"/>
                <a:ea typeface="Google Sans Flex"/>
                <a:cs typeface="Google Sans Flex"/>
              </a:rPr>
              <a:t>Tested rollback</a:t>
            </a:r>
          </a:p>
        </p:txBody>
      </p:sp>
      <p:sp>
        <p:nvSpPr>
          <p:cNvPr id="109" name="review-body-1">
            <a:extLst xmlns:a="http://schemas.openxmlformats.org/drawingml/2006/main">
              <a:ext uri="{FF2B5EF4-FFF2-40B4-BE49-F238E27FC236}">
                <a16:creationId xmlns:a16="http://schemas.microsoft.com/office/drawing/2014/main" id="{C7DE8CC3-6B7E-4E60-8457-CD46643B945F}"/>
              </a:ext>
            </a:extLst>
          </p:cNvPr>
          <p:cNvSpPr>
            <a:spLocks xmlns:a="http://schemas.openxmlformats.org/drawingml/2006/main" noGrp="1"/>
          </p:cNvSpPr>
          <p:nvPr/>
        </p:nvSpPr>
        <p:spPr>
          <a:xfrm xmlns:a="http://schemas.openxmlformats.org/drawingml/2006/main">
            <a:off x="6572250" y="3343275"/>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Rehearse reversal</a:t>
            </a:r>
          </a:p>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before approval.</a:t>
            </a:r>
          </a:p>
        </p:txBody>
      </p:sp>
      <p:sp>
        <p:nvSpPr>
          <p:cNvPr id="110" name="review-label-2">
            <a:extLst xmlns:a="http://schemas.openxmlformats.org/drawingml/2006/main">
              <a:ext uri="{FF2B5EF4-FFF2-40B4-BE49-F238E27FC236}">
                <a16:creationId xmlns:a16="http://schemas.microsoft.com/office/drawing/2014/main" id="{7FD3478F-19FA-402F-A984-02824865ED79}"/>
              </a:ext>
            </a:extLst>
          </p:cNvPr>
          <p:cNvSpPr>
            <a:spLocks xmlns:a="http://schemas.openxmlformats.org/drawingml/2006/main" noGrp="1"/>
          </p:cNvSpPr>
          <p:nvPr/>
        </p:nvSpPr>
        <p:spPr>
          <a:xfrm xmlns:a="http://schemas.openxmlformats.org/drawingml/2006/main">
            <a:off x="6572250" y="39243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967D2"/>
                </a:solidFill>
                <a:latin typeface="Google Sans Flex"/>
                <a:ea typeface="Google Sans Flex"/>
                <a:cs typeface="Google Sans Flex"/>
              </a:defRPr>
            </a:defPPr>
          </a:lstStyle>
          <a:p xmlns:a="http://schemas.openxmlformats.org/drawingml/2006/main">
            <a:pPr>
              <a:defRPr sz="1650" b="1">
                <a:solidFill>
                  <a:srgbClr val="1967D2"/>
                </a:solidFill>
                <a:latin typeface="Google Sans Flex"/>
                <a:ea typeface="Google Sans Flex"/>
                <a:cs typeface="Google Sans Flex"/>
              </a:defRPr>
            </a:pPr>
            <a:r>
              <a:rPr sz="1650" b="1">
                <a:solidFill>
                  <a:srgbClr val="1967D2"/>
                </a:solidFill>
                <a:latin typeface="Google Sans Flex"/>
                <a:ea typeface="Google Sans Flex"/>
                <a:cs typeface="Google Sans Flex"/>
              </a:rPr>
              <a:t>Visible limits</a:t>
            </a:r>
          </a:p>
        </p:txBody>
      </p:sp>
      <p:sp>
        <p:nvSpPr>
          <p:cNvPr id="111" name="review-body-2">
            <a:extLst xmlns:a="http://schemas.openxmlformats.org/drawingml/2006/main">
              <a:ext uri="{FF2B5EF4-FFF2-40B4-BE49-F238E27FC236}">
                <a16:creationId xmlns:a16="http://schemas.microsoft.com/office/drawing/2014/main" id="{DA0A752C-7E84-4630-A84A-EB8EDD024C8D}"/>
              </a:ext>
            </a:extLst>
          </p:cNvPr>
          <p:cNvSpPr>
            <a:spLocks xmlns:a="http://schemas.openxmlformats.org/drawingml/2006/main" noGrp="1"/>
          </p:cNvSpPr>
          <p:nvPr/>
        </p:nvSpPr>
        <p:spPr>
          <a:xfrm xmlns:a="http://schemas.openxmlformats.org/drawingml/2006/main">
            <a:off x="6572250" y="4276725"/>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202124"/>
                </a:solidFill>
                <a:latin typeface="Google Sans Flex"/>
                <a:ea typeface="Google Sans Flex"/>
                <a:cs typeface="Google Sans Flex"/>
              </a:defRPr>
            </a:defPPr>
          </a:lstStyle>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Show what the twin</a:t>
            </a:r>
          </a:p>
          <a:p xmlns:a="http://schemas.openxmlformats.org/drawingml/2006/main">
            <a:pPr>
              <a:defRPr sz="1500" b="0">
                <a:solidFill>
                  <a:srgbClr val="202124"/>
                </a:solidFill>
                <a:latin typeface="Google Sans Flex"/>
                <a:ea typeface="Google Sans Flex"/>
                <a:cs typeface="Google Sans Flex"/>
              </a:defRPr>
            </a:pPr>
            <a:r>
              <a:rPr sz="1500" b="0">
                <a:solidFill>
                  <a:srgbClr val="202124"/>
                </a:solidFill>
                <a:latin typeface="Google Sans Flex"/>
                <a:ea typeface="Google Sans Flex"/>
                <a:cs typeface="Google Sans Flex"/>
              </a:rPr>
              <a:t>did not test.</a:t>
            </a:r>
          </a:p>
        </p:txBody>
      </p:sp>
      <p:sp>
        <p:nvSpPr>
          <p:cNvPr id="112" name="review-foot">
            <a:extLst xmlns:a="http://schemas.openxmlformats.org/drawingml/2006/main">
              <a:ext uri="{FF2B5EF4-FFF2-40B4-BE49-F238E27FC236}">
                <a16:creationId xmlns:a16="http://schemas.microsoft.com/office/drawing/2014/main" id="{C529C94F-6BED-44FF-BF65-EB7E873CE3FD}"/>
              </a:ext>
            </a:extLst>
          </p:cNvPr>
          <p:cNvSpPr>
            <a:spLocks xmlns:a="http://schemas.openxmlformats.org/drawingml/2006/main" noGrp="1"/>
          </p:cNvSpPr>
          <p:nvPr/>
        </p:nvSpPr>
        <p:spPr>
          <a:xfrm xmlns:a="http://schemas.openxmlformats.org/drawingml/2006/main">
            <a:off x="342900" y="4829175"/>
            <a:ext cx="845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F6368"/>
                </a:solidFill>
                <a:latin typeface="Google Sans Flex"/>
                <a:ea typeface="Google Sans Flex"/>
                <a:cs typeface="Google Sans Flex"/>
              </a:defRPr>
            </a:defPPr>
          </a:lstStyle>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Recorded workbench, 15 October 2026. Passing tests alone does not authorize a network change.</a:t>
            </a:r>
          </a:p>
        </p:txBody>
      </p:sp>
    </p:spTree>
    <p:extLst>
      <p:ext uri="{BB962C8B-B14F-4D97-AF65-F5344CB8AC3E}">
        <p14:creationId xmlns:p14="http://schemas.microsoft.com/office/powerpoint/2010/main" val="2250284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127" name="">
            <a:extLst xmlns:a="http://schemas.openxmlformats.org/drawingml/2006/main">
              <a:ext uri="{FF2B5EF4-FFF2-40B4-BE49-F238E27FC236}">
                <a16:creationId xmlns:a16="http://schemas.microsoft.com/office/drawing/2014/main" id="{C6A634FC-7E76-4E99-B5C2-5FF4E5AAC4FD}"/>
              </a:ext>
            </a:extLst>
          </p:cNvPr>
          <p:cNvCxnSpPr>
            <a:stCxn xmlns:a="http://schemas.openxmlformats.org/drawingml/2006/main" id="120" idx="1"/>
            <a:endCxn xmlns:a="http://schemas.openxmlformats.org/drawingml/2006/main" id="117" idx="2"/>
          </p:cNvCxnSpPr>
          <p:nvPr/>
        </p:nvCxnSpPr>
        <p:spPr>
          <a:xfrm xmlns:a="http://schemas.openxmlformats.org/drawingml/2006/main" flipH="1" flipV="1">
            <a:off x="1643063" y="3467100"/>
            <a:ext cx="1833563" cy="542925"/>
          </a:xfrm>
          <a:prstGeom xmlns:a="http://schemas.openxmlformats.org/drawingml/2006/main" prst="bentConnector2">
            <a:avLst/>
          </a:prstGeom>
          <a:ln xmlns:a="http://schemas.openxmlformats.org/drawingml/2006/main" w="14288">
            <a:solidFill>
              <a:srgbClr val="137333"/>
            </a:solidFill>
            <a:tailEnd type="triangle" w="sm" len="sm"/>
          </a:ln>
        </p:spPr>
      </p:cxnSp>
      <p:cxnSp>
        <p:nvCxnSpPr>
          <p:cNvPr id="126" name="">
            <a:extLst xmlns:a="http://schemas.openxmlformats.org/drawingml/2006/main">
              <a:ext uri="{FF2B5EF4-FFF2-40B4-BE49-F238E27FC236}">
                <a16:creationId xmlns:a16="http://schemas.microsoft.com/office/drawing/2014/main" id="{D800B2C2-9394-4C4B-8EA3-6CEC3955713D}"/>
              </a:ext>
            </a:extLst>
          </p:cNvPr>
          <p:cNvCxnSpPr>
            <a:stCxn xmlns:a="http://schemas.openxmlformats.org/drawingml/2006/main" id="118" idx="2"/>
            <a:endCxn xmlns:a="http://schemas.openxmlformats.org/drawingml/2006/main" id="120" idx="0"/>
          </p:cNvCxnSpPr>
          <p:nvPr/>
        </p:nvCxnSpPr>
        <p:spPr>
          <a:xfrm xmlns:a="http://schemas.openxmlformats.org/drawingml/2006/main">
            <a:off x="4572000" y="3467100"/>
            <a:ext cx="0" cy="266700"/>
          </a:xfrm>
          <a:prstGeom xmlns:a="http://schemas.openxmlformats.org/drawingml/2006/main" prst="straightConnector1">
            <a:avLst/>
          </a:prstGeom>
          <a:ln xmlns:a="http://schemas.openxmlformats.org/drawingml/2006/main" w="14288">
            <a:solidFill>
              <a:srgbClr val="137333"/>
            </a:solidFill>
            <a:tailEnd type="triangle" w="sm" len="sm"/>
          </a:ln>
        </p:spPr>
      </p:cxnSp>
      <p:cxnSp>
        <p:nvCxnSpPr>
          <p:cNvPr id="125" name="">
            <a:extLst xmlns:a="http://schemas.openxmlformats.org/drawingml/2006/main">
              <a:ext uri="{FF2B5EF4-FFF2-40B4-BE49-F238E27FC236}">
                <a16:creationId xmlns:a16="http://schemas.microsoft.com/office/drawing/2014/main" id="{B841E651-7E25-4A95-9FB0-36583104142A}"/>
              </a:ext>
            </a:extLst>
          </p:cNvPr>
          <p:cNvCxnSpPr>
            <a:stCxn xmlns:a="http://schemas.openxmlformats.org/drawingml/2006/main" id="119" idx="2"/>
            <a:endCxn xmlns:a="http://schemas.openxmlformats.org/drawingml/2006/main" id="120" idx="3"/>
          </p:cNvCxnSpPr>
          <p:nvPr/>
        </p:nvCxnSpPr>
        <p:spPr>
          <a:xfrm xmlns:a="http://schemas.openxmlformats.org/drawingml/2006/main" flipH="1">
            <a:off x="5667375" y="3467100"/>
            <a:ext cx="1833563" cy="542925"/>
          </a:xfrm>
          <a:prstGeom xmlns:a="http://schemas.openxmlformats.org/drawingml/2006/main" prst="bentConnector3">
            <a:avLst>
              <a:gd name="adj1" fmla="val 0"/>
            </a:avLst>
          </a:prstGeom>
          <a:ln xmlns:a="http://schemas.openxmlformats.org/drawingml/2006/main" w="14288">
            <a:solidFill>
              <a:srgbClr val="1967D2"/>
            </a:solidFill>
            <a:tailEnd type="triangle" w="sm" len="sm"/>
          </a:ln>
        </p:spPr>
      </p:cxnSp>
      <p:cxnSp>
        <p:nvCxnSpPr>
          <p:cNvPr id="124" name="">
            <a:extLst xmlns:a="http://schemas.openxmlformats.org/drawingml/2006/main">
              <a:ext uri="{FF2B5EF4-FFF2-40B4-BE49-F238E27FC236}">
                <a16:creationId xmlns:a16="http://schemas.microsoft.com/office/drawing/2014/main" id="{5D7CC041-A976-43A2-868A-B5B6B298CFF3}"/>
              </a:ext>
            </a:extLst>
          </p:cNvPr>
          <p:cNvCxnSpPr>
            <a:stCxn xmlns:a="http://schemas.openxmlformats.org/drawingml/2006/main" id="118" idx="3"/>
            <a:endCxn xmlns:a="http://schemas.openxmlformats.org/drawingml/2006/main" id="119" idx="1"/>
          </p:cNvCxnSpPr>
          <p:nvPr/>
        </p:nvCxnSpPr>
        <p:spPr>
          <a:xfrm xmlns:a="http://schemas.openxmlformats.org/drawingml/2006/main">
            <a:off x="5667375" y="3162300"/>
            <a:ext cx="762000" cy="0"/>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123" name="">
            <a:extLst xmlns:a="http://schemas.openxmlformats.org/drawingml/2006/main">
              <a:ext uri="{FF2B5EF4-FFF2-40B4-BE49-F238E27FC236}">
                <a16:creationId xmlns:a16="http://schemas.microsoft.com/office/drawing/2014/main" id="{62BB4077-6B7A-4A68-AAF2-8158618F04E4}"/>
              </a:ext>
            </a:extLst>
          </p:cNvPr>
          <p:cNvCxnSpPr>
            <a:stCxn xmlns:a="http://schemas.openxmlformats.org/drawingml/2006/main" id="117" idx="3"/>
            <a:endCxn xmlns:a="http://schemas.openxmlformats.org/drawingml/2006/main" id="118" idx="1"/>
          </p:cNvCxnSpPr>
          <p:nvPr/>
        </p:nvCxnSpPr>
        <p:spPr>
          <a:xfrm xmlns:a="http://schemas.openxmlformats.org/drawingml/2006/main">
            <a:off x="2714625" y="3162300"/>
            <a:ext cx="762000" cy="0"/>
          </a:xfrm>
          <a:prstGeom xmlns:a="http://schemas.openxmlformats.org/drawingml/2006/main" prst="straightConnector1">
            <a:avLst/>
          </a:prstGeom>
          <a:ln xmlns:a="http://schemas.openxmlformats.org/drawingml/2006/main" w="14288">
            <a:solidFill>
              <a:srgbClr val="1967D2"/>
            </a:solidFill>
            <a:tailEnd type="triangle" w="sm" len="sm"/>
          </a:ln>
        </p:spPr>
      </p:cxnSp>
      <p:cxnSp>
        <p:nvCxnSpPr>
          <p:cNvPr id="122" name="">
            <a:extLst xmlns:a="http://schemas.openxmlformats.org/drawingml/2006/main">
              <a:ext uri="{FF2B5EF4-FFF2-40B4-BE49-F238E27FC236}">
                <a16:creationId xmlns:a16="http://schemas.microsoft.com/office/drawing/2014/main" id="{C206BFFE-74F3-4453-9768-055985A36089}"/>
              </a:ext>
            </a:extLst>
          </p:cNvPr>
          <p:cNvCxnSpPr>
            <a:stCxn xmlns:a="http://schemas.openxmlformats.org/drawingml/2006/main" id="118" idx="0"/>
            <a:endCxn xmlns:a="http://schemas.openxmlformats.org/drawingml/2006/main" id="113" idx="2"/>
          </p:cNvCxnSpPr>
          <p:nvPr/>
        </p:nvCxnSpPr>
        <p:spPr>
          <a:xfrm xmlns:a="http://schemas.openxmlformats.org/drawingml/2006/main" flipV="1">
            <a:off x="4572000" y="2000250"/>
            <a:ext cx="0" cy="857250"/>
          </a:xfrm>
          <a:prstGeom xmlns:a="http://schemas.openxmlformats.org/drawingml/2006/main" prst="straightConnector1">
            <a:avLst/>
          </a:prstGeom>
          <a:ln xmlns:a="http://schemas.openxmlformats.org/drawingml/2006/main" w="14288">
            <a:solidFill>
              <a:srgbClr val="1967D2"/>
            </a:solidFill>
            <a:headEnd type="triangle" w="sm" len="sm"/>
            <a:tailEnd type="triangle" w="sm" len="sm"/>
          </a:ln>
        </p:spPr>
      </p:cxnSp>
      <p:cxnSp>
        <p:nvCxnSpPr>
          <p:cNvPr id="121" name="">
            <a:extLst xmlns:a="http://schemas.openxmlformats.org/drawingml/2006/main">
              <a:ext uri="{FF2B5EF4-FFF2-40B4-BE49-F238E27FC236}">
                <a16:creationId xmlns:a16="http://schemas.microsoft.com/office/drawing/2014/main" id="{190BCB39-91EA-42FC-92D7-80C4207AE83B}"/>
              </a:ext>
            </a:extLst>
          </p:cNvPr>
          <p:cNvCxnSpPr>
            <a:stCxn xmlns:a="http://schemas.openxmlformats.org/drawingml/2006/main" id="112" idx="3"/>
            <a:endCxn xmlns:a="http://schemas.openxmlformats.org/drawingml/2006/main" id="118" idx="1"/>
          </p:cNvCxnSpPr>
          <p:nvPr/>
        </p:nvCxnSpPr>
        <p:spPr>
          <a:xfrm xmlns:a="http://schemas.openxmlformats.org/drawingml/2006/main">
            <a:off x="2714625" y="1695450"/>
            <a:ext cx="762000" cy="1466850"/>
          </a:xfrm>
          <a:prstGeom xmlns:a="http://schemas.openxmlformats.org/drawingml/2006/main" prst="bentConnector3">
            <a:avLst>
              <a:gd name="adj1" fmla="val 50000"/>
            </a:avLst>
          </a:prstGeom>
          <a:ln xmlns:a="http://schemas.openxmlformats.org/drawingml/2006/main" w="14288">
            <a:solidFill>
              <a:srgbClr val="1967D2"/>
            </a:solidFill>
            <a:tailEnd type="triangle" w="sm" len="sm"/>
          </a:ln>
        </p:spPr>
      </p:cxnSp>
      <p:pic>
        <p:nvPicPr>
          <p:cNvPr id="108" name="Google Shape;108;p20">
            <a:extLst xmlns:a="http://schemas.openxmlformats.org/drawingml/2006/main">
              <a:ext uri="{FF2B5EF4-FFF2-40B4-BE49-F238E27FC236}">
                <a16:creationId xmlns:a16="http://schemas.microsoft.com/office/drawing/2014/main" id="{A9AF2ECC-3F5C-439A-B4C7-E968DC80278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54f2294a0346b4">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DE5A864E-D1FB-46AD-9F5B-D093F5C6ED97}"/>
              </a:ext>
            </a:extLst>
          </p:cNvPr>
          <p:cNvPicPr>
            <a:picLocks xmlns:a="http://schemas.openxmlformats.org/drawingml/2006/main" noChangeAspect="1"/>
          </p:cNvPicPr>
          <p:nvPr/>
        </p:nvPicPr>
        <p:blipFill>
          <a:blip xmlns:r="http://schemas.openxmlformats.org/officeDocument/2006/relationships" xmlns:a="http://schemas.openxmlformats.org/drawingml/2006/main" r:embed="R91291e4263054d84">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85377A13-0417-4C24-855F-4D01F36547C4}"/>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44737E70-ABB7-4EC5-81D4-D6116D25DD7A}"/>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Architecture diagram of the proposed solution</a:t>
            </a:r>
            <a:endParaRPr sz="1600">
              <a:latin typeface="Google Sans Flex Medium"/>
              <a:ea typeface="Google Sans Flex Medium"/>
              <a:cs typeface="Google Sans Flex Medium"/>
            </a:endParaRPr>
          </a:p>
        </p:txBody>
      </p:sp>
      <p:sp>
        <p:nvSpPr>
          <p:cNvPr id="112" name="architecture-ui">
            <a:extLst xmlns:a="http://schemas.openxmlformats.org/drawingml/2006/main">
              <a:ext uri="{FF2B5EF4-FFF2-40B4-BE49-F238E27FC236}">
                <a16:creationId xmlns:a16="http://schemas.microsoft.com/office/drawing/2014/main" id="{05F89A10-8C54-4204-B032-66DC9506FBC6}"/>
              </a:ext>
            </a:extLst>
          </p:cNvPr>
          <p:cNvSpPr>
            <a:spLocks xmlns:a="http://schemas.openxmlformats.org/drawingml/2006/main" noGrp="1"/>
          </p:cNvSpPr>
          <p:nvPr/>
        </p:nvSpPr>
        <p:spPr>
          <a:xfrm xmlns:a="http://schemas.openxmlformats.org/drawingml/2006/main">
            <a:off x="571500" y="1390650"/>
            <a:ext cx="214312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Engineer in the browser</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React workbench</a:t>
            </a:r>
          </a:p>
        </p:txBody>
      </p:sp>
      <p:sp>
        <p:nvSpPr>
          <p:cNvPr id="113" name="architecture-model">
            <a:extLst xmlns:a="http://schemas.openxmlformats.org/drawingml/2006/main">
              <a:ext uri="{FF2B5EF4-FFF2-40B4-BE49-F238E27FC236}">
                <a16:creationId xmlns:a16="http://schemas.microsoft.com/office/drawing/2014/main" id="{4ED182A1-7B37-4105-A88F-03547BF31D4F}"/>
              </a:ext>
            </a:extLst>
          </p:cNvPr>
          <p:cNvSpPr>
            <a:spLocks xmlns:a="http://schemas.openxmlformats.org/drawingml/2006/main" noGrp="1"/>
          </p:cNvSpPr>
          <p:nvPr/>
        </p:nvSpPr>
        <p:spPr>
          <a:xfrm xmlns:a="http://schemas.openxmlformats.org/drawingml/2006/main">
            <a:off x="3476625" y="1390650"/>
            <a:ext cx="219075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Vertex AI</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Gemini 2.5 Flash</a:t>
            </a:r>
          </a:p>
        </p:txBody>
      </p:sp>
      <p:sp>
        <p:nvSpPr>
          <p:cNvPr id="114" name="model-boundary">
            <a:extLst xmlns:a="http://schemas.openxmlformats.org/drawingml/2006/main">
              <a:ext uri="{FF2B5EF4-FFF2-40B4-BE49-F238E27FC236}">
                <a16:creationId xmlns:a16="http://schemas.microsoft.com/office/drawing/2014/main" id="{BA5AF30B-DEC1-405B-A701-CF0856779C66}"/>
              </a:ext>
            </a:extLst>
          </p:cNvPr>
          <p:cNvSpPr>
            <a:spLocks xmlns:a="http://schemas.openxmlformats.org/drawingml/2006/main" noGrp="1"/>
          </p:cNvSpPr>
          <p:nvPr/>
        </p:nvSpPr>
        <p:spPr>
          <a:xfrm xmlns:a="http://schemas.openxmlformats.org/drawingml/2006/main">
            <a:off x="6286500" y="1466850"/>
            <a:ext cx="251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F6368"/>
                </a:solidFill>
                <a:latin typeface="Google Sans Flex"/>
                <a:ea typeface="Google Sans Flex"/>
                <a:cs typeface="Google Sans Flex"/>
              </a:defRPr>
            </a:defPPr>
          </a:lstStyle>
          <a:p xmlns:a="http://schemas.openxmlformats.org/drawingml/2006/main">
            <a:pPr>
              <a:defRPr sz="1425" b="0">
                <a:solidFill>
                  <a:srgbClr val="5F6368"/>
                </a:solidFill>
                <a:latin typeface="Google Sans Flex"/>
                <a:ea typeface="Google Sans Flex"/>
                <a:cs typeface="Google Sans Flex"/>
              </a:defRPr>
            </a:pPr>
            <a:r>
              <a:rPr sz="1425" b="0">
                <a:solidFill>
                  <a:srgbClr val="5F6368"/>
                </a:solidFill>
                <a:latin typeface="Google Sans Flex"/>
                <a:ea typeface="Google Sans Flex"/>
                <a:cs typeface="Google Sans Flex"/>
              </a:rPr>
              <a:t>Google-managed AI</a:t>
            </a:r>
          </a:p>
          <a:p xmlns:a="http://schemas.openxmlformats.org/drawingml/2006/main">
            <a:pPr>
              <a:defRPr sz="1425" b="0">
                <a:solidFill>
                  <a:srgbClr val="5F6368"/>
                </a:solidFill>
                <a:latin typeface="Google Sans Flex"/>
                <a:ea typeface="Google Sans Flex"/>
                <a:cs typeface="Google Sans Flex"/>
              </a:defRPr>
            </a:pPr>
            <a:r>
              <a:rPr sz="1425" b="0">
                <a:solidFill>
                  <a:srgbClr val="5F6368"/>
                </a:solidFill>
                <a:latin typeface="Google Sans Flex"/>
                <a:ea typeface="Google Sans Flex"/>
                <a:cs typeface="Google Sans Flex"/>
              </a:rPr>
              <a:t>Proposes structured repairs</a:t>
            </a:r>
          </a:p>
        </p:txBody>
      </p:sp>
      <p:sp>
        <p:nvSpPr>
          <p:cNvPr id="115" name="Cloud Run runtime boundary">
            <a:extLst xmlns:a="http://schemas.openxmlformats.org/drawingml/2006/main">
              <a:ext uri="{FF2B5EF4-FFF2-40B4-BE49-F238E27FC236}">
                <a16:creationId xmlns:a16="http://schemas.microsoft.com/office/drawing/2014/main" id="{E2DB131C-27B2-4004-AE7E-118F319724EE}"/>
              </a:ext>
            </a:extLst>
          </p:cNvPr>
          <p:cNvSpPr>
            <a:spLocks xmlns:a="http://schemas.openxmlformats.org/drawingml/2006/main" noGrp="1"/>
          </p:cNvSpPr>
          <p:nvPr/>
        </p:nvSpPr>
        <p:spPr>
          <a:xfrm xmlns:a="http://schemas.openxmlformats.org/drawingml/2006/main">
            <a:off x="342900" y="2305050"/>
            <a:ext cx="8458200" cy="2133600"/>
          </a:xfrm>
          <a:prstGeom xmlns:a="http://schemas.openxmlformats.org/drawingml/2006/main" prst="rect">
            <a:avLst/>
          </a:prstGeom>
          <a:noFill xmlns:a="http://schemas.openxmlformats.org/drawingml/2006/main"/>
          <a:ln xmlns:a="http://schemas.openxmlformats.org/drawingml/2006/main" w="9525">
            <a:solidFill>
              <a:srgbClr val="DADCE0"/>
            </a:solidFill>
          </a:ln>
        </p:spPr>
      </p:sp>
      <p:sp>
        <p:nvSpPr>
          <p:cNvPr id="116" name="cloud-run-label">
            <a:extLst xmlns:a="http://schemas.openxmlformats.org/drawingml/2006/main">
              <a:ext uri="{FF2B5EF4-FFF2-40B4-BE49-F238E27FC236}">
                <a16:creationId xmlns:a16="http://schemas.microsoft.com/office/drawing/2014/main" id="{7B5E60D0-D405-4E7F-AFF3-6E589F88C01C}"/>
              </a:ext>
            </a:extLst>
          </p:cNvPr>
          <p:cNvSpPr>
            <a:spLocks xmlns:a="http://schemas.openxmlformats.org/drawingml/2006/main" noGrp="1"/>
          </p:cNvSpPr>
          <p:nvPr/>
        </p:nvSpPr>
        <p:spPr>
          <a:xfrm xmlns:a="http://schemas.openxmlformats.org/drawingml/2006/main">
            <a:off x="571500" y="2390775"/>
            <a:ext cx="2143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1967D2"/>
                </a:solidFill>
                <a:latin typeface="Google Sans Flex"/>
                <a:ea typeface="Google Sans Flex"/>
                <a:cs typeface="Google Sans Flex"/>
              </a:defRPr>
            </a:defPPr>
          </a:lstStyle>
          <a:p xmlns:a="http://schemas.openxmlformats.org/drawingml/2006/main">
            <a:pPr>
              <a:defRPr sz="1350" b="1">
                <a:solidFill>
                  <a:srgbClr val="1967D2"/>
                </a:solidFill>
                <a:latin typeface="Google Sans Flex"/>
                <a:ea typeface="Google Sans Flex"/>
                <a:cs typeface="Google Sans Flex"/>
              </a:defRPr>
            </a:pPr>
            <a:r>
              <a:rPr sz="1350" b="1">
                <a:solidFill>
                  <a:srgbClr val="1967D2"/>
                </a:solidFill>
                <a:latin typeface="Google Sans Flex"/>
                <a:ea typeface="Google Sans Flex"/>
                <a:cs typeface="Google Sans Flex"/>
              </a:rPr>
              <a:t>Cloud Run runtime</a:t>
            </a:r>
          </a:p>
        </p:txBody>
      </p:sp>
      <p:sp>
        <p:nvSpPr>
          <p:cNvPr id="117" name="architecture-metro">
            <a:extLst xmlns:a="http://schemas.openxmlformats.org/drawingml/2006/main">
              <a:ext uri="{FF2B5EF4-FFF2-40B4-BE49-F238E27FC236}">
                <a16:creationId xmlns:a16="http://schemas.microsoft.com/office/drawing/2014/main" id="{088D0541-ABB7-4CF8-BF83-AB4F6E2A30BB}"/>
              </a:ext>
            </a:extLst>
          </p:cNvPr>
          <p:cNvSpPr>
            <a:spLocks xmlns:a="http://schemas.openxmlformats.org/drawingml/2006/main" noGrp="1"/>
          </p:cNvSpPr>
          <p:nvPr/>
        </p:nvSpPr>
        <p:spPr>
          <a:xfrm xmlns:a="http://schemas.openxmlformats.org/drawingml/2006/main">
            <a:off x="571500" y="2857500"/>
            <a:ext cx="214312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Metro application lab</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Measures connectivity</a:t>
            </a:r>
          </a:p>
        </p:txBody>
      </p:sp>
      <p:sp>
        <p:nvSpPr>
          <p:cNvPr id="118" name="architecture-api">
            <a:extLst xmlns:a="http://schemas.openxmlformats.org/drawingml/2006/main">
              <a:ext uri="{FF2B5EF4-FFF2-40B4-BE49-F238E27FC236}">
                <a16:creationId xmlns:a16="http://schemas.microsoft.com/office/drawing/2014/main" id="{1217DC34-3BDE-4047-A6A1-BAEEBFDE2189}"/>
              </a:ext>
            </a:extLst>
          </p:cNvPr>
          <p:cNvSpPr>
            <a:spLocks xmlns:a="http://schemas.openxmlformats.org/drawingml/2006/main" noGrp="1"/>
          </p:cNvSpPr>
          <p:nvPr/>
        </p:nvSpPr>
        <p:spPr>
          <a:xfrm xmlns:a="http://schemas.openxmlformats.org/drawingml/2006/main">
            <a:off x="3476625" y="2857500"/>
            <a:ext cx="2190750"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FastAPI orchestrator</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Validates proposals</a:t>
            </a:r>
          </a:p>
        </p:txBody>
      </p:sp>
      <p:sp>
        <p:nvSpPr>
          <p:cNvPr id="119" name="architecture-twin">
            <a:extLst xmlns:a="http://schemas.openxmlformats.org/drawingml/2006/main">
              <a:ext uri="{FF2B5EF4-FFF2-40B4-BE49-F238E27FC236}">
                <a16:creationId xmlns:a16="http://schemas.microsoft.com/office/drawing/2014/main" id="{9F75AB54-3057-4DA3-83C0-E8C69BB94D9A}"/>
              </a:ext>
            </a:extLst>
          </p:cNvPr>
          <p:cNvSpPr>
            <a:spLocks xmlns:a="http://schemas.openxmlformats.org/drawingml/2006/main" noGrp="1"/>
          </p:cNvSpPr>
          <p:nvPr/>
        </p:nvSpPr>
        <p:spPr>
          <a:xfrm xmlns:a="http://schemas.openxmlformats.org/drawingml/2006/main">
            <a:off x="6429375" y="2857500"/>
            <a:ext cx="2143125" cy="609600"/>
          </a:xfrm>
          <a:prstGeom xmlns:a="http://schemas.openxmlformats.org/drawingml/2006/main" prst="rect">
            <a:avLst/>
          </a:prstGeom>
          <a:solidFill xmlns:a="http://schemas.openxmlformats.org/drawingml/2006/main">
            <a:srgbClr val="FFFFFF"/>
          </a:solidFill>
          <a:ln xmlns:a="http://schemas.openxmlformats.org/drawingml/2006/main" w="14288">
            <a:solidFill>
              <a:srgbClr val="1967D2"/>
            </a:solidFill>
          </a:ln>
        </p:spPr>
        <p:txBody>
          <a:bodyPr xmlns:a="http://schemas.openxmlformats.org/drawingml/2006/main" wrap="square" lIns="85725" tIns="85725" rIns="85725" bIns="85725" anchor="ctr">
            <a:noAutofit/>
          </a:bodyPr>
          <a:lstStyle xmlns:a="http://schemas.openxmlformats.org/drawingml/2006/main">
            <a:defPPr algn="ctr">
              <a:defRPr sz="1350">
                <a:solidFill>
                  <a:srgbClr val="202124"/>
                </a:solidFill>
                <a:latin typeface="Google Sans Flex"/>
                <a:ea typeface="Google Sans Flex"/>
                <a:cs typeface="Google Sans Flex"/>
              </a:defRPr>
            </a:defPPr>
          </a:lstStyle>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Isolated digital twin</a:t>
            </a:r>
          </a:p>
          <a:p xmlns:a="http://schemas.openxmlformats.org/drawingml/2006/main">
            <a:pPr algn="ctr">
              <a:defRPr sz="1350">
                <a:solidFill>
                  <a:srgbClr val="202124"/>
                </a:solidFill>
                <a:latin typeface="Google Sans Flex"/>
                <a:ea typeface="Google Sans Flex"/>
                <a:cs typeface="Google Sans Flex"/>
              </a:defRPr>
            </a:pPr>
            <a:r>
              <a:rPr sz="1350">
                <a:solidFill>
                  <a:srgbClr val="202124"/>
                </a:solidFill>
                <a:latin typeface="Google Sans Flex"/>
                <a:ea typeface="Google Sans Flex"/>
                <a:cs typeface="Google Sans Flex"/>
              </a:rPr>
              <a:t>Runs repair experiments</a:t>
            </a:r>
          </a:p>
        </p:txBody>
      </p:sp>
      <p:sp>
        <p:nvSpPr>
          <p:cNvPr id="120" name="architecture-gate">
            <a:extLst xmlns:a="http://schemas.openxmlformats.org/drawingml/2006/main">
              <a:ext uri="{FF2B5EF4-FFF2-40B4-BE49-F238E27FC236}">
                <a16:creationId xmlns:a16="http://schemas.microsoft.com/office/drawing/2014/main" id="{765A59A2-291D-49C5-8C38-A19577AE87CF}"/>
              </a:ext>
            </a:extLst>
          </p:cNvPr>
          <p:cNvSpPr>
            <a:spLocks xmlns:a="http://schemas.openxmlformats.org/drawingml/2006/main" noGrp="1"/>
          </p:cNvSpPr>
          <p:nvPr/>
        </p:nvSpPr>
        <p:spPr>
          <a:xfrm xmlns:a="http://schemas.openxmlformats.org/drawingml/2006/main">
            <a:off x="3476625" y="3733800"/>
            <a:ext cx="2190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137333"/>
            </a:solidFill>
          </a:ln>
        </p:spPr>
        <p:txBody>
          <a:bodyPr xmlns:a="http://schemas.openxmlformats.org/drawingml/2006/main" wrap="square" lIns="76200" tIns="76200" rIns="76200" bIns="76200" anchor="ctr">
            <a:noAutofit/>
          </a:bodyPr>
          <a:lstStyle xmlns:a="http://schemas.openxmlformats.org/drawingml/2006/main">
            <a:defPPr algn="ctr">
              <a:defRPr sz="1200">
                <a:solidFill>
                  <a:srgbClr val="202124"/>
                </a:solidFill>
                <a:latin typeface="Google Sans Flex"/>
                <a:ea typeface="Google Sans Flex"/>
                <a:cs typeface="Google Sans Flex"/>
              </a:defRPr>
            </a:defPPr>
          </a:lstStyle>
          <a:p xmlns:a="http://schemas.openxmlformats.org/drawingml/2006/main">
            <a:pPr algn="ctr">
              <a:defRPr sz="1200">
                <a:solidFill>
                  <a:srgbClr val="202124"/>
                </a:solidFill>
                <a:latin typeface="Google Sans Flex"/>
                <a:ea typeface="Google Sans Flex"/>
                <a:cs typeface="Google Sans Flex"/>
              </a:defRPr>
            </a:pPr>
            <a:r>
              <a:rPr sz="1200">
                <a:solidFill>
                  <a:srgbClr val="202124"/>
                </a:solidFill>
                <a:latin typeface="Google Sans Flex"/>
                <a:ea typeface="Google Sans Flex"/>
                <a:cs typeface="Google Sans Flex"/>
              </a:rPr>
              <a:t>Proof Gate + apply gateway</a:t>
            </a:r>
          </a:p>
          <a:p xmlns:a="http://schemas.openxmlformats.org/drawingml/2006/main">
            <a:pPr algn="ctr">
              <a:defRPr sz="1200">
                <a:solidFill>
                  <a:srgbClr val="202124"/>
                </a:solidFill>
                <a:latin typeface="Google Sans Flex"/>
                <a:ea typeface="Google Sans Flex"/>
                <a:cs typeface="Google Sans Flex"/>
              </a:defRPr>
            </a:pPr>
            <a:r>
              <a:rPr sz="1200">
                <a:solidFill>
                  <a:srgbClr val="202124"/>
                </a:solidFill>
                <a:latin typeface="Google Sans Flex"/>
                <a:ea typeface="Google Sans Flex"/>
                <a:cs typeface="Google Sans Flex"/>
              </a:rPr>
              <a:t>Human approval required</a:t>
            </a:r>
          </a:p>
        </p:txBody>
      </p:sp>
      <p:sp>
        <p:nvSpPr>
          <p:cNvPr id="128" name="architecture-observe">
            <a:extLst xmlns:a="http://schemas.openxmlformats.org/drawingml/2006/main">
              <a:ext uri="{FF2B5EF4-FFF2-40B4-BE49-F238E27FC236}">
                <a16:creationId xmlns:a16="http://schemas.microsoft.com/office/drawing/2014/main" id="{10CCBC14-A5DD-40C8-8645-55A1CFF2490F}"/>
              </a:ext>
            </a:extLst>
          </p:cNvPr>
          <p:cNvSpPr>
            <a:spLocks xmlns:a="http://schemas.openxmlformats.org/drawingml/2006/main" noGrp="1"/>
          </p:cNvSpPr>
          <p:nvPr/>
        </p:nvSpPr>
        <p:spPr>
          <a:xfrm xmlns:a="http://schemas.openxmlformats.org/drawingml/2006/main">
            <a:off x="2733675" y="347662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F6368"/>
                </a:solidFill>
                <a:latin typeface="Google Sans Flex"/>
                <a:ea typeface="Google Sans Flex"/>
                <a:cs typeface="Google Sans Flex"/>
              </a:defRPr>
            </a:defPPr>
          </a:lstStyle>
          <a:p xmlns:a="http://schemas.openxmlformats.org/drawingml/2006/main">
            <a:pPr>
              <a:defRPr sz="1050" b="0">
                <a:solidFill>
                  <a:srgbClr val="5F6368"/>
                </a:solidFill>
                <a:latin typeface="Google Sans Flex"/>
                <a:ea typeface="Google Sans Flex"/>
                <a:cs typeface="Google Sans Flex"/>
              </a:defRPr>
            </a:pPr>
            <a:r>
              <a:rPr sz="1050" b="0">
                <a:solidFill>
                  <a:srgbClr val="5F6368"/>
                </a:solidFill>
                <a:latin typeface="Google Sans Flex"/>
                <a:ea typeface="Google Sans Flex"/>
                <a:cs typeface="Google Sans Flex"/>
              </a:rPr>
              <a:t>Symptoms</a:t>
            </a:r>
          </a:p>
        </p:txBody>
      </p:sp>
      <p:sp>
        <p:nvSpPr>
          <p:cNvPr id="129" name="architecture-test">
            <a:extLst xmlns:a="http://schemas.openxmlformats.org/drawingml/2006/main">
              <a:ext uri="{FF2B5EF4-FFF2-40B4-BE49-F238E27FC236}">
                <a16:creationId xmlns:a16="http://schemas.microsoft.com/office/drawing/2014/main" id="{7574E392-9A7B-4411-9BDE-284C5A6BC7AA}"/>
              </a:ext>
            </a:extLst>
          </p:cNvPr>
          <p:cNvSpPr>
            <a:spLocks xmlns:a="http://schemas.openxmlformats.org/drawingml/2006/main" noGrp="1"/>
          </p:cNvSpPr>
          <p:nvPr/>
        </p:nvSpPr>
        <p:spPr>
          <a:xfrm xmlns:a="http://schemas.openxmlformats.org/drawingml/2006/main">
            <a:off x="5695950" y="2647950"/>
            <a:ext cx="714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F6368"/>
                </a:solidFill>
                <a:latin typeface="Google Sans Flex"/>
                <a:ea typeface="Google Sans Flex"/>
                <a:cs typeface="Google Sans Flex"/>
              </a:defRPr>
            </a:defPPr>
          </a:lstStyle>
          <a:p xmlns:a="http://schemas.openxmlformats.org/drawingml/2006/main">
            <a:pPr>
              <a:defRPr sz="1050" b="0">
                <a:solidFill>
                  <a:srgbClr val="5F6368"/>
                </a:solidFill>
                <a:latin typeface="Google Sans Flex"/>
                <a:ea typeface="Google Sans Flex"/>
                <a:cs typeface="Google Sans Flex"/>
              </a:defRPr>
            </a:pPr>
            <a:r>
              <a:rPr sz="1050" b="0">
                <a:solidFill>
                  <a:srgbClr val="5F6368"/>
                </a:solidFill>
                <a:latin typeface="Google Sans Flex"/>
                <a:ea typeface="Google Sans Flex"/>
                <a:cs typeface="Google Sans Flex"/>
              </a:rPr>
              <a:t>Test fixes</a:t>
            </a:r>
          </a:p>
        </p:txBody>
      </p:sp>
      <p:sp>
        <p:nvSpPr>
          <p:cNvPr id="130" name="architecture-results">
            <a:extLst xmlns:a="http://schemas.openxmlformats.org/drawingml/2006/main">
              <a:ext uri="{FF2B5EF4-FFF2-40B4-BE49-F238E27FC236}">
                <a16:creationId xmlns:a16="http://schemas.microsoft.com/office/drawing/2014/main" id="{6AB05749-85FA-46B0-A19F-E96CA7FAB7E3}"/>
              </a:ext>
            </a:extLst>
          </p:cNvPr>
          <p:cNvSpPr>
            <a:spLocks xmlns:a="http://schemas.openxmlformats.org/drawingml/2006/main" noGrp="1"/>
          </p:cNvSpPr>
          <p:nvPr/>
        </p:nvSpPr>
        <p:spPr>
          <a:xfrm xmlns:a="http://schemas.openxmlformats.org/drawingml/2006/main">
            <a:off x="6448425" y="416242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967D2"/>
                </a:solidFill>
                <a:latin typeface="Google Sans Flex"/>
                <a:ea typeface="Google Sans Flex"/>
                <a:cs typeface="Google Sans Flex"/>
              </a:defRPr>
            </a:defPPr>
          </a:lstStyle>
          <a:p xmlns:a="http://schemas.openxmlformats.org/drawingml/2006/main">
            <a:pPr>
              <a:defRPr sz="1200" b="0">
                <a:solidFill>
                  <a:srgbClr val="1967D2"/>
                </a:solidFill>
                <a:latin typeface="Google Sans Flex"/>
                <a:ea typeface="Google Sans Flex"/>
                <a:cs typeface="Google Sans Flex"/>
              </a:defRPr>
            </a:pPr>
            <a:r>
              <a:rPr sz="1200" b="0">
                <a:solidFill>
                  <a:srgbClr val="1967D2"/>
                </a:solidFill>
                <a:latin typeface="Google Sans Flex"/>
                <a:ea typeface="Google Sans Flex"/>
                <a:cs typeface="Google Sans Flex"/>
              </a:rPr>
              <a:t>Measured evidence</a:t>
            </a:r>
          </a:p>
        </p:txBody>
      </p:sp>
      <p:sp>
        <p:nvSpPr>
          <p:cNvPr id="131" name="architecture-write">
            <a:extLst xmlns:a="http://schemas.openxmlformats.org/drawingml/2006/main">
              <a:ext uri="{FF2B5EF4-FFF2-40B4-BE49-F238E27FC236}">
                <a16:creationId xmlns:a16="http://schemas.microsoft.com/office/drawing/2014/main" id="{92167318-67A7-4437-B864-96F6F623DFF5}"/>
              </a:ext>
            </a:extLst>
          </p:cNvPr>
          <p:cNvSpPr>
            <a:spLocks xmlns:a="http://schemas.openxmlformats.org/drawingml/2006/main" noGrp="1"/>
          </p:cNvSpPr>
          <p:nvPr/>
        </p:nvSpPr>
        <p:spPr>
          <a:xfrm xmlns:a="http://schemas.openxmlformats.org/drawingml/2006/main">
            <a:off x="571500" y="4162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137333"/>
                </a:solidFill>
                <a:latin typeface="Google Sans Flex"/>
                <a:ea typeface="Google Sans Flex"/>
                <a:cs typeface="Google Sans Flex"/>
              </a:defRPr>
            </a:defPPr>
          </a:lstStyle>
          <a:p xmlns:a="http://schemas.openxmlformats.org/drawingml/2006/main">
            <a:pPr>
              <a:defRPr sz="1200" b="0">
                <a:solidFill>
                  <a:srgbClr val="137333"/>
                </a:solidFill>
                <a:latin typeface="Google Sans Flex"/>
                <a:ea typeface="Google Sans Flex"/>
                <a:cs typeface="Google Sans Flex"/>
              </a:defRPr>
            </a:pPr>
            <a:r>
              <a:rPr sz="1200" b="0">
                <a:solidFill>
                  <a:srgbClr val="137333"/>
                </a:solidFill>
                <a:latin typeface="Google Sans Flex"/>
                <a:ea typeface="Google Sans Flex"/>
                <a:cs typeface="Google Sans Flex"/>
              </a:rPr>
              <a:t>Approved apply + fresh checks</a:t>
            </a:r>
          </a:p>
        </p:txBody>
      </p:sp>
      <p:sp>
        <p:nvSpPr>
          <p:cNvPr id="132" name="architecture-footer">
            <a:extLst xmlns:a="http://schemas.openxmlformats.org/drawingml/2006/main">
              <a:ext uri="{FF2B5EF4-FFF2-40B4-BE49-F238E27FC236}">
                <a16:creationId xmlns:a16="http://schemas.microsoft.com/office/drawing/2014/main" id="{5B2F9FDB-B658-45CF-8C58-DCA18D4D26D6}"/>
              </a:ext>
            </a:extLst>
          </p:cNvPr>
          <p:cNvSpPr>
            <a:spLocks xmlns:a="http://schemas.openxmlformats.org/drawingml/2006/main" noGrp="1"/>
          </p:cNvSpPr>
          <p:nvPr/>
        </p:nvSpPr>
        <p:spPr>
          <a:xfrm xmlns:a="http://schemas.openxmlformats.org/drawingml/2006/main">
            <a:off x="342900" y="4572000"/>
            <a:ext cx="8458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F6368"/>
                </a:solidFill>
                <a:latin typeface="Google Sans Flex"/>
                <a:ea typeface="Google Sans Flex"/>
                <a:cs typeface="Google Sans Flex"/>
              </a:defRPr>
            </a:defPPr>
          </a:lstStyle>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FRR / CoreDNS / nginx run the protocols. SQLite stores evidence on the instance.</a:t>
            </a:r>
          </a:p>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Secret Manager supplies credentials. Cloud Build + Artifact Registry deliver the container.</a:t>
            </a:r>
          </a:p>
        </p:txBody>
      </p:sp>
    </p:spTree>
    <p:extLst>
      <p:ext uri="{BB962C8B-B14F-4D97-AF65-F5344CB8AC3E}">
        <p14:creationId xmlns:p14="http://schemas.microsoft.com/office/powerpoint/2010/main" val="3519054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B6DCFCD5-313E-4980-8EC1-91B11B7B95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db538bf88af4fdf">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EDB6581A-4B8D-4A87-9834-94A19EFE5FB7}"/>
              </a:ext>
            </a:extLst>
          </p:cNvPr>
          <p:cNvPicPr>
            <a:picLocks xmlns:a="http://schemas.openxmlformats.org/drawingml/2006/main" noChangeAspect="1"/>
          </p:cNvPicPr>
          <p:nvPr/>
        </p:nvPicPr>
        <p:blipFill>
          <a:blip xmlns:r="http://schemas.openxmlformats.org/officeDocument/2006/relationships" xmlns:a="http://schemas.openxmlformats.org/drawingml/2006/main" r:embed="Rad402c1ff0024259">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4C745EC5-13A2-4514-ABB0-C5C98A1146E0}"/>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A276EA9A-A38B-4022-BACF-9F08E346B721}"/>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Technologies used in the solution</a:t>
            </a:r>
            <a:endParaRPr sz="1600">
              <a:latin typeface="Google Sans Flex Medium"/>
              <a:ea typeface="Google Sans Flex Medium"/>
              <a:cs typeface="Google Sans Flex Medium"/>
            </a:endParaRPr>
          </a:p>
        </p:txBody>
      </p:sp>
      <p:graphicFrame>
        <p:nvGraphicFramePr>
          <p:cNvPr id="120" name="">
            <a:extLst xmlns:a="http://schemas.openxmlformats.org/drawingml/2006/main">
              <a:ext uri="{FF2B5EF4-FFF2-40B4-BE49-F238E27FC236}">
                <a16:creationId xmlns:a16="http://schemas.microsoft.com/office/drawing/2014/main" id="{1796A665-720E-4897-B7C8-AD25E60EE0B0}"/>
              </a:ext>
            </a:extLst>
          </p:cNvPr>
          <p:cNvGraphicFramePr/>
          <p:nvPr/>
        </p:nvGraphicFramePr>
        <p:xfrm>
          <a:off xmlns:a="http://schemas.openxmlformats.org/drawingml/2006/main" x="342900" y="1323975"/>
          <a:ext xmlns:a="http://schemas.openxmlformats.org/drawingml/2006/main" cx="8458200" cy="3200400"/>
        </p:xfrm>
        <a:graphic xmlns:a="http://schemas.openxmlformats.org/drawingml/2006/main">
          <a:graphicData uri="http://schemas.openxmlformats.org/drawingml/2006/table">
            <a:tbl>
              <a:tblPr firstRow="1" bandRow="0"/>
              <a:tblGrid>
                <a:gridCol w="2857500"/>
                <a:gridCol w="5600700"/>
              </a:tblGrid>
              <a:tr h="400050">
                <a:tc>
                  <a:txBody>
                    <a:bodyPr wrap="square" lIns="76200" tIns="76200" rIns="76200" bIns="76200">
                      <a:noAutofit/>
                    </a:bodyPr>
                    <a:lstStyle/>
                    <a:p>
                      <a:r>
                        <a:rPr sz="1350" b="1">
                          <a:solidFill>
                            <a:srgbClr val="FFFFFF"/>
                          </a:solidFill>
                          <a:latin typeface="Google Sans Flex"/>
                          <a:ea typeface="Google Sans Flex"/>
                          <a:cs typeface="Google Sans Flex"/>
                        </a:rPr>
                        <a:t>Technology</a:t>
                      </a:r>
                    </a:p>
                  </a:txBody>
                  <a:tcPr marL="91440" marR="91440" marT="45720" marB="45720" anchor="ctr">
                    <a:lnL w="4763">
                      <a:solidFill>
                        <a:srgbClr val="DADCE0"/>
                      </a:solidFill>
                      <a:prstDash val="solid"/>
                    </a:lnL>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c>
                  <a:txBody>
                    <a:bodyPr wrap="square" lIns="76200" tIns="76200" rIns="76200" bIns="76200">
                      <a:noAutofit/>
                    </a:bodyPr>
                    <a:lstStyle/>
                    <a:p>
                      <a:r>
                        <a:rPr sz="1350" b="1">
                          <a:solidFill>
                            <a:srgbClr val="FFFFFF"/>
                          </a:solidFill>
                          <a:latin typeface="Google Sans Flex"/>
                          <a:ea typeface="Google Sans Flex"/>
                          <a:cs typeface="Google Sans Flex"/>
                        </a:rPr>
                        <a:t>Role in the working prototype</a:t>
                      </a:r>
                    </a:p>
                  </a:txBody>
                  <a:tcPr marL="91440" marR="91440" marT="45720" marB="45720" anchor="ctr">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Cloud Run (second generation)</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Hosts TwinOps, Metro and isolated Linux namespace networks</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Gemini 2.5 Flash / Vertex AI</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Hypotheses, repair proposals, challenges and bounded revisions</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Google Gen AI SDK</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Structured model requests with schema and catalogue validation</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Secret Manager</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Provides the private operator approval credential</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Cloud Build / Artifact Registry</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Builds and stores the deployment container</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React / FastAPI / SQLite</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Review interface, orchestration and instance-local evidence</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r h="400050">
                <a:tc>
                  <a:txBody>
                    <a:bodyPr wrap="square" lIns="76200" tIns="76200" rIns="76200" bIns="76200">
                      <a:noAutofit/>
                    </a:bodyPr>
                    <a:lstStyle/>
                    <a:p>
                      <a:r>
                        <a:rPr sz="1275" b="0">
                          <a:solidFill>
                            <a:srgbClr val="202124"/>
                          </a:solidFill>
                          <a:latin typeface="Google Sans Flex"/>
                          <a:ea typeface="Google Sans Flex"/>
                          <a:cs typeface="Google Sans Flex"/>
                        </a:rPr>
                        <a:t>FRR / CoreDNS / nginx</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Real routing, DNS, IPv4/IPv6 and TLS experiments</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bl>
          </a:graphicData>
        </a:graphic>
      </p:graphicFrame>
      <p:sp>
        <p:nvSpPr>
          <p:cNvPr id="121" name="tech-scope">
            <a:extLst xmlns:a="http://schemas.openxmlformats.org/drawingml/2006/main">
              <a:ext uri="{FF2B5EF4-FFF2-40B4-BE49-F238E27FC236}">
                <a16:creationId xmlns:a16="http://schemas.microsoft.com/office/drawing/2014/main" id="{DA9EF77F-A5EB-4236-9730-E93FAAE6F939}"/>
              </a:ext>
            </a:extLst>
          </p:cNvPr>
          <p:cNvSpPr>
            <a:spLocks xmlns:a="http://schemas.openxmlformats.org/drawingml/2006/main" noGrp="1"/>
          </p:cNvSpPr>
          <p:nvPr/>
        </p:nvSpPr>
        <p:spPr>
          <a:xfrm xmlns:a="http://schemas.openxmlformats.org/drawingml/2006/main">
            <a:off x="342900" y="4676775"/>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F6368"/>
                </a:solidFill>
                <a:latin typeface="Google Sans Flex"/>
                <a:ea typeface="Google Sans Flex"/>
                <a:cs typeface="Google Sans Flex"/>
              </a:defRPr>
            </a:defPPr>
          </a:lstStyle>
          <a:p xmlns:a="http://schemas.openxmlformats.org/drawingml/2006/main">
            <a:pPr>
              <a:defRPr sz="1275" b="0">
                <a:solidFill>
                  <a:srgbClr val="5F6368"/>
                </a:solidFill>
                <a:latin typeface="Google Sans Flex"/>
                <a:ea typeface="Google Sans Flex"/>
                <a:cs typeface="Google Sans Flex"/>
              </a:defRPr>
            </a:pPr>
            <a:r>
              <a:rPr sz="1275" b="0">
                <a:solidFill>
                  <a:srgbClr val="5F6368"/>
                </a:solidFill>
                <a:latin typeface="Google Sans Flex"/>
                <a:ea typeface="Google Sans Flex"/>
                <a:cs typeface="Google Sans Flex"/>
              </a:rPr>
              <a:t>Firebase and Firestore are not used. Cloud Run provides the deployment path.</a:t>
            </a:r>
          </a:p>
        </p:txBody>
      </p:sp>
    </p:spTree>
    <p:extLst>
      <p:ext uri="{BB962C8B-B14F-4D97-AF65-F5344CB8AC3E}">
        <p14:creationId xmlns:p14="http://schemas.microsoft.com/office/powerpoint/2010/main" val="44716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7EF58C41-D508-4E71-95D0-6198DAA6C99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81098298d04fa6">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CB3FA706-81C6-487A-B926-B494770C01BB}"/>
              </a:ext>
            </a:extLst>
          </p:cNvPr>
          <p:cNvPicPr>
            <a:picLocks xmlns:a="http://schemas.openxmlformats.org/drawingml/2006/main" noChangeAspect="1"/>
          </p:cNvPicPr>
          <p:nvPr/>
        </p:nvPicPr>
        <p:blipFill>
          <a:blip xmlns:r="http://schemas.openxmlformats.org/officeDocument/2006/relationships" xmlns:a="http://schemas.openxmlformats.org/drawingml/2006/main" r:embed="R1aca3bb622794140">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D0A7B225-F84D-4F78-AEF8-B892596234A7}"/>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5F7C5680-73C5-41CB-8EB0-F3A11AB6289C}"/>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Snapshots of the prototype</a:t>
            </a:r>
            <a:endParaRPr sz="1600">
              <a:latin typeface="Google Sans Flex Medium"/>
              <a:ea typeface="Google Sans Flex Medium"/>
              <a:cs typeface="Google Sans Flex Medium"/>
            </a:endParaRPr>
          </a:p>
        </p:txBody>
      </p:sp>
      <p:sp>
        <p:nvSpPr>
          <p:cNvPr id="136" name="recovery-headline">
            <a:extLst xmlns:a="http://schemas.openxmlformats.org/drawingml/2006/main">
              <a:ext uri="{FF2B5EF4-FFF2-40B4-BE49-F238E27FC236}">
                <a16:creationId xmlns:a16="http://schemas.microsoft.com/office/drawing/2014/main" id="{258E04F3-76D0-410A-9E8A-D3222DB2BF89}"/>
              </a:ext>
            </a:extLst>
          </p:cNvPr>
          <p:cNvSpPr>
            <a:spLocks xmlns:a="http://schemas.openxmlformats.org/drawingml/2006/main" noGrp="1"/>
          </p:cNvSpPr>
          <p:nvPr/>
        </p:nvSpPr>
        <p:spPr>
          <a:xfrm xmlns:a="http://schemas.openxmlformats.org/drawingml/2006/main">
            <a:off x="342900" y="1362075"/>
            <a:ext cx="845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02124"/>
                </a:solidFill>
                <a:latin typeface="Google Sans Flex"/>
                <a:ea typeface="Google Sans Flex"/>
                <a:cs typeface="Google Sans Flex"/>
              </a:defRPr>
            </a:defPPr>
          </a:lstStyle>
          <a:p xmlns:a="http://schemas.openxmlformats.org/drawingml/2006/main">
            <a:pPr>
              <a:defRPr sz="2100" b="1">
                <a:solidFill>
                  <a:srgbClr val="202124"/>
                </a:solidFill>
                <a:latin typeface="Google Sans Flex"/>
                <a:ea typeface="Google Sans Flex"/>
                <a:cs typeface="Google Sans Flex"/>
              </a:defRPr>
            </a:pPr>
            <a:r>
              <a:rPr sz="2100" b="1">
                <a:solidFill>
                  <a:srgbClr val="202124"/>
                </a:solidFill>
                <a:latin typeface="Google Sans Flex"/>
                <a:ea typeface="Google Sans Flex"/>
                <a:cs typeface="Google Sans Flex"/>
              </a:rPr>
              <a:t>Two failed journeys. One rule removed. Four journeys healthy.</a:t>
            </a:r>
          </a:p>
        </p:txBody>
      </p:sp>
      <p:pic>
        <p:nvPicPr>
          <p:cNvPr id="137" name="">
            <a:extLst xmlns:a="http://schemas.openxmlformats.org/drawingml/2006/main">
              <a:ext uri="{FF2B5EF4-FFF2-40B4-BE49-F238E27FC236}">
                <a16:creationId xmlns:a16="http://schemas.microsoft.com/office/drawing/2014/main" id="{B1E41AD5-173C-4705-B017-72FAB246BD0D}"/>
              </a:ext>
            </a:extLst>
          </p:cNvPr>
          <p:cNvPicPr>
            <a:picLocks xmlns:a="http://schemas.openxmlformats.org/drawingml/2006/main" noChangeAspect="1"/>
          </p:cNvPicPr>
          <p:nvPr/>
        </p:nvPicPr>
        <p:blipFill>
          <a:blip xmlns:r="http://schemas.openxmlformats.org/officeDocument/2006/relationships" xmlns:a="http://schemas.openxmlformats.org/drawingml/2006/main" r:embed="R19ccabfbfac9470e"/>
          <a:srcRect xmlns:a="http://schemas.openxmlformats.org/drawingml/2006/main" l="19500" t="29800" r="19500" b="28200"/>
          <a:stretch xmlns:a="http://schemas.openxmlformats.org/drawingml/2006/main"/>
        </p:blipFill>
        <p:spPr>
          <a:xfrm xmlns:a="http://schemas.openxmlformats.org/drawingml/2006/main">
            <a:off x="342900" y="2114550"/>
            <a:ext cx="6191250" cy="2686050"/>
          </a:xfrm>
          <a:prstGeom xmlns:a="http://schemas.openxmlformats.org/drawingml/2006/main" prst="rect">
            <a:avLst/>
          </a:prstGeom>
        </p:spPr>
      </p:pic>
      <p:sp>
        <p:nvSpPr>
          <p:cNvPr id="138" name="recovery-label">
            <a:extLst xmlns:a="http://schemas.openxmlformats.org/drawingml/2006/main">
              <a:ext uri="{FF2B5EF4-FFF2-40B4-BE49-F238E27FC236}">
                <a16:creationId xmlns:a16="http://schemas.microsoft.com/office/drawing/2014/main" id="{51CA49F8-B90D-4028-83EE-8577684E8CAA}"/>
              </a:ext>
            </a:extLst>
          </p:cNvPr>
          <p:cNvSpPr>
            <a:spLocks xmlns:a="http://schemas.openxmlformats.org/drawingml/2006/main" noGrp="1"/>
          </p:cNvSpPr>
          <p:nvPr/>
        </p:nvSpPr>
        <p:spPr>
          <a:xfrm xmlns:a="http://schemas.openxmlformats.org/drawingml/2006/main">
            <a:off x="6800850" y="2143125"/>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37333"/>
                </a:solidFill>
                <a:latin typeface="Google Sans Flex"/>
                <a:ea typeface="Google Sans Flex"/>
                <a:cs typeface="Google Sans Flex"/>
              </a:defRPr>
            </a:defPPr>
          </a:lstStyle>
          <a:p xmlns:a="http://schemas.openxmlformats.org/drawingml/2006/main">
            <a:pPr>
              <a:defRPr sz="1650" b="1">
                <a:solidFill>
                  <a:srgbClr val="137333"/>
                </a:solidFill>
                <a:latin typeface="Google Sans Flex"/>
                <a:ea typeface="Google Sans Flex"/>
                <a:cs typeface="Google Sans Flex"/>
              </a:defRPr>
            </a:pPr>
            <a:r>
              <a:rPr sz="1650" b="1">
                <a:solidFill>
                  <a:srgbClr val="137333"/>
                </a:solidFill>
                <a:latin typeface="Google Sans Flex"/>
                <a:ea typeface="Google Sans Flex"/>
                <a:cs typeface="Google Sans Flex"/>
              </a:rPr>
              <a:t>Independent check</a:t>
            </a:r>
          </a:p>
        </p:txBody>
      </p:sp>
      <p:sp>
        <p:nvSpPr>
          <p:cNvPr id="139" name="recovery-body">
            <a:extLst xmlns:a="http://schemas.openxmlformats.org/drawingml/2006/main">
              <a:ext uri="{FF2B5EF4-FFF2-40B4-BE49-F238E27FC236}">
                <a16:creationId xmlns:a16="http://schemas.microsoft.com/office/drawing/2014/main" id="{BAC66510-A3BA-4AB0-8FE7-46E28A3C8902}"/>
              </a:ext>
            </a:extLst>
          </p:cNvPr>
          <p:cNvSpPr>
            <a:spLocks xmlns:a="http://schemas.openxmlformats.org/drawingml/2006/main" noGrp="1"/>
          </p:cNvSpPr>
          <p:nvPr/>
        </p:nvSpPr>
        <p:spPr>
          <a:xfrm xmlns:a="http://schemas.openxmlformats.org/drawingml/2006/main">
            <a:off x="6800850" y="2762250"/>
            <a:ext cx="200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02124"/>
                </a:solidFill>
                <a:latin typeface="Google Sans Flex"/>
                <a:ea typeface="Google Sans Flex"/>
                <a:cs typeface="Google Sans Flex"/>
              </a:defRPr>
            </a:defPPr>
          </a:lstStyle>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Metro probes the</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network again.</a:t>
            </a:r>
          </a:p>
          <a:p xmlns:a="http://schemas.openxmlformats.org/drawingml/2006/main">
            <a:r>
              <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Berlin and Hamburg</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recover. Munich and</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Frankfurt stay healthy.</a:t>
            </a:r>
          </a:p>
          <a:p xmlns:a="http://schemas.openxmlformats.org/drawingml/2006/main">
            <a:r>
              <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The planner does not</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score its own success.</a:t>
            </a:r>
          </a:p>
        </p:txBody>
      </p:sp>
      <p:sp>
        <p:nvSpPr>
          <p:cNvPr id="140" name="recovery-foot">
            <a:extLst xmlns:a="http://schemas.openxmlformats.org/drawingml/2006/main">
              <a:ext uri="{FF2B5EF4-FFF2-40B4-BE49-F238E27FC236}">
                <a16:creationId xmlns:a16="http://schemas.microsoft.com/office/drawing/2014/main" id="{A3D1A99D-3D39-445F-89A9-14C280B47683}"/>
              </a:ext>
            </a:extLst>
          </p:cNvPr>
          <p:cNvSpPr>
            <a:spLocks xmlns:a="http://schemas.openxmlformats.org/drawingml/2006/main" noGrp="1"/>
          </p:cNvSpPr>
          <p:nvPr/>
        </p:nvSpPr>
        <p:spPr>
          <a:xfrm xmlns:a="http://schemas.openxmlformats.org/drawingml/2006/main">
            <a:off x="342900" y="4848225"/>
            <a:ext cx="845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F6368"/>
                </a:solidFill>
                <a:latin typeface="Google Sans Flex"/>
                <a:ea typeface="Google Sans Flex"/>
                <a:cs typeface="Google Sans Flex"/>
              </a:defRPr>
            </a:defPPr>
          </a:lstStyle>
          <a:p xmlns:a="http://schemas.openxmlformats.org/drawingml/2006/main">
            <a:pPr>
              <a:defRPr sz="1200" b="0">
                <a:solidFill>
                  <a:srgbClr val="5F6368"/>
                </a:solidFill>
                <a:latin typeface="Google Sans Flex"/>
                <a:ea typeface="Google Sans Flex"/>
                <a:cs typeface="Google Sans Flex"/>
              </a:defRPr>
            </a:pPr>
            <a:r>
              <a:rPr sz="1200" b="0">
                <a:solidFill>
                  <a:srgbClr val="5F6368"/>
                </a:solidFill>
                <a:latin typeface="Google Sans Flex"/>
                <a:ea typeface="Google Sans Flex"/>
                <a:cs typeface="Google Sans Flex"/>
              </a:rPr>
              <a:t>Actual hosted run, 15 October 2026. Synthetic sites and customer counts. Timings are illustrative.</a:t>
            </a:r>
          </a:p>
        </p:txBody>
      </p:sp>
    </p:spTree>
    <p:extLst>
      <p:ext uri="{BB962C8B-B14F-4D97-AF65-F5344CB8AC3E}">
        <p14:creationId xmlns:p14="http://schemas.microsoft.com/office/powerpoint/2010/main" val="10861948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EBCCAB8C-E32A-4371-AEC3-D1E30CC4E5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425e616ce53404b">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7A263A7D-3A16-497F-9581-9B5FDE0F532F}"/>
              </a:ext>
            </a:extLst>
          </p:cNvPr>
          <p:cNvPicPr>
            <a:picLocks xmlns:a="http://schemas.openxmlformats.org/drawingml/2006/main" noChangeAspect="1"/>
          </p:cNvPicPr>
          <p:nvPr/>
        </p:nvPicPr>
        <p:blipFill>
          <a:blip xmlns:r="http://schemas.openxmlformats.org/officeDocument/2006/relationships" xmlns:a="http://schemas.openxmlformats.org/drawingml/2006/main" r:embed="R970f862899934de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E6D0B7DC-109F-4DF3-81C5-F30DEA248FAC}"/>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8EA72F2C-0BE9-4201-8DF9-E4A90F1C2670}"/>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Prototype performance report / benchmarking</a:t>
            </a:r>
            <a:endParaRPr sz="1600">
              <a:latin typeface="Google Sans Flex Medium"/>
              <a:ea typeface="Google Sans Flex Medium"/>
              <a:cs typeface="Google Sans Flex Medium"/>
            </a:endParaRPr>
          </a:p>
        </p:txBody>
      </p:sp>
      <p:graphicFrame>
        <p:nvGraphicFramePr>
          <p:cNvPr id="144" name="">
            <a:extLst xmlns:a="http://schemas.openxmlformats.org/drawingml/2006/main">
              <a:ext uri="{FF2B5EF4-FFF2-40B4-BE49-F238E27FC236}">
                <a16:creationId xmlns:a16="http://schemas.microsoft.com/office/drawing/2014/main" id="{16198078-FD4F-4FE5-BB1D-933B42ACE952}"/>
              </a:ext>
            </a:extLst>
          </p:cNvPr>
          <p:cNvGraphicFramePr/>
          <p:nvPr/>
        </p:nvGraphicFramePr>
        <p:xfrm>
          <a:off xmlns:a="http://schemas.openxmlformats.org/drawingml/2006/main" x="342900" y="1362075"/>
          <a:ext xmlns:a="http://schemas.openxmlformats.org/drawingml/2006/main" cx="8458200" cy="2733675"/>
        </p:xfrm>
        <a:graphic xmlns:a="http://schemas.openxmlformats.org/drawingml/2006/main">
          <a:graphicData uri="http://schemas.openxmlformats.org/drawingml/2006/table">
            <a:tbl>
              <a:tblPr firstRow="1" bandRow="0"/>
              <a:tblGrid>
                <a:gridCol w="2857500"/>
                <a:gridCol w="5600700"/>
              </a:tblGrid>
              <a:tr h="546735">
                <a:tc>
                  <a:txBody>
                    <a:bodyPr wrap="square" lIns="76200" tIns="76200" rIns="76200" bIns="76200">
                      <a:noAutofit/>
                    </a:bodyPr>
                    <a:lstStyle/>
                    <a:p>
                      <a:r>
                        <a:rPr sz="1350" b="1">
                          <a:solidFill>
                            <a:srgbClr val="FFFFFF"/>
                          </a:solidFill>
                          <a:latin typeface="Google Sans Flex"/>
                          <a:ea typeface="Google Sans Flex"/>
                          <a:cs typeface="Google Sans Flex"/>
                        </a:rPr>
                        <a:t>Evidence scope</a:t>
                      </a:r>
                    </a:p>
                  </a:txBody>
                  <a:tcPr marL="91440" marR="91440" marT="45720" marB="45720" anchor="ctr">
                    <a:lnL w="4763">
                      <a:solidFill>
                        <a:srgbClr val="DADCE0"/>
                      </a:solidFill>
                      <a:prstDash val="solid"/>
                    </a:lnL>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c>
                  <a:txBody>
                    <a:bodyPr wrap="square" lIns="76200" tIns="76200" rIns="76200" bIns="76200">
                      <a:noAutofit/>
                    </a:bodyPr>
                    <a:lstStyle/>
                    <a:p>
                      <a:r>
                        <a:rPr sz="1350" b="1">
                          <a:solidFill>
                            <a:srgbClr val="FFFFFF"/>
                          </a:solidFill>
                          <a:latin typeface="Google Sans Flex"/>
                          <a:ea typeface="Google Sans Flex"/>
                          <a:cs typeface="Google Sans Flex"/>
                        </a:rPr>
                        <a:t>Observed result</a:t>
                      </a:r>
                    </a:p>
                  </a:txBody>
                  <a:tcPr marL="91440" marR="91440" marT="45720" marB="45720" anchor="ctr">
                    <a:lnR w="4763">
                      <a:solidFill>
                        <a:srgbClr val="DADCE0"/>
                      </a:solidFill>
                      <a:prstDash val="solid"/>
                    </a:lnR>
                    <a:lnT w="4763">
                      <a:solidFill>
                        <a:srgbClr val="DADCE0"/>
                      </a:solidFill>
                      <a:prstDash val="solid"/>
                    </a:lnT>
                    <a:lnB w="4763">
                      <a:solidFill>
                        <a:srgbClr val="DADCE0"/>
                      </a:solidFill>
                      <a:prstDash val="solid"/>
                    </a:lnB>
                    <a:solidFill>
                      <a:srgbClr val="202124"/>
                    </a:solidFill>
                  </a:tcPr>
                </a:tc>
              </a:tr>
              <a:tr h="546735">
                <a:tc>
                  <a:txBody>
                    <a:bodyPr wrap="square" lIns="76200" tIns="76200" rIns="76200" bIns="76200">
                      <a:noAutofit/>
                    </a:bodyPr>
                    <a:lstStyle/>
                    <a:p>
                      <a:r>
                        <a:rPr sz="1275" b="0">
                          <a:solidFill>
                            <a:srgbClr val="202124"/>
                          </a:solidFill>
                          <a:latin typeface="Google Sans Flex"/>
                          <a:ea typeface="Google Sans Flex"/>
                          <a:cs typeface="Google Sans Flex"/>
                        </a:rPr>
                        <a:t>Hosted Gemini repair</a:t>
                      </a:r>
                    </a:p>
                    <a:p>
                      <a:r>
                        <a:rPr sz="1275" b="0">
                          <a:solidFill>
                            <a:srgbClr val="202124"/>
                          </a:solidFill>
                          <a:latin typeface="Google Sans Flex"/>
                          <a:ea typeface="Google Sans Flex"/>
                          <a:cs typeface="Google Sans Flex"/>
                        </a:rPr>
                        <a:t>15 October 2026</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10 model calls, 0 fallbacks and 0 diagnosis writes</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546735">
                <a:tc>
                  <a:txBody>
                    <a:bodyPr wrap="square" lIns="76200" tIns="76200" rIns="76200" bIns="76200">
                      <a:noAutofit/>
                    </a:bodyPr>
                    <a:lstStyle/>
                    <a:p>
                      <a:r>
                        <a:rPr sz="1275" b="0">
                          <a:solidFill>
                            <a:srgbClr val="202124"/>
                          </a:solidFill>
                          <a:latin typeface="Google Sans Flex"/>
                          <a:ea typeface="Google Sans Flex"/>
                          <a:cs typeface="Google Sans Flex"/>
                        </a:rPr>
                        <a:t>Candidate experiments</a:t>
                      </a:r>
                    </a:p>
                    <a:p>
                      <a:r>
                        <a:rPr sz="1275" b="0">
                          <a:solidFill>
                            <a:srgbClr val="202124"/>
                          </a:solidFill>
                          <a:latin typeface="Google Sans Flex"/>
                          <a:ea typeface="Google Sans Flex"/>
                          <a:cs typeface="Google Sans Flex"/>
                        </a:rPr>
                        <a:t>Same hosted repair</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5 experiments, 13 challenges and 79 probes</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r h="546735">
                <a:tc>
                  <a:txBody>
                    <a:bodyPr wrap="square" lIns="76200" tIns="76200" rIns="76200" bIns="76200">
                      <a:noAutofit/>
                    </a:bodyPr>
                    <a:lstStyle/>
                    <a:p>
                      <a:r>
                        <a:rPr sz="1275" b="0">
                          <a:solidFill>
                            <a:srgbClr val="202124"/>
                          </a:solidFill>
                          <a:latin typeface="Google Sans Flex"/>
                          <a:ea typeface="Google Sans Flex"/>
                          <a:cs typeface="Google Sans Flex"/>
                        </a:rPr>
                        <a:t>Post-change recovery</a:t>
                      </a:r>
                    </a:p>
                    <a:p>
                      <a:r>
                        <a:rPr sz="1275" b="0">
                          <a:solidFill>
                            <a:srgbClr val="202124"/>
                          </a:solidFill>
                          <a:latin typeface="Google Sans Flex"/>
                          <a:ea typeface="Google Sans Flex"/>
                          <a:cs typeface="Google Sans Flex"/>
                        </a:rPr>
                        <a:t>Same hosted repair</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FFFFF"/>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11/11 checks passed in each of 3 observation windows</a:t>
                      </a:r>
                    </a:p>
                  </a:txBody>
                  <a:tcPr marL="91440" marR="91440" marT="45720" marB="45720" anchor="ctr">
                    <a:lnR w="4763">
                      <a:solidFill>
                        <a:srgbClr val="DADCE0"/>
                      </a:solidFill>
                      <a:prstDash val="solid"/>
                    </a:lnR>
                    <a:lnB w="4763">
                      <a:solidFill>
                        <a:srgbClr val="DADCE0"/>
                      </a:solidFill>
                      <a:prstDash val="solid"/>
                    </a:lnB>
                    <a:solidFill>
                      <a:srgbClr val="FFFFFF"/>
                    </a:solidFill>
                  </a:tcPr>
                </a:tc>
              </a:tr>
              <a:tr h="546735">
                <a:tc>
                  <a:txBody>
                    <a:bodyPr wrap="square" lIns="76200" tIns="76200" rIns="76200" bIns="76200">
                      <a:noAutofit/>
                    </a:bodyPr>
                    <a:lstStyle/>
                    <a:p>
                      <a:r>
                        <a:rPr sz="1275" b="0">
                          <a:solidFill>
                            <a:srgbClr val="202124"/>
                          </a:solidFill>
                          <a:latin typeface="Google Sans Flex"/>
                          <a:ea typeface="Google Sans Flex"/>
                          <a:cs typeface="Google Sans Flex"/>
                        </a:rPr>
                        <a:t>Deterministic evaluation</a:t>
                      </a:r>
                    </a:p>
                    <a:p>
                      <a:r>
                        <a:rPr sz="1275" b="0">
                          <a:solidFill>
                            <a:srgbClr val="202124"/>
                          </a:solidFill>
                          <a:latin typeface="Google Sans Flex"/>
                          <a:ea typeface="Google Sans Flex"/>
                          <a:cs typeface="Google Sans Flex"/>
                        </a:rPr>
                        <a:t>13 October 2026</a:t>
                      </a:r>
                    </a:p>
                  </a:txBody>
                  <a:tcPr marL="91440" marR="91440" marT="45720" marB="45720" anchor="ctr">
                    <a:lnL w="4763">
                      <a:solidFill>
                        <a:srgbClr val="DADCE0"/>
                      </a:solidFill>
                      <a:prstDash val="solid"/>
                    </a:lnL>
                    <a:lnR w="4763">
                      <a:solidFill>
                        <a:srgbClr val="DADCE0"/>
                      </a:solidFill>
                      <a:prstDash val="solid"/>
                    </a:lnR>
                    <a:lnB w="4763">
                      <a:solidFill>
                        <a:srgbClr val="DADCE0"/>
                      </a:solidFill>
                      <a:prstDash val="solid"/>
                    </a:lnB>
                    <a:solidFill>
                      <a:srgbClr val="F8F9FA"/>
                    </a:solidFill>
                  </a:tcPr>
                </a:tc>
                <a:tc>
                  <a:txBody>
                    <a:bodyPr wrap="square" lIns="76200" tIns="76200" rIns="76200" bIns="76200">
                      <a:noAutofit/>
                    </a:bodyPr>
                    <a:lstStyle/>
                    <a:p>
                      <a:r>
                        <a:rPr sz="1275" b="0">
                          <a:solidFill>
                            <a:srgbClr val="202124"/>
                          </a:solidFill>
                          <a:latin typeface="Google Sans Flex"/>
                          <a:ea typeface="Google Sans Flex"/>
                          <a:cs typeface="Google Sans Flex"/>
                        </a:rPr>
                        <a:t>320 cases: 200 verified repairs, 120 abstentions,</a:t>
                      </a:r>
                    </a:p>
                    <a:p>
                      <a:r>
                        <a:rPr sz="1275" b="0">
                          <a:solidFill>
                            <a:srgbClr val="202124"/>
                          </a:solidFill>
                          <a:latin typeface="Google Sans Flex"/>
                          <a:ea typeface="Google Sans Flex"/>
                          <a:cs typeface="Google Sans Flex"/>
                        </a:rPr>
                        <a:t>0 unsafe passes; 13/13 controls passed</a:t>
                      </a:r>
                    </a:p>
                  </a:txBody>
                  <a:tcPr marL="91440" marR="91440" marT="45720" marB="45720" anchor="ctr">
                    <a:lnR w="4763">
                      <a:solidFill>
                        <a:srgbClr val="DADCE0"/>
                      </a:solidFill>
                      <a:prstDash val="solid"/>
                    </a:lnR>
                    <a:lnB w="4763">
                      <a:solidFill>
                        <a:srgbClr val="DADCE0"/>
                      </a:solidFill>
                      <a:prstDash val="solid"/>
                    </a:lnB>
                    <a:solidFill>
                      <a:srgbClr val="F8F9FA"/>
                    </a:solidFill>
                  </a:tcPr>
                </a:tc>
              </a:tr>
            </a:tbl>
          </a:graphicData>
        </a:graphic>
      </p:graphicFrame>
      <p:sp>
        <p:nvSpPr>
          <p:cNvPr id="145" name="benchmark-limit">
            <a:extLst xmlns:a="http://schemas.openxmlformats.org/drawingml/2006/main">
              <a:ext uri="{FF2B5EF4-FFF2-40B4-BE49-F238E27FC236}">
                <a16:creationId xmlns:a16="http://schemas.microsoft.com/office/drawing/2014/main" id="{9320EF53-0D55-4257-B0FA-2775DAD7C86C}"/>
              </a:ext>
            </a:extLst>
          </p:cNvPr>
          <p:cNvSpPr>
            <a:spLocks xmlns:a="http://schemas.openxmlformats.org/drawingml/2006/main" noGrp="1"/>
          </p:cNvSpPr>
          <p:nvPr/>
        </p:nvSpPr>
        <p:spPr>
          <a:xfrm xmlns:a="http://schemas.openxmlformats.org/drawingml/2006/main">
            <a:off x="342900" y="4352925"/>
            <a:ext cx="8458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F6368"/>
                </a:solidFill>
                <a:latin typeface="Google Sans Flex"/>
                <a:ea typeface="Google Sans Flex"/>
                <a:cs typeface="Google Sans Flex"/>
              </a:defRPr>
            </a:defPPr>
          </a:lstStyle>
          <a:p xmlns:a="http://schemas.openxmlformats.org/drawingml/2006/main">
            <a:pPr>
              <a:defRPr sz="1425" b="0">
                <a:solidFill>
                  <a:srgbClr val="5F6368"/>
                </a:solidFill>
                <a:latin typeface="Google Sans Flex"/>
                <a:ea typeface="Google Sans Flex"/>
                <a:cs typeface="Google Sans Flex"/>
              </a:defRPr>
            </a:pPr>
            <a:r>
              <a:rPr sz="1425" b="0">
                <a:solidFill>
                  <a:srgbClr val="5F6368"/>
                </a:solidFill>
                <a:latin typeface="Google Sans Flex"/>
                <a:ea typeface="Google Sans Flex"/>
                <a:cs typeface="Google Sans Flex"/>
              </a:rPr>
              <a:t>The 320-case suite uses a deterministic model twin and makes zero Gemini calls.</a:t>
            </a:r>
          </a:p>
          <a:p xmlns:a="http://schemas.openxmlformats.org/drawingml/2006/main">
            <a:pPr>
              <a:defRPr sz="1425" b="0">
                <a:solidFill>
                  <a:srgbClr val="5F6368"/>
                </a:solidFill>
                <a:latin typeface="Google Sans Flex"/>
                <a:ea typeface="Google Sans Flex"/>
                <a:cs typeface="Google Sans Flex"/>
              </a:defRPr>
            </a:pPr>
            <a:r>
              <a:rPr sz="1425" b="0">
                <a:solidFill>
                  <a:srgbClr val="5F6368"/>
                </a:solidFill>
                <a:latin typeface="Google Sans Flex"/>
                <a:ea typeface="Google Sans Flex"/>
                <a:cs typeface="Google Sans Flex"/>
              </a:rPr>
              <a:t>Production reliability and operator time savings still need separate evaluation.</a:t>
            </a:r>
          </a:p>
        </p:txBody>
      </p:sp>
    </p:spTree>
    <p:extLst>
      <p:ext uri="{BB962C8B-B14F-4D97-AF65-F5344CB8AC3E}">
        <p14:creationId xmlns:p14="http://schemas.microsoft.com/office/powerpoint/2010/main" val="49582753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08277691-9EE0-450D-95A6-72F6D9581F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d8e45632824257">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C5D124F5-2F4F-4EC9-B1F1-3FD78CEF6A99}"/>
              </a:ext>
            </a:extLst>
          </p:cNvPr>
          <p:cNvPicPr>
            <a:picLocks xmlns:a="http://schemas.openxmlformats.org/drawingml/2006/main" noChangeAspect="1"/>
          </p:cNvPicPr>
          <p:nvPr/>
        </p:nvPicPr>
        <p:blipFill>
          <a:blip xmlns:r="http://schemas.openxmlformats.org/officeDocument/2006/relationships" xmlns:a="http://schemas.openxmlformats.org/drawingml/2006/main" r:embed="R17c14f62b89a423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1193C18C-C7AC-45E0-B9E4-58DE9B0F9169}"/>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0A1EE611-5BE7-4C1A-AFE3-7AF9AF827276}"/>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Additional details / future development</a:t>
            </a:r>
            <a:endParaRPr sz="1600">
              <a:latin typeface="Google Sans Flex Medium"/>
              <a:ea typeface="Google Sans Flex Medium"/>
              <a:cs typeface="Google Sans Flex Medium"/>
            </a:endParaRPr>
          </a:p>
        </p:txBody>
      </p:sp>
      <p:sp>
        <p:nvSpPr>
          <p:cNvPr id="152" name="future-heading-0">
            <a:extLst xmlns:a="http://schemas.openxmlformats.org/drawingml/2006/main">
              <a:ext uri="{FF2B5EF4-FFF2-40B4-BE49-F238E27FC236}">
                <a16:creationId xmlns:a16="http://schemas.microsoft.com/office/drawing/2014/main" id="{F6B26624-68FB-408A-864E-7EDE48F69F63}"/>
              </a:ext>
            </a:extLst>
          </p:cNvPr>
          <p:cNvSpPr>
            <a:spLocks xmlns:a="http://schemas.openxmlformats.org/drawingml/2006/main" noGrp="1"/>
          </p:cNvSpPr>
          <p:nvPr/>
        </p:nvSpPr>
        <p:spPr>
          <a:xfrm xmlns:a="http://schemas.openxmlformats.org/drawingml/2006/main">
            <a:off x="342900" y="1352550"/>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967D2"/>
                </a:solidFill>
                <a:latin typeface="Google Sans Flex"/>
                <a:ea typeface="Google Sans Flex"/>
                <a:cs typeface="Google Sans Flex"/>
              </a:defRPr>
            </a:defPPr>
          </a:lstStyle>
          <a:p xmlns:a="http://schemas.openxmlformats.org/drawingml/2006/main">
            <a:pPr>
              <a:defRPr sz="1575" b="1">
                <a:solidFill>
                  <a:srgbClr val="1967D2"/>
                </a:solidFill>
                <a:latin typeface="Google Sans Flex"/>
                <a:ea typeface="Google Sans Flex"/>
                <a:cs typeface="Google Sans Flex"/>
              </a:defRPr>
            </a:pPr>
            <a:r>
              <a:rPr sz="1575" b="1">
                <a:solidFill>
                  <a:srgbClr val="1967D2"/>
                </a:solidFill>
                <a:latin typeface="Google Sans Flex"/>
                <a:ea typeface="Google Sans Flex"/>
                <a:cs typeface="Google Sans Flex"/>
              </a:rPr>
              <a:t>Today: a shared prototype</a:t>
            </a:r>
          </a:p>
        </p:txBody>
      </p:sp>
      <p:sp>
        <p:nvSpPr>
          <p:cNvPr id="153" name="future-body-0">
            <a:extLst xmlns:a="http://schemas.openxmlformats.org/drawingml/2006/main">
              <a:ext uri="{FF2B5EF4-FFF2-40B4-BE49-F238E27FC236}">
                <a16:creationId xmlns:a16="http://schemas.microsoft.com/office/drawing/2014/main" id="{CC52B567-22E6-446C-A981-52B68FA4FF22}"/>
              </a:ext>
            </a:extLst>
          </p:cNvPr>
          <p:cNvSpPr>
            <a:spLocks xmlns:a="http://schemas.openxmlformats.org/drawingml/2006/main" noGrp="1"/>
          </p:cNvSpPr>
          <p:nvPr/>
        </p:nvSpPr>
        <p:spPr>
          <a:xfrm xmlns:a="http://schemas.openxmlformats.org/drawingml/2006/main">
            <a:off x="342900" y="166687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02124"/>
                </a:solidFill>
                <a:latin typeface="Google Sans Flex"/>
                <a:ea typeface="Google Sans Flex"/>
                <a:cs typeface="Google Sans Flex"/>
              </a:defRPr>
            </a:defPPr>
          </a:lstStyle>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Routing, DNS and TLS exercises on synthetic topology.</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One lab instance, ephemeral evidence and a shared approval credential.</a:t>
            </a:r>
          </a:p>
        </p:txBody>
      </p:sp>
      <p:sp>
        <p:nvSpPr>
          <p:cNvPr id="154" name="future-heading-1">
            <a:extLst xmlns:a="http://schemas.openxmlformats.org/drawingml/2006/main">
              <a:ext uri="{FF2B5EF4-FFF2-40B4-BE49-F238E27FC236}">
                <a16:creationId xmlns:a16="http://schemas.microsoft.com/office/drawing/2014/main" id="{45B42898-CB64-457B-B4A1-A809ADB64830}"/>
              </a:ext>
            </a:extLst>
          </p:cNvPr>
          <p:cNvSpPr>
            <a:spLocks xmlns:a="http://schemas.openxmlformats.org/drawingml/2006/main" noGrp="1"/>
          </p:cNvSpPr>
          <p:nvPr/>
        </p:nvSpPr>
        <p:spPr>
          <a:xfrm xmlns:a="http://schemas.openxmlformats.org/drawingml/2006/main">
            <a:off x="342900" y="2219325"/>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967D2"/>
                </a:solidFill>
                <a:latin typeface="Google Sans Flex"/>
                <a:ea typeface="Google Sans Flex"/>
                <a:cs typeface="Google Sans Flex"/>
              </a:defRPr>
            </a:defPPr>
          </a:lstStyle>
          <a:p xmlns:a="http://schemas.openxmlformats.org/drawingml/2006/main">
            <a:pPr>
              <a:defRPr sz="1575" b="1">
                <a:solidFill>
                  <a:srgbClr val="1967D2"/>
                </a:solidFill>
                <a:latin typeface="Google Sans Flex"/>
                <a:ea typeface="Google Sans Flex"/>
                <a:cs typeface="Google Sans Flex"/>
              </a:defRPr>
            </a:pPr>
            <a:r>
              <a:rPr sz="1575" b="1">
                <a:solidFill>
                  <a:srgbClr val="1967D2"/>
                </a:solidFill>
                <a:latin typeface="Google Sans Flex"/>
                <a:ea typeface="Google Sans Flex"/>
                <a:cs typeface="Google Sans Flex"/>
              </a:rPr>
              <a:t>Next: operator evaluation</a:t>
            </a:r>
          </a:p>
        </p:txBody>
      </p:sp>
      <p:sp>
        <p:nvSpPr>
          <p:cNvPr id="155" name="future-body-1">
            <a:extLst xmlns:a="http://schemas.openxmlformats.org/drawingml/2006/main">
              <a:ext uri="{FF2B5EF4-FFF2-40B4-BE49-F238E27FC236}">
                <a16:creationId xmlns:a16="http://schemas.microsoft.com/office/drawing/2014/main" id="{FA971F3D-38CC-4CB1-9936-C58451F90070}"/>
              </a:ext>
            </a:extLst>
          </p:cNvPr>
          <p:cNvSpPr>
            <a:spLocks xmlns:a="http://schemas.openxmlformats.org/drawingml/2006/main" noGrp="1"/>
          </p:cNvSpPr>
          <p:nvPr/>
        </p:nvSpPr>
        <p:spPr>
          <a:xfrm xmlns:a="http://schemas.openxmlformats.org/drawingml/2006/main">
            <a:off x="342900" y="2533650"/>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02124"/>
                </a:solidFill>
                <a:latin typeface="Google Sans Flex"/>
                <a:ea typeface="Google Sans Flex"/>
                <a:cs typeface="Google Sans Flex"/>
              </a:defRPr>
            </a:defPPr>
          </a:lstStyle>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Compare investigation and review effort against a baseline.</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Measure escalation, rollback outcomes and decision quality.</a:t>
            </a:r>
          </a:p>
        </p:txBody>
      </p:sp>
      <p:sp>
        <p:nvSpPr>
          <p:cNvPr id="156" name="future-heading-2">
            <a:extLst xmlns:a="http://schemas.openxmlformats.org/drawingml/2006/main">
              <a:ext uri="{FF2B5EF4-FFF2-40B4-BE49-F238E27FC236}">
                <a16:creationId xmlns:a16="http://schemas.microsoft.com/office/drawing/2014/main" id="{EB9F3668-853A-4A0A-9DE2-33BE539E9996}"/>
              </a:ext>
            </a:extLst>
          </p:cNvPr>
          <p:cNvSpPr>
            <a:spLocks xmlns:a="http://schemas.openxmlformats.org/drawingml/2006/main" noGrp="1"/>
          </p:cNvSpPr>
          <p:nvPr/>
        </p:nvSpPr>
        <p:spPr>
          <a:xfrm xmlns:a="http://schemas.openxmlformats.org/drawingml/2006/main">
            <a:off x="342900" y="3086100"/>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967D2"/>
                </a:solidFill>
                <a:latin typeface="Google Sans Flex"/>
                <a:ea typeface="Google Sans Flex"/>
                <a:cs typeface="Google Sans Flex"/>
              </a:defRPr>
            </a:defPPr>
          </a:lstStyle>
          <a:p xmlns:a="http://schemas.openxmlformats.org/drawingml/2006/main">
            <a:pPr>
              <a:defRPr sz="1575" b="1">
                <a:solidFill>
                  <a:srgbClr val="1967D2"/>
                </a:solidFill>
                <a:latin typeface="Google Sans Flex"/>
                <a:ea typeface="Google Sans Flex"/>
                <a:cs typeface="Google Sans Flex"/>
              </a:defRPr>
            </a:pPr>
            <a:r>
              <a:rPr sz="1575" b="1">
                <a:solidFill>
                  <a:srgbClr val="1967D2"/>
                </a:solidFill>
                <a:latin typeface="Google Sans Flex"/>
                <a:ea typeface="Google Sans Flex"/>
                <a:cs typeface="Google Sans Flex"/>
              </a:rPr>
              <a:t>Then: a read-only shadow pilot</a:t>
            </a:r>
          </a:p>
        </p:txBody>
      </p:sp>
      <p:sp>
        <p:nvSpPr>
          <p:cNvPr id="157" name="future-body-2">
            <a:extLst xmlns:a="http://schemas.openxmlformats.org/drawingml/2006/main">
              <a:ext uri="{FF2B5EF4-FFF2-40B4-BE49-F238E27FC236}">
                <a16:creationId xmlns:a16="http://schemas.microsoft.com/office/drawing/2014/main" id="{4A7DF1C3-3E6D-413B-BE47-27D44FAD0B8F}"/>
              </a:ext>
            </a:extLst>
          </p:cNvPr>
          <p:cNvSpPr>
            <a:spLocks xmlns:a="http://schemas.openxmlformats.org/drawingml/2006/main" noGrp="1"/>
          </p:cNvSpPr>
          <p:nvPr/>
        </p:nvSpPr>
        <p:spPr>
          <a:xfrm xmlns:a="http://schemas.openxmlformats.org/drawingml/2006/main">
            <a:off x="342900" y="34004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02124"/>
                </a:solidFill>
                <a:latin typeface="Google Sans Flex"/>
                <a:ea typeface="Google Sans Flex"/>
                <a:cs typeface="Google Sans Flex"/>
              </a:defRPr>
            </a:defPPr>
          </a:lstStyle>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Validate network adapters and twin coverage against real environments</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before enabling operational change.</a:t>
            </a:r>
          </a:p>
        </p:txBody>
      </p:sp>
      <p:sp>
        <p:nvSpPr>
          <p:cNvPr id="158" name="future-heading-3">
            <a:extLst xmlns:a="http://schemas.openxmlformats.org/drawingml/2006/main">
              <a:ext uri="{FF2B5EF4-FFF2-40B4-BE49-F238E27FC236}">
                <a16:creationId xmlns:a16="http://schemas.microsoft.com/office/drawing/2014/main" id="{A4E95562-79B3-4C40-BAB4-1248C91BB759}"/>
              </a:ext>
            </a:extLst>
          </p:cNvPr>
          <p:cNvSpPr>
            <a:spLocks xmlns:a="http://schemas.openxmlformats.org/drawingml/2006/main" noGrp="1"/>
          </p:cNvSpPr>
          <p:nvPr/>
        </p:nvSpPr>
        <p:spPr>
          <a:xfrm xmlns:a="http://schemas.openxmlformats.org/drawingml/2006/main">
            <a:off x="342900" y="3952875"/>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967D2"/>
                </a:solidFill>
                <a:latin typeface="Google Sans Flex"/>
                <a:ea typeface="Google Sans Flex"/>
                <a:cs typeface="Google Sans Flex"/>
              </a:defRPr>
            </a:defPPr>
          </a:lstStyle>
          <a:p xmlns:a="http://schemas.openxmlformats.org/drawingml/2006/main">
            <a:pPr>
              <a:defRPr sz="1575" b="1">
                <a:solidFill>
                  <a:srgbClr val="1967D2"/>
                </a:solidFill>
                <a:latin typeface="Google Sans Flex"/>
                <a:ea typeface="Google Sans Flex"/>
                <a:cs typeface="Google Sans Flex"/>
              </a:defRPr>
            </a:pPr>
            <a:r>
              <a:rPr sz="1575" b="1">
                <a:solidFill>
                  <a:srgbClr val="1967D2"/>
                </a:solidFill>
                <a:latin typeface="Google Sans Flex"/>
                <a:ea typeface="Google Sans Flex"/>
                <a:cs typeface="Google Sans Flex"/>
              </a:rPr>
              <a:t>For wider deployment</a:t>
            </a:r>
          </a:p>
        </p:txBody>
      </p:sp>
      <p:sp>
        <p:nvSpPr>
          <p:cNvPr id="159" name="future-body-3">
            <a:extLst xmlns:a="http://schemas.openxmlformats.org/drawingml/2006/main">
              <a:ext uri="{FF2B5EF4-FFF2-40B4-BE49-F238E27FC236}">
                <a16:creationId xmlns:a16="http://schemas.microsoft.com/office/drawing/2014/main" id="{52025D76-AB4B-44D2-AA47-27B8D18E9C46}"/>
              </a:ext>
            </a:extLst>
          </p:cNvPr>
          <p:cNvSpPr>
            <a:spLocks xmlns:a="http://schemas.openxmlformats.org/drawingml/2006/main" noGrp="1"/>
          </p:cNvSpPr>
          <p:nvPr/>
        </p:nvSpPr>
        <p:spPr>
          <a:xfrm xmlns:a="http://schemas.openxmlformats.org/drawingml/2006/main">
            <a:off x="342900" y="4267200"/>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02124"/>
                </a:solidFill>
                <a:latin typeface="Google Sans Flex"/>
                <a:ea typeface="Google Sans Flex"/>
                <a:cs typeface="Google Sans Flex"/>
              </a:defRPr>
            </a:defPPr>
          </a:lstStyle>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Durable evidence storage, individual identity, per-target isolation,</a:t>
            </a:r>
          </a:p>
          <a:p xmlns:a="http://schemas.openxmlformats.org/drawingml/2006/main">
            <a:pPr>
              <a:defRPr sz="1425" b="0">
                <a:solidFill>
                  <a:srgbClr val="202124"/>
                </a:solidFill>
                <a:latin typeface="Google Sans Flex"/>
                <a:ea typeface="Google Sans Flex"/>
                <a:cs typeface="Google Sans Flex"/>
              </a:defRPr>
            </a:pPr>
            <a:r>
              <a:rPr sz="1425" b="0">
                <a:solidFill>
                  <a:srgbClr val="202124"/>
                </a:solidFill>
                <a:latin typeface="Google Sans Flex"/>
                <a:ea typeface="Google Sans Flex"/>
                <a:cs typeface="Google Sans Flex"/>
              </a:rPr>
              <a:t>owned monitoring and tested recovery are required.</a:t>
            </a:r>
          </a:p>
        </p:txBody>
      </p:sp>
    </p:spTree>
    <p:extLst>
      <p:ext uri="{BB962C8B-B14F-4D97-AF65-F5344CB8AC3E}">
        <p14:creationId xmlns:p14="http://schemas.microsoft.com/office/powerpoint/2010/main" val="1694883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CCC2C057-415D-42C2-BEAB-B1532D81B0D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5854d012ba4461f">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FA678E1E-220B-4D82-986B-72E34A1FFDCC}"/>
              </a:ext>
            </a:extLst>
          </p:cNvPr>
          <p:cNvPicPr>
            <a:picLocks xmlns:a="http://schemas.openxmlformats.org/drawingml/2006/main" noChangeAspect="1"/>
          </p:cNvPicPr>
          <p:nvPr/>
        </p:nvPicPr>
        <p:blipFill>
          <a:blip xmlns:r="http://schemas.openxmlformats.org/officeDocument/2006/relationships" xmlns:a="http://schemas.openxmlformats.org/drawingml/2006/main" r:embed="R9964ebd679b548c6">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25AFBF04-13F2-4C08-80D0-133DBA48FB8D}"/>
              </a:ext>
            </a:extLst>
          </p:cNvPr>
          <p:cNvSpPr>
            <a:spLocks xmlns:a="http://schemas.openxmlformats.org/drawingml/2006/main" noGrp="1"/>
          </p:cNvSpPr>
          <p:nvPr/>
        </p:nvSpPr>
        <p:spPr>
          <a:xfrm xmlns:a="http://schemas.openxmlformats.org/drawingml/2006/main">
            <a:off x="0" y="5086350"/>
            <a:ext cx="9144000" cy="5715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935ECD52-E7A3-4C64-83D0-936EE39AC063}"/>
              </a:ext>
            </a:extLst>
          </p:cNvPr>
          <p:cNvSpPr>
            <a:spLocks xmlns:a="http://schemas.openxmlformats.org/drawingml/2006/main" noGrp="1"/>
          </p:cNvSpPr>
          <p:nvPr/>
        </p:nvSpPr>
        <p:spPr>
          <a:xfrm xmlns:a="http://schemas.openxmlformats.org/drawingml/2006/main">
            <a:off x="342900" y="752475"/>
            <a:ext cx="84582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1950">
                <a:solidFill>
                  <a:srgbClr val="000000"/>
                </a:solidFill>
                <a:latin typeface="Google Sans Flex Medium"/>
                <a:ea typeface="Google Sans Flex Medium"/>
                <a:cs typeface="Google Sans Flex Medium"/>
              </a:defRPr>
            </a:defPPr>
          </a:lstStyle>
          <a:p xmlns:a="http://schemas.openxmlformats.org/drawingml/2006/main">
            <a:pPr marL="0" lvl="0" indent="0" algn="l">
              <a:spcBef>
                <a:spcPts val="0"/>
              </a:spcBef>
              <a:spcAft>
                <a:spcPts val="0"/>
              </a:spcAft>
              <a:buNone/>
              <a:defRPr sz="1950">
                <a:solidFill>
                  <a:srgbClr val="000000"/>
                </a:solidFill>
                <a:latin typeface="Google Sans Flex Medium"/>
                <a:ea typeface="Google Sans Flex Medium"/>
                <a:cs typeface="Google Sans Flex Medium"/>
              </a:defRPr>
            </a:pPr>
            <a:r>
              <a:rPr sz="1950">
                <a:solidFill>
                  <a:srgbClr val="000000"/>
                </a:solidFill>
                <a:latin typeface="Google Sans Flex Medium"/>
                <a:ea typeface="Google Sans Flex Medium"/>
                <a:cs typeface="Google Sans Flex Medium"/>
              </a:rPr>
              <a:t>Public repository, demo video and final product</a:t>
            </a:r>
            <a:endParaRPr sz="1600">
              <a:latin typeface="Google Sans Flex Medium"/>
              <a:ea typeface="Google Sans Flex Medium"/>
              <a:cs typeface="Google Sans Flex Medium"/>
            </a:endParaRPr>
          </a:p>
        </p:txBody>
      </p:sp>
      <p:sp>
        <p:nvSpPr>
          <p:cNvPr id="160" name="GitHub public repository label">
            <a:extLst xmlns:a="http://schemas.openxmlformats.org/drawingml/2006/main">
              <a:ext uri="{FF2B5EF4-FFF2-40B4-BE49-F238E27FC236}">
                <a16:creationId xmlns:a16="http://schemas.microsoft.com/office/drawing/2014/main" id="{EA2810B5-7E02-4446-AF30-D9EEE8B5F50B}"/>
              </a:ext>
            </a:extLst>
          </p:cNvPr>
          <p:cNvSpPr>
            <a:spLocks xmlns:a="http://schemas.openxmlformats.org/drawingml/2006/main" noGrp="1"/>
          </p:cNvSpPr>
          <p:nvPr/>
        </p:nvSpPr>
        <p:spPr>
          <a:xfrm xmlns:a="http://schemas.openxmlformats.org/drawingml/2006/main">
            <a:off x="342900" y="1362075"/>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02124"/>
                </a:solidFill>
                <a:latin typeface="Google Sans Flex"/>
                <a:ea typeface="Google Sans Flex"/>
                <a:cs typeface="Google Sans Flex"/>
              </a:defRPr>
            </a:defPPr>
          </a:lstStyle>
          <a:p xmlns:a="http://schemas.openxmlformats.org/drawingml/2006/main">
            <a:pPr>
              <a:defRPr sz="1500" b="1">
                <a:solidFill>
                  <a:srgbClr val="202124"/>
                </a:solidFill>
                <a:latin typeface="Google Sans Flex"/>
                <a:ea typeface="Google Sans Flex"/>
                <a:cs typeface="Google Sans Flex"/>
              </a:defRPr>
            </a:pPr>
            <a:r>
              <a:rPr sz="1500" b="1">
                <a:solidFill>
                  <a:srgbClr val="202124"/>
                </a:solidFill>
                <a:latin typeface="Google Sans Flex"/>
                <a:ea typeface="Google Sans Flex"/>
                <a:cs typeface="Google Sans Flex"/>
              </a:rPr>
              <a:t>GitHub public repository</a:t>
            </a:r>
          </a:p>
        </p:txBody>
      </p:sp>
      <p:sp>
        <p:nvSpPr>
          <p:cNvPr id="161" name="GitHub public repository URL">
            <a:extLst xmlns:a="http://schemas.openxmlformats.org/drawingml/2006/main">
              <a:ext uri="{FF2B5EF4-FFF2-40B4-BE49-F238E27FC236}">
                <a16:creationId xmlns:a16="http://schemas.microsoft.com/office/drawing/2014/main" id="{EA64D02E-11E0-40EF-95AC-6371454F4D3D}"/>
              </a:ext>
            </a:extLst>
          </p:cNvPr>
          <p:cNvSpPr>
            <a:spLocks xmlns:a="http://schemas.openxmlformats.org/drawingml/2006/main" noGrp="1"/>
          </p:cNvSpPr>
          <p:nvPr/>
        </p:nvSpPr>
        <p:spPr>
          <a:xfrm xmlns:a="http://schemas.openxmlformats.org/drawingml/2006/main">
            <a:off x="342900" y="1657350"/>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1967D2"/>
                </a:solidFill>
                <a:latin typeface="Google Sans Flex"/>
                <a:ea typeface="Google Sans Flex"/>
                <a:cs typeface="Google Sans Flex"/>
              </a:defRPr>
            </a:defPPr>
          </a:lstStyle>
          <a:p xmlns:a="http://schemas.openxmlformats.org/drawingml/2006/main">
            <a:pPr>
              <a:defRPr sz="1350" b="0">
                <a:solidFill>
                  <a:srgbClr val="1967D2"/>
                </a:solidFill>
                <a:latin typeface="Google Sans Flex"/>
                <a:ea typeface="Google Sans Flex"/>
                <a:cs typeface="Google Sans Flex"/>
              </a:defRPr>
            </a:pPr>
            <a:r>
              <a:rPr sz="1350" b="0">
                <a:solidFill>
                  <a:srgbClr val="1967D2"/>
                </a:solidFill>
                <a:latin typeface="Google Sans Flex"/>
                <a:ea typeface="Google Sans Flex"/>
                <a:cs typeface="Google Sans Flex"/>
                <a:hlinkClick xmlns:r="http://schemas.openxmlformats.org/officeDocument/2006/relationships" r:id="Rd6049b4cc6304a15"/>
              </a:rPr>
              <a:t>https://github.com/prabhakarcs786/twinops</a:t>
            </a:r>
          </a:p>
        </p:txBody>
      </p:sp>
      <p:sp>
        <p:nvSpPr>
          <p:cNvPr id="162" name="Demo video label">
            <a:extLst xmlns:a="http://schemas.openxmlformats.org/drawingml/2006/main">
              <a:ext uri="{FF2B5EF4-FFF2-40B4-BE49-F238E27FC236}">
                <a16:creationId xmlns:a16="http://schemas.microsoft.com/office/drawing/2014/main" id="{DB7BF42A-876D-4BBA-97AF-968CBD0E02D2}"/>
              </a:ext>
            </a:extLst>
          </p:cNvPr>
          <p:cNvSpPr>
            <a:spLocks xmlns:a="http://schemas.openxmlformats.org/drawingml/2006/main" noGrp="1"/>
          </p:cNvSpPr>
          <p:nvPr/>
        </p:nvSpPr>
        <p:spPr>
          <a:xfrm xmlns:a="http://schemas.openxmlformats.org/drawingml/2006/main">
            <a:off x="342900" y="21145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02124"/>
                </a:solidFill>
                <a:latin typeface="Google Sans Flex"/>
                <a:ea typeface="Google Sans Flex"/>
                <a:cs typeface="Google Sans Flex"/>
              </a:defRPr>
            </a:defPPr>
          </a:lstStyle>
          <a:p xmlns:a="http://schemas.openxmlformats.org/drawingml/2006/main">
            <a:pPr>
              <a:defRPr sz="1500" b="1">
                <a:solidFill>
                  <a:srgbClr val="202124"/>
                </a:solidFill>
                <a:latin typeface="Google Sans Flex"/>
                <a:ea typeface="Google Sans Flex"/>
                <a:cs typeface="Google Sans Flex"/>
              </a:defRPr>
            </a:pPr>
            <a:r>
              <a:rPr sz="1500" b="1">
                <a:solidFill>
                  <a:srgbClr val="202124"/>
                </a:solidFill>
                <a:latin typeface="Google Sans Flex"/>
                <a:ea typeface="Google Sans Flex"/>
                <a:cs typeface="Google Sans Flex"/>
              </a:rPr>
              <a:t>Demo video</a:t>
            </a:r>
          </a:p>
        </p:txBody>
      </p:sp>
      <p:sp>
        <p:nvSpPr>
          <p:cNvPr id="163" name="Demo video URL">
            <a:extLst xmlns:a="http://schemas.openxmlformats.org/drawingml/2006/main">
              <a:ext uri="{FF2B5EF4-FFF2-40B4-BE49-F238E27FC236}">
                <a16:creationId xmlns:a16="http://schemas.microsoft.com/office/drawing/2014/main" id="{F80E34D9-EAA9-4FF8-A37F-223B01B833D7}"/>
              </a:ext>
            </a:extLst>
          </p:cNvPr>
          <p:cNvSpPr>
            <a:spLocks xmlns:a="http://schemas.openxmlformats.org/drawingml/2006/main" noGrp="1"/>
          </p:cNvSpPr>
          <p:nvPr/>
        </p:nvSpPr>
        <p:spPr>
          <a:xfrm xmlns:a="http://schemas.openxmlformats.org/drawingml/2006/main">
            <a:off x="342900" y="2409825"/>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1967D2"/>
                </a:solidFill>
                <a:latin typeface="Google Sans Flex"/>
                <a:ea typeface="Google Sans Flex"/>
                <a:cs typeface="Google Sans Flex"/>
              </a:defRPr>
            </a:defPPr>
          </a:lstStyle>
          <a:p xmlns:a="http://schemas.openxmlformats.org/drawingml/2006/main">
            <a:pPr>
              <a:defRPr sz="1350" b="0">
                <a:solidFill>
                  <a:srgbClr val="1967D2"/>
                </a:solidFill>
                <a:latin typeface="Google Sans Flex"/>
                <a:ea typeface="Google Sans Flex"/>
                <a:cs typeface="Google Sans Flex"/>
              </a:defRPr>
            </a:pPr>
            <a:r>
              <a:rPr sz="1350" b="0">
                <a:solidFill>
                  <a:srgbClr val="1967D2"/>
                </a:solidFill>
                <a:latin typeface="Google Sans Flex"/>
                <a:ea typeface="Google Sans Flex"/>
                <a:cs typeface="Google Sans Flex"/>
                <a:hlinkClick xmlns:r="http://schemas.openxmlformats.org/officeDocument/2006/relationships" r:id="R990a349f3828444f"/>
              </a:rPr>
              <a:t>https://youtu.be/0LjDHiUBy0Y</a:t>
            </a:r>
          </a:p>
        </p:txBody>
      </p:sp>
      <p:sp>
        <p:nvSpPr>
          <p:cNvPr id="164" name="Final product: TwinOps workbench label">
            <a:extLst xmlns:a="http://schemas.openxmlformats.org/drawingml/2006/main">
              <a:ext uri="{FF2B5EF4-FFF2-40B4-BE49-F238E27FC236}">
                <a16:creationId xmlns:a16="http://schemas.microsoft.com/office/drawing/2014/main" id="{F4C456D9-32B4-4EF7-BFA1-D6E14E2AEDE7}"/>
              </a:ext>
            </a:extLst>
          </p:cNvPr>
          <p:cNvSpPr>
            <a:spLocks xmlns:a="http://schemas.openxmlformats.org/drawingml/2006/main" noGrp="1"/>
          </p:cNvSpPr>
          <p:nvPr/>
        </p:nvSpPr>
        <p:spPr>
          <a:xfrm xmlns:a="http://schemas.openxmlformats.org/drawingml/2006/main">
            <a:off x="342900" y="2867025"/>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02124"/>
                </a:solidFill>
                <a:latin typeface="Google Sans Flex"/>
                <a:ea typeface="Google Sans Flex"/>
                <a:cs typeface="Google Sans Flex"/>
              </a:defRPr>
            </a:defPPr>
          </a:lstStyle>
          <a:p xmlns:a="http://schemas.openxmlformats.org/drawingml/2006/main">
            <a:pPr>
              <a:defRPr sz="1500" b="1">
                <a:solidFill>
                  <a:srgbClr val="202124"/>
                </a:solidFill>
                <a:latin typeface="Google Sans Flex"/>
                <a:ea typeface="Google Sans Flex"/>
                <a:cs typeface="Google Sans Flex"/>
              </a:defRPr>
            </a:pPr>
            <a:r>
              <a:rPr sz="1500" b="1">
                <a:solidFill>
                  <a:srgbClr val="202124"/>
                </a:solidFill>
                <a:latin typeface="Google Sans Flex"/>
                <a:ea typeface="Google Sans Flex"/>
                <a:cs typeface="Google Sans Flex"/>
              </a:rPr>
              <a:t>Final product: TwinOps workbench</a:t>
            </a:r>
          </a:p>
        </p:txBody>
      </p:sp>
      <p:sp>
        <p:nvSpPr>
          <p:cNvPr id="165" name="Final product: TwinOps workbench URL">
            <a:extLst xmlns:a="http://schemas.openxmlformats.org/drawingml/2006/main">
              <a:ext uri="{FF2B5EF4-FFF2-40B4-BE49-F238E27FC236}">
                <a16:creationId xmlns:a16="http://schemas.microsoft.com/office/drawing/2014/main" id="{24333C1B-66DA-4E6D-9F99-EBE189EDDCFE}"/>
              </a:ext>
            </a:extLst>
          </p:cNvPr>
          <p:cNvSpPr>
            <a:spLocks xmlns:a="http://schemas.openxmlformats.org/drawingml/2006/main" noGrp="1"/>
          </p:cNvSpPr>
          <p:nvPr/>
        </p:nvSpPr>
        <p:spPr>
          <a:xfrm xmlns:a="http://schemas.openxmlformats.org/drawingml/2006/main">
            <a:off x="342900" y="3162300"/>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1967D2"/>
                </a:solidFill>
                <a:latin typeface="Google Sans Flex"/>
                <a:ea typeface="Google Sans Flex"/>
                <a:cs typeface="Google Sans Flex"/>
              </a:defRPr>
            </a:defPPr>
          </a:lstStyle>
          <a:p xmlns:a="http://schemas.openxmlformats.org/drawingml/2006/main">
            <a:pPr>
              <a:defRPr sz="1350" b="0">
                <a:solidFill>
                  <a:srgbClr val="1967D2"/>
                </a:solidFill>
                <a:latin typeface="Google Sans Flex"/>
                <a:ea typeface="Google Sans Flex"/>
                <a:cs typeface="Google Sans Flex"/>
              </a:defRPr>
            </a:pPr>
            <a:r>
              <a:rPr sz="1350" b="0">
                <a:solidFill>
                  <a:srgbClr val="1967D2"/>
                </a:solidFill>
                <a:latin typeface="Google Sans Flex"/>
                <a:ea typeface="Google Sans Flex"/>
                <a:cs typeface="Google Sans Flex"/>
                <a:hlinkClick xmlns:r="http://schemas.openxmlformats.org/officeDocument/2006/relationships" r:id="R10b4bd3dbc824b2a"/>
              </a:rPr>
              <a:t>https://twinops-live-705406130795.europe-west1.run.app/workbench</a:t>
            </a:r>
          </a:p>
        </p:txBody>
      </p:sp>
      <p:sp>
        <p:nvSpPr>
          <p:cNvPr id="166" name="Connected application: Metro Network label">
            <a:extLst xmlns:a="http://schemas.openxmlformats.org/drawingml/2006/main">
              <a:ext uri="{FF2B5EF4-FFF2-40B4-BE49-F238E27FC236}">
                <a16:creationId xmlns:a16="http://schemas.microsoft.com/office/drawing/2014/main" id="{DD06E0AB-068F-4980-BC3B-7F7FCD0D44D0}"/>
              </a:ext>
            </a:extLst>
          </p:cNvPr>
          <p:cNvSpPr>
            <a:spLocks xmlns:a="http://schemas.openxmlformats.org/drawingml/2006/main" noGrp="1"/>
          </p:cNvSpPr>
          <p:nvPr/>
        </p:nvSpPr>
        <p:spPr>
          <a:xfrm xmlns:a="http://schemas.openxmlformats.org/drawingml/2006/main">
            <a:off x="342900" y="361950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202124"/>
                </a:solidFill>
                <a:latin typeface="Google Sans Flex"/>
                <a:ea typeface="Google Sans Flex"/>
                <a:cs typeface="Google Sans Flex"/>
              </a:defRPr>
            </a:defPPr>
          </a:lstStyle>
          <a:p xmlns:a="http://schemas.openxmlformats.org/drawingml/2006/main">
            <a:pPr>
              <a:defRPr sz="1500" b="1">
                <a:solidFill>
                  <a:srgbClr val="202124"/>
                </a:solidFill>
                <a:latin typeface="Google Sans Flex"/>
                <a:ea typeface="Google Sans Flex"/>
                <a:cs typeface="Google Sans Flex"/>
              </a:defRPr>
            </a:pPr>
            <a:r>
              <a:rPr sz="1500" b="1">
                <a:solidFill>
                  <a:srgbClr val="202124"/>
                </a:solidFill>
                <a:latin typeface="Google Sans Flex"/>
                <a:ea typeface="Google Sans Flex"/>
                <a:cs typeface="Google Sans Flex"/>
              </a:rPr>
              <a:t>Connected application: Metro Network</a:t>
            </a:r>
          </a:p>
        </p:txBody>
      </p:sp>
      <p:sp>
        <p:nvSpPr>
          <p:cNvPr id="167" name="Connected application: Metro Network URL">
            <a:extLst xmlns:a="http://schemas.openxmlformats.org/drawingml/2006/main">
              <a:ext uri="{FF2B5EF4-FFF2-40B4-BE49-F238E27FC236}">
                <a16:creationId xmlns:a16="http://schemas.microsoft.com/office/drawing/2014/main" id="{3D293376-90DF-464C-AFDC-7D0DF120644B}"/>
              </a:ext>
            </a:extLst>
          </p:cNvPr>
          <p:cNvSpPr>
            <a:spLocks xmlns:a="http://schemas.openxmlformats.org/drawingml/2006/main" noGrp="1"/>
          </p:cNvSpPr>
          <p:nvPr/>
        </p:nvSpPr>
        <p:spPr>
          <a:xfrm xmlns:a="http://schemas.openxmlformats.org/drawingml/2006/main">
            <a:off x="342900" y="3914775"/>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1967D2"/>
                </a:solidFill>
                <a:latin typeface="Google Sans Flex"/>
                <a:ea typeface="Google Sans Flex"/>
                <a:cs typeface="Google Sans Flex"/>
              </a:defRPr>
            </a:defPPr>
          </a:lstStyle>
          <a:p xmlns:a="http://schemas.openxmlformats.org/drawingml/2006/main">
            <a:pPr>
              <a:defRPr sz="1350" b="0">
                <a:solidFill>
                  <a:srgbClr val="1967D2"/>
                </a:solidFill>
                <a:latin typeface="Google Sans Flex"/>
                <a:ea typeface="Google Sans Flex"/>
                <a:cs typeface="Google Sans Flex"/>
              </a:defRPr>
            </a:pPr>
            <a:r>
              <a:rPr sz="1350" b="0">
                <a:solidFill>
                  <a:srgbClr val="1967D2"/>
                </a:solidFill>
                <a:latin typeface="Google Sans Flex"/>
                <a:ea typeface="Google Sans Flex"/>
                <a:cs typeface="Google Sans Flex"/>
                <a:hlinkClick xmlns:r="http://schemas.openxmlformats.org/officeDocument/2006/relationships" r:id="Rbb4eba4bc19b4c98"/>
              </a:rPr>
              <a:t>https://twinops-live-705406130795.europe-west1.run.app/metro/</a:t>
            </a:r>
          </a:p>
        </p:txBody>
      </p:sp>
      <p:sp>
        <p:nvSpPr>
          <p:cNvPr id="168" name="judge-guide">
            <a:extLst xmlns:a="http://schemas.openxmlformats.org/drawingml/2006/main">
              <a:ext uri="{FF2B5EF4-FFF2-40B4-BE49-F238E27FC236}">
                <a16:creationId xmlns:a16="http://schemas.microsoft.com/office/drawing/2014/main" id="{862C05BA-66E2-4204-ADE9-3C786662D78F}"/>
              </a:ext>
            </a:extLst>
          </p:cNvPr>
          <p:cNvSpPr>
            <a:spLocks xmlns:a="http://schemas.openxmlformats.org/drawingml/2006/main" noGrp="1"/>
          </p:cNvSpPr>
          <p:nvPr/>
        </p:nvSpPr>
        <p:spPr>
          <a:xfrm xmlns:a="http://schemas.openxmlformats.org/drawingml/2006/main">
            <a:off x="342900" y="4562475"/>
            <a:ext cx="845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1967D2"/>
                </a:solidFill>
                <a:latin typeface="Google Sans Flex"/>
                <a:ea typeface="Google Sans Flex"/>
                <a:cs typeface="Google Sans Flex"/>
              </a:defRPr>
            </a:defPPr>
          </a:lstStyle>
          <a:p xmlns:a="http://schemas.openxmlformats.org/drawingml/2006/main">
            <a:pPr>
              <a:defRPr sz="1350" b="0">
                <a:solidFill>
                  <a:srgbClr val="1967D2"/>
                </a:solidFill>
                <a:latin typeface="Google Sans Flex"/>
                <a:ea typeface="Google Sans Flex"/>
                <a:cs typeface="Google Sans Flex"/>
              </a:defRPr>
            </a:pPr>
            <a:r>
              <a:rPr sz="1350" b="0">
                <a:solidFill>
                  <a:srgbClr val="1967D2"/>
                </a:solidFill>
                <a:latin typeface="Google Sans Flex"/>
                <a:ea typeface="Google Sans Flex"/>
                <a:cs typeface="Google Sans Flex"/>
                <a:hlinkClick xmlns:r="http://schemas.openxmlformats.org/officeDocument/2006/relationships" r:id="R80a21f21ddbe4bdc"/>
              </a:rPr>
              <a:t>Review access and walkthrough: GitHub / docs / JUDGE_GUIDE.md</a:t>
            </a:r>
          </a:p>
        </p:txBody>
      </p:sp>
    </p:spTree>
    <p:extLst>
      <p:ext uri="{BB962C8B-B14F-4D97-AF65-F5344CB8AC3E}">
        <p14:creationId xmlns:p14="http://schemas.microsoft.com/office/powerpoint/2010/main" val="1200985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71" name="Google Shape;171;p28">
            <a:extLst xmlns:a="http://schemas.openxmlformats.org/drawingml/2006/main">
              <a:ext uri="{FF2B5EF4-FFF2-40B4-BE49-F238E27FC236}">
                <a16:creationId xmlns:a16="http://schemas.microsoft.com/office/drawing/2014/main" id="{058C9D23-1987-4C68-8067-1556757848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6bd39a764449fe">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72" name="Google Shape;172;p28">
            <a:extLst xmlns:a="http://schemas.openxmlformats.org/drawingml/2006/main">
              <a:ext uri="{FF2B5EF4-FFF2-40B4-BE49-F238E27FC236}">
                <a16:creationId xmlns:a16="http://schemas.microsoft.com/office/drawing/2014/main" id="{33B0EB3B-1D8F-4842-8096-12DCDAB1DC11}"/>
              </a:ext>
            </a:extLst>
          </p:cNvPr>
          <p:cNvPicPr>
            <a:picLocks xmlns:a="http://schemas.openxmlformats.org/drawingml/2006/main" noChangeAspect="1"/>
          </p:cNvPicPr>
          <p:nvPr/>
        </p:nvPicPr>
        <p:blipFill>
          <a:blip xmlns:r="http://schemas.openxmlformats.org/officeDocument/2006/relationships" xmlns:a="http://schemas.openxmlformats.org/drawingml/2006/main" r:embed="R7017c2dc29264fd3">
            <a:alphaModFix/>
          </a:blip>
          <a:stretch xmlns:a="http://schemas.openxmlformats.org/drawingml/2006/main">
            <a:fillRect l="0" t="0" r="0" b="0"/>
          </a:stretch>
        </p:blipFill>
        <p:spPr>
          <a:xfrm xmlns:a="http://schemas.openxmlformats.org/drawingml/2006/main">
            <a:off x="0" y="0"/>
            <a:ext cx="9144000" cy="514351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788540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2026-10-16T15:09:06.0920000Z</dcterms:created>
  <dcterms:modified xsi:type="dcterms:W3CDTF">2026-10-16T15:09:06.0920000Z</dcterms:modified>
</coreProperties>
</file>