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c74e638a824161" /><Relationship Type="http://schemas.openxmlformats.org/officeDocument/2006/relationships/extended-properties" Target="/docProps/app.xml" Id="R84412969bcc74b2b" /><Relationship Type="http://schemas.openxmlformats.org/officeDocument/2006/relationships/officeDocument" Target="/ppt/presentation.xml" Id="R3e39102f1308444a"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d220d165f9f54360"/>
  </p:sldMasterIdLst>
  <p:notesMasterIdLst>
    <p:notesMasterId xmlns:r="http://schemas.openxmlformats.org/officeDocument/2006/relationships" r:id="Rc5efca6e8fc54679"/>
  </p:notesMasterIdLst>
  <p:sldIdLst>
    <p:sldId xmlns:r="http://schemas.openxmlformats.org/officeDocument/2006/relationships" id="256" r:id="R2a033456d3064a63"/>
    <p:sldId xmlns:r="http://schemas.openxmlformats.org/officeDocument/2006/relationships" id="257" r:id="Rf32ac982f0884237"/>
    <p:sldId xmlns:r="http://schemas.openxmlformats.org/officeDocument/2006/relationships" id="258" r:id="R283f6e7eaaba4a76"/>
    <p:sldId xmlns:r="http://schemas.openxmlformats.org/officeDocument/2006/relationships" id="259" r:id="R84851f76f5cc454d"/>
    <p:sldId xmlns:r="http://schemas.openxmlformats.org/officeDocument/2006/relationships" id="260" r:id="R93553c76a5b34dc4"/>
    <p:sldId xmlns:r="http://schemas.openxmlformats.org/officeDocument/2006/relationships" id="261" r:id="Rd75c9087089c431b"/>
    <p:sldId xmlns:r="http://schemas.openxmlformats.org/officeDocument/2006/relationships" id="262" r:id="Rdae04151b5304efc"/>
    <p:sldId xmlns:r="http://schemas.openxmlformats.org/officeDocument/2006/relationships" id="263" r:id="Rc7bf3f23a25d4212"/>
    <p:sldId xmlns:r="http://schemas.openxmlformats.org/officeDocument/2006/relationships" id="264" r:id="R0420c5d66c464bb2"/>
    <p:sldId xmlns:r="http://schemas.openxmlformats.org/officeDocument/2006/relationships" id="265" r:id="Rd694763534784954"/>
    <p:sldId xmlns:r="http://schemas.openxmlformats.org/officeDocument/2006/relationships" id="266" r:id="R4ecc74d7664045fa"/>
    <p:sldId xmlns:r="http://schemas.openxmlformats.org/officeDocument/2006/relationships" id="267" r:id="R484d6213a7bf47e9"/>
    <p:sldId xmlns:r="http://schemas.openxmlformats.org/officeDocument/2006/relationships" id="268" r:id="Rb0f9296603364a66"/>
  </p:sldIdLst>
  <p:sldSz cx="9144000" cy="5143500"/>
  <p:notesSz cx="6858000" cy="9144000"/>
  <p:embeddedFontLst>
    <p:embeddedFont>
      <p:font typeface="Google Sans Flex Medium"/>
      <p:regular xmlns:r="http://schemas.openxmlformats.org/officeDocument/2006/relationships" r:id="Radab453699164fe7"/>
      <p:bold xmlns:r="http://schemas.openxmlformats.org/officeDocument/2006/relationships" r:id="Rfa88b1be77df46e2"/>
    </p:embeddedFont>
    <p:embeddedFont>
      <p:font typeface="Google Sans Flex"/>
      <p:regular xmlns:r="http://schemas.openxmlformats.org/officeDocument/2006/relationships" r:id="R2c70a6fbfab14833"/>
      <p:bold xmlns:r="http://schemas.openxmlformats.org/officeDocument/2006/relationships" r:id="R06b88ee4b9a54cbd"/>
    </p:embeddedFont>
    <p:embeddedFont>
      <p:font typeface="Google Sans Flex SemiBold"/>
      <p:regular xmlns:r="http://schemas.openxmlformats.org/officeDocument/2006/relationships" r:id="Ra0aaaad05ff74277"/>
      <p:bold xmlns:r="http://schemas.openxmlformats.org/officeDocument/2006/relationships" r:id="Rf950f17d24bf45f1"/>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525b2ca984c54574" /><Relationship Type="http://schemas.openxmlformats.org/officeDocument/2006/relationships/slideMaster" Target="/ppt/slideMasters/slideMaster1.xml" Id="Rd220d165f9f54360" /><Relationship Type="http://schemas.openxmlformats.org/officeDocument/2006/relationships/notesMaster" Target="/ppt/notesMasters/notesMaster1.xml" Id="Rc5efca6e8fc54679" /><Relationship Type="http://schemas.openxmlformats.org/officeDocument/2006/relationships/presProps" Target="/ppt/presProps.xml" Id="R532a764c9d3446f0" /><Relationship Type="http://schemas.openxmlformats.org/officeDocument/2006/relationships/viewProps" Target="/ppt/viewProps.xml" Id="R702fb3e52957415c" /><Relationship Type="http://schemas.openxmlformats.org/officeDocument/2006/relationships/tableStyles" Target="/ppt/tableStyles.xml" Id="Rdaad59c6815348e2" /><Relationship Type="http://schemas.openxmlformats.org/officeDocument/2006/relationships/font" Target="/ppt/fonts/font.dat" Id="Radab453699164fe7" /><Relationship Type="http://schemas.openxmlformats.org/officeDocument/2006/relationships/font" Target="/ppt/fonts/font2.dat" Id="Rfa88b1be77df46e2" /><Relationship Type="http://schemas.openxmlformats.org/officeDocument/2006/relationships/font" Target="/ppt/fonts/font3.dat" Id="R2c70a6fbfab14833" /><Relationship Type="http://schemas.openxmlformats.org/officeDocument/2006/relationships/font" Target="/ppt/fonts/font4.dat" Id="R06b88ee4b9a54cbd" /><Relationship Type="http://schemas.openxmlformats.org/officeDocument/2006/relationships/font" Target="/ppt/fonts/font5.dat" Id="Ra0aaaad05ff74277" /><Relationship Type="http://schemas.openxmlformats.org/officeDocument/2006/relationships/font" Target="/ppt/fonts/font6.dat" Id="Rf950f17d24bf45f1" /><Relationship Type="http://schemas.openxmlformats.org/officeDocument/2006/relationships/slide" Target="/ppt/slides/slide1.xml" Id="R2a033456d3064a63" /><Relationship Type="http://schemas.openxmlformats.org/officeDocument/2006/relationships/slide" Target="/ppt/slides/slide2.xml" Id="Rf32ac982f0884237" /><Relationship Type="http://schemas.openxmlformats.org/officeDocument/2006/relationships/slide" Target="/ppt/slides/slide3.xml" Id="R283f6e7eaaba4a76" /><Relationship Type="http://schemas.openxmlformats.org/officeDocument/2006/relationships/slide" Target="/ppt/slides/slide4.xml" Id="R84851f76f5cc454d" /><Relationship Type="http://schemas.openxmlformats.org/officeDocument/2006/relationships/slide" Target="/ppt/slides/slide5.xml" Id="R93553c76a5b34dc4" /><Relationship Type="http://schemas.openxmlformats.org/officeDocument/2006/relationships/slide" Target="/ppt/slides/slide6.xml" Id="Rd75c9087089c431b" /><Relationship Type="http://schemas.openxmlformats.org/officeDocument/2006/relationships/slide" Target="/ppt/slides/slide7.xml" Id="Rdae04151b5304efc" /><Relationship Type="http://schemas.openxmlformats.org/officeDocument/2006/relationships/slide" Target="/ppt/slides/slide8.xml" Id="Rc7bf3f23a25d4212" /><Relationship Type="http://schemas.openxmlformats.org/officeDocument/2006/relationships/slide" Target="/ppt/slides/slide9.xml" Id="R0420c5d66c464bb2" /><Relationship Type="http://schemas.openxmlformats.org/officeDocument/2006/relationships/slide" Target="/ppt/slides/slide10.xml" Id="Rd694763534784954" /><Relationship Type="http://schemas.openxmlformats.org/officeDocument/2006/relationships/slide" Target="/ppt/slides/slide11.xml" Id="R4ecc74d7664045fa" /><Relationship Type="http://schemas.openxmlformats.org/officeDocument/2006/relationships/slide" Target="/ppt/slides/slide12.xml" Id="R484d6213a7bf47e9" /><Relationship Type="http://schemas.openxmlformats.org/officeDocument/2006/relationships/slide" Target="/ppt/slides/slide13.xml" Id="Rb0f9296603364a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6684c434264d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7f4e5f35b8a46d6" /><Relationship Type="http://schemas.openxmlformats.org/officeDocument/2006/relationships/notesMaster" Target="/ppt/notesMasters/notesMaster1.xml" Id="R90d9e603948645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ca75f88eccc446c4" /><Relationship Type="http://schemas.openxmlformats.org/officeDocument/2006/relationships/notesMaster" Target="/ppt/notesMasters/notesMaster1.xml" Id="R0342d9bfe1614f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390550d7a1b4778" /><Relationship Type="http://schemas.openxmlformats.org/officeDocument/2006/relationships/notesMaster" Target="/ppt/notesMasters/notesMaster1.xml" Id="R35bb16755ad14232" /></Relationships>
</file>

<file path=ppt/notesSlides/_rels/notesSlide4.xml.rels>&#65279;<?xml version="1.0" encoding="utf-8"?><Relationships xmlns="http://schemas.openxmlformats.org/package/2006/relationships"><Relationship Type="http://schemas.openxmlformats.org/officeDocument/2006/relationships/slide" Target="/ppt/slides/slide4.xml" Id="R53a702579adb4fd2" /><Relationship Type="http://schemas.openxmlformats.org/officeDocument/2006/relationships/notesMaster" Target="/ppt/notesMasters/notesMaster1.xml" Id="Ra21d78175b944d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92cb67e4294b63" /><Relationship Type="http://schemas.openxmlformats.org/officeDocument/2006/relationships/notesMaster" Target="/ppt/notesMasters/notesMaster1.xml" Id="R72aea3a01e3b40be" /></Relationships>
</file>

<file path=ppt/notesSlides/_rels/notesSlide6.xml.rels>&#65279;<?xml version="1.0" encoding="utf-8"?><Relationships xmlns="http://schemas.openxmlformats.org/package/2006/relationships"><Relationship Type="http://schemas.openxmlformats.org/officeDocument/2006/relationships/slide" Target="/ppt/slides/slide6.xml" Id="R79c9337a12f8468e" /><Relationship Type="http://schemas.openxmlformats.org/officeDocument/2006/relationships/notesMaster" Target="/ppt/notesMasters/notesMaster1.xml" Id="R48a02f5a6ff846fb" /></Relationships>
</file>

<file path=ppt/notesSlides/_rels/notesSlide7.xml.rels>&#65279;<?xml version="1.0" encoding="utf-8"?><Relationships xmlns="http://schemas.openxmlformats.org/package/2006/relationships"><Relationship Type="http://schemas.openxmlformats.org/officeDocument/2006/relationships/slide" Target="/ppt/slides/slide7.xml" Id="R4bbc87ff32924faa" /><Relationship Type="http://schemas.openxmlformats.org/officeDocument/2006/relationships/notesMaster" Target="/ppt/notesMasters/notesMaster1.xml" Id="R8a8cdad51d4d41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0d062eea104830" /><Relationship Type="http://schemas.openxmlformats.org/officeDocument/2006/relationships/notesMaster" Target="/ppt/notesMasters/notesMaster1.xml" Id="R965155df475546c9"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65c7410d654e1e" /><Relationship Type="http://schemas.openxmlformats.org/officeDocument/2006/relationships/notesMaster" Target="/ppt/notesMasters/notesMaster1.xml" Id="R3fa97a3fe1c7422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6f658f9b6d4a3c" /><Relationship Type="http://schemas.openxmlformats.org/officeDocument/2006/relationships/notesMaster" Target="/ppt/notesMasters/notesMaster1.xml" Id="R417a2d8b4c7c4df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ce769e209c24f38" /><Relationship Type="http://schemas.openxmlformats.org/officeDocument/2006/relationships/notesMaster" Target="/ppt/notesMasters/notesMaster1.xml" Id="R13f64eefa817454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aa488adb5154f74" /><Relationship Type="http://schemas.openxmlformats.org/officeDocument/2006/relationships/notesMaster" Target="/ppt/notesMasters/notesMaster1.xml" Id="R6522527d88dd448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e9702d1a1ae44de" /><Relationship Type="http://schemas.openxmlformats.org/officeDocument/2006/relationships/notesMaster" Target="/ppt/notesMasters/notesMaster1.xml" Id="R464d043518f44d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Registered team and names confirmed by the project owner on 16 October 2026. Project: TwinOps. Selected theme: Future of Work &amp; Enterprise Productivity. Contact email addresses are intentionally omitted from this public deck.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https://github.com/prabhakarcs786/twinops/blob/main/docs/SUBMISSION.md and https://github.com/prabhakarcs786/twinops/blob/main/docs/TECHNICAL_GUIDE.md. This is a working synthetic network prototype, not a carrier production deployment.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https://github.com/prabhakarcs786/twinops/blob/main/docs/evidence/recorded-demo.json and https://github.com/prabhakarcs786/twinops/blob/main/docs/TECHNICAL_GUIDE.md. These are implementation distinctions, not a claim that no competing product has similar features.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https://github.com/prabhakarcs786/twinops/blob/main/docs/TECHNICAL_GUIDE.md and the deployed walkthrough https://twinops-live-705406130795.europe-west1.run.app/workbench. Supported exercises: routing policy, DNS and expired TLS certificates. Unsupported physical faults can escalate.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https://github.com/prabhakarcs786/twinops/blob/main/docs/TECHNICAL_GUIDE.md#investigation-flow. Native editable process nodes and connectors. Seven technical gates plus a separate human approval gate. The apply gateway checks freshness and target drift before writing.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Actual screenshot from the 15 October 2026 hosted recording, incident inc-net-ed770f19223844eda01c182b59901c35. Public record: https://github.com/prabhakarcs786/twinops/blob/main/docs/evidence/recorded-demo.json. This is an implemented interface, not a mockup. The on-screen timer is one run, not an MTTR benchmark.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https://github.com/prabhakarcs786/twinops/blob/main/backend/twinops/cloudrun.py, https://github.com/prabhakarcs786/twinops/blob/main/deploy/cloudrun-lab.Dockerfile, https://github.com/prabhakarcs786/twinops/blob/main/deploy/cloudrun-lab.sh and https://github.com/prabhakarcs786/twinops/blob/main/backend/twinops/store.py. Model requests use Google Gen AI SDK. Namespace isolation replaces privileged Docker on Cloud Run. Vertex AI is an external managed service. This simplified diagram shows logical calls; no model tool can directly write to the network. SQLite and lab state are instance-local and ephemeral.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https://github.com/prabhakarcs786/twinops/blob/main/backend/pyproject.toml, https://github.com/prabhakarcs786/twinops/blob/main/frontend/package.json, https://github.com/prabhakarcs786/twinops/blob/main/deploy/cloudrun-lab.sh. Technology eligibility clarification supplied by the owner on 16 October 2026: Firebase and Firestore are not mandatory when using Cloud Run.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Actual Metro screenshot from the same hosted incident as the demo video, 15 October 2026. Source: https://github.com/prabhakarcs786/twinops/blob/main/docs/evidence/recorded-demo.json. Customer counts and topology are synthetic. The public record discloses owner-authorized browser automation for approval; the private credential is omitted. Before/after latency is illustrative for this one run, not a performance improvement claim.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https://github.com/prabhakarcs786/twinops/blob/main/docs/evidence/recorded-demo.json and https://github.com/prabhakarcs786/twinops/blob/main/docs/evidence/foundation-evaluation.json. The evidence scopes are distinct; no model-versus-runbook superiority is claimed. All results are scoped to the recorded protocol-lab run or deterministic model cases. Human productivity trials are pending. The video shortens waiting and review time and is not a repair-time benchmark.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https://github.com/prabhakarcs786/twinops/blob/main/docs/TECHNICAL_GUIDE.md#limits-and-next-steps and https://github.com/prabhakarcs786/twinops/blob/main/docs/SUBMISSION.md. These are planned steps, not implemented production capabilities. Physical hardware, routing convergence at production scale and arbitrary concurrent faults remain outside validated fidelity.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Public links checked on 16 October 2026. The current public video preserves the hosted repair described in this presentation. Waiting and review time are shortened. Approval access is provided privately by the project host; no credential is included in this deck.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3b86204d164ae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1f2ca60325e4ac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f54205a26b54af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7ca2815a8c64d9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b080512bc1843d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131705a78ea4ab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a86baaaf508426f"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bb4c7fd7173d4352"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7a542bd874704ec6"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4239a98538ab422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4438f71ec7204e03" /></Relationships>
</file>

<file path=ppt/slideLayouts/slideLayout1.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0" name="Google Shape;10;p2">
            <a:extLst xmlns:a="http://schemas.openxmlformats.org/drawingml/2006/main">
              <a:ext uri="{FF2B5EF4-FFF2-40B4-BE49-F238E27FC236}">
                <a16:creationId xmlns:a16="http://schemas.microsoft.com/office/drawing/2014/main" id="{1A6ABF14-F822-45B9-B1E8-DF2DB8BD3E9D}"/>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1" name="Google Shape;11;p2">
            <a:extLst xmlns:a="http://schemas.openxmlformats.org/drawingml/2006/main">
              <a:ext uri="{FF2B5EF4-FFF2-40B4-BE49-F238E27FC236}">
                <a16:creationId xmlns:a16="http://schemas.microsoft.com/office/drawing/2014/main" id="{B765AEF5-777E-4A6C-B9BB-EEAD4DE2B1E4}"/>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F67B0936-8354-4ECE-ADA8-12D911DB17D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2.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4" name="Google Shape;14;p3">
            <a:extLst xmlns:a="http://schemas.openxmlformats.org/drawingml/2006/main">
              <a:ext uri="{FF2B5EF4-FFF2-40B4-BE49-F238E27FC236}">
                <a16:creationId xmlns:a16="http://schemas.microsoft.com/office/drawing/2014/main" id="{4A230093-EAE3-4129-A95F-1182C2860671}"/>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5" name="Google Shape;15;p3">
            <a:extLst xmlns:a="http://schemas.openxmlformats.org/drawingml/2006/main">
              <a:ext uri="{FF2B5EF4-FFF2-40B4-BE49-F238E27FC236}">
                <a16:creationId xmlns:a16="http://schemas.microsoft.com/office/drawing/2014/main" id="{FF7E55C9-C6D2-4FE4-8724-2ABDF735D6EF}"/>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3CD8DA0E-4D0A-4397-AB04-81E367BC1EBF}"/>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8" name="Google Shape;18;p4">
            <a:extLst xmlns:a="http://schemas.openxmlformats.org/drawingml/2006/main">
              <a:ext uri="{FF2B5EF4-FFF2-40B4-BE49-F238E27FC236}">
                <a16:creationId xmlns:a16="http://schemas.microsoft.com/office/drawing/2014/main" id="{AEB97BB9-CCB4-47EC-80FC-B9BE0587566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19" name="Google Shape;19;p4">
            <a:extLst xmlns:a="http://schemas.openxmlformats.org/drawingml/2006/main">
              <a:ext uri="{FF2B5EF4-FFF2-40B4-BE49-F238E27FC236}">
                <a16:creationId xmlns:a16="http://schemas.microsoft.com/office/drawing/2014/main" id="{14671C69-8D96-475E-9C5F-ACCE725D1742}"/>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1" name="Google Shape;21;p5">
            <a:extLst xmlns:a="http://schemas.openxmlformats.org/drawingml/2006/main">
              <a:ext uri="{FF2B5EF4-FFF2-40B4-BE49-F238E27FC236}">
                <a16:creationId xmlns:a16="http://schemas.microsoft.com/office/drawing/2014/main" id="{A0666FC8-785D-4F11-B8CD-BB646410F03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2" name="Google Shape;22;p5">
            <a:extLst xmlns:a="http://schemas.openxmlformats.org/drawingml/2006/main">
              <a:ext uri="{FF2B5EF4-FFF2-40B4-BE49-F238E27FC236}">
                <a16:creationId xmlns:a16="http://schemas.microsoft.com/office/drawing/2014/main" id="{32FB02E8-C2D8-4CCA-81E0-F5BD223D66D9}"/>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3" name="Google Shape;23;p5">
            <a:extLst xmlns:a="http://schemas.openxmlformats.org/drawingml/2006/main">
              <a:ext uri="{FF2B5EF4-FFF2-40B4-BE49-F238E27FC236}">
                <a16:creationId xmlns:a16="http://schemas.microsoft.com/office/drawing/2014/main" id="{0C1ACFCF-31A4-4D8D-8F67-C462CE2D2D5D}"/>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5">
            <a:extLst xmlns:a="http://schemas.openxmlformats.org/drawingml/2006/main">
              <a:ext uri="{FF2B5EF4-FFF2-40B4-BE49-F238E27FC236}">
                <a16:creationId xmlns:a16="http://schemas.microsoft.com/office/drawing/2014/main" id="{E5C4494E-ECEC-434F-8148-524B7224F18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6" name="Google Shape;26;p6">
            <a:extLst xmlns:a="http://schemas.openxmlformats.org/drawingml/2006/main">
              <a:ext uri="{FF2B5EF4-FFF2-40B4-BE49-F238E27FC236}">
                <a16:creationId xmlns:a16="http://schemas.microsoft.com/office/drawing/2014/main" id="{F400B36F-2D4A-4D71-B544-89D962CD1A9F}"/>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7" name="Google Shape;27;p6">
            <a:extLst xmlns:a="http://schemas.openxmlformats.org/drawingml/2006/main">
              <a:ext uri="{FF2B5EF4-FFF2-40B4-BE49-F238E27FC236}">
                <a16:creationId xmlns:a16="http://schemas.microsoft.com/office/drawing/2014/main" id="{66E47A25-2F0B-4BC2-9B82-BC1F1D7FAA27}"/>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29" name="Google Shape;29;p7">
            <a:extLst xmlns:a="http://schemas.openxmlformats.org/drawingml/2006/main">
              <a:ext uri="{FF2B5EF4-FFF2-40B4-BE49-F238E27FC236}">
                <a16:creationId xmlns:a16="http://schemas.microsoft.com/office/drawing/2014/main" id="{C7FBF00E-E4E6-4AB5-9A19-7A5CBB852568}"/>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0" name="Google Shape;30;p7">
            <a:extLst xmlns:a="http://schemas.openxmlformats.org/drawingml/2006/main">
              <a:ext uri="{FF2B5EF4-FFF2-40B4-BE49-F238E27FC236}">
                <a16:creationId xmlns:a16="http://schemas.microsoft.com/office/drawing/2014/main" id="{3AA3360C-B502-459C-A042-FFEF275F4BE8}"/>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1" name="Google Shape;31;p7">
            <a:extLst xmlns:a="http://schemas.openxmlformats.org/drawingml/2006/main">
              <a:ext uri="{FF2B5EF4-FFF2-40B4-BE49-F238E27FC236}">
                <a16:creationId xmlns:a16="http://schemas.microsoft.com/office/drawing/2014/main" id="{06681906-F3F1-47D2-95C9-8A61BAD966F2}"/>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3" name="Google Shape;33;p8">
            <a:extLst xmlns:a="http://schemas.openxmlformats.org/drawingml/2006/main">
              <a:ext uri="{FF2B5EF4-FFF2-40B4-BE49-F238E27FC236}">
                <a16:creationId xmlns:a16="http://schemas.microsoft.com/office/drawing/2014/main" id="{E8BD44BA-B839-4A7F-AF85-8C626448749D}"/>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4" name="Google Shape;34;p8">
            <a:extLst xmlns:a="http://schemas.openxmlformats.org/drawingml/2006/main">
              <a:ext uri="{FF2B5EF4-FFF2-40B4-BE49-F238E27FC236}">
                <a16:creationId xmlns:a16="http://schemas.microsoft.com/office/drawing/2014/main" id="{ED5FB233-5660-49C5-9FAC-C837987F917F}"/>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6" name="Google Shape;36;p9">
            <a:extLst xmlns:a="http://schemas.openxmlformats.org/drawingml/2006/main">
              <a:ext uri="{FF2B5EF4-FFF2-40B4-BE49-F238E27FC236}">
                <a16:creationId xmlns:a16="http://schemas.microsoft.com/office/drawing/2014/main" id="{85F59AFB-1870-4B32-8AE7-5352F580656E}"/>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 name="Google Shape;37;p9">
            <a:extLst xmlns:a="http://schemas.openxmlformats.org/drawingml/2006/main">
              <a:ext uri="{FF2B5EF4-FFF2-40B4-BE49-F238E27FC236}">
                <a16:creationId xmlns:a16="http://schemas.microsoft.com/office/drawing/2014/main" id="{621A47B4-4409-4639-B7B8-582F4C2ADF2E}"/>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8" name="Google Shape;38;p9">
            <a:extLst xmlns:a="http://schemas.openxmlformats.org/drawingml/2006/main">
              <a:ext uri="{FF2B5EF4-FFF2-40B4-BE49-F238E27FC236}">
                <a16:creationId xmlns:a16="http://schemas.microsoft.com/office/drawing/2014/main" id="{3F371B7C-5226-436F-9965-CA5FA87C88A4}"/>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39" name="Google Shape;39;p9">
            <a:extLst xmlns:a="http://schemas.openxmlformats.org/drawingml/2006/main">
              <a:ext uri="{FF2B5EF4-FFF2-40B4-BE49-F238E27FC236}">
                <a16:creationId xmlns:a16="http://schemas.microsoft.com/office/drawing/2014/main" id="{41FAD275-A65C-452F-8557-E3AA68795676}"/>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0" name="Google Shape;40;p9">
            <a:extLst xmlns:a="http://schemas.openxmlformats.org/drawingml/2006/main">
              <a:ext uri="{FF2B5EF4-FFF2-40B4-BE49-F238E27FC236}">
                <a16:creationId xmlns:a16="http://schemas.microsoft.com/office/drawing/2014/main" id="{E10338E7-6EDB-420B-881D-FB9A9BC9DDC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2" name="Google Shape;42;p10">
            <a:extLst xmlns:a="http://schemas.openxmlformats.org/drawingml/2006/main">
              <a:ext uri="{FF2B5EF4-FFF2-40B4-BE49-F238E27FC236}">
                <a16:creationId xmlns:a16="http://schemas.microsoft.com/office/drawing/2014/main" id="{FF0E8651-82E4-4644-9BA7-C6EB5CAEF9FA}"/>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3" name="Google Shape;43;p10">
            <a:extLst xmlns:a="http://schemas.openxmlformats.org/drawingml/2006/main">
              <a:ext uri="{FF2B5EF4-FFF2-40B4-BE49-F238E27FC236}">
                <a16:creationId xmlns:a16="http://schemas.microsoft.com/office/drawing/2014/main" id="{7F91EECE-8D52-49F8-B72D-0906D7A1F06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5" name="Google Shape;45;p11">
            <a:extLst xmlns:a="http://schemas.openxmlformats.org/drawingml/2006/main">
              <a:ext uri="{FF2B5EF4-FFF2-40B4-BE49-F238E27FC236}">
                <a16:creationId xmlns:a16="http://schemas.microsoft.com/office/drawing/2014/main" id="{EC2AA3DF-07EF-4B67-91CE-DF3A7F85AD57}"/>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6" name="Google Shape;46;p11">
            <a:extLst xmlns:a="http://schemas.openxmlformats.org/drawingml/2006/main">
              <a:ext uri="{FF2B5EF4-FFF2-40B4-BE49-F238E27FC236}">
                <a16:creationId xmlns:a16="http://schemas.microsoft.com/office/drawing/2014/main" id="{6ED6DAC5-9BE8-460C-8117-8ECFE7CA38F6}"/>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7" name="Google Shape;47;p11">
            <a:extLst xmlns:a="http://schemas.openxmlformats.org/drawingml/2006/main">
              <a:ext uri="{FF2B5EF4-FFF2-40B4-BE49-F238E27FC236}">
                <a16:creationId xmlns:a16="http://schemas.microsoft.com/office/drawing/2014/main" id="{CB61479D-5389-42FA-86B3-A5CB9A4A7C4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49" name="Google Shape;49;p12">
            <a:extLst xmlns:a="http://schemas.openxmlformats.org/drawingml/2006/main">
              <a:ext uri="{FF2B5EF4-FFF2-40B4-BE49-F238E27FC236}">
                <a16:creationId xmlns:a16="http://schemas.microsoft.com/office/drawing/2014/main" id="{3F7DCBD7-4CCA-413D-8B7F-7397628B3745}"/>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1c8f5183c7464e" /><Relationship Type="http://schemas.openxmlformats.org/officeDocument/2006/relationships/slideLayout" Target="/ppt/slideLayouts/slideLayout1.xml" Id="R95e667accaae45ae" /><Relationship Type="http://schemas.openxmlformats.org/officeDocument/2006/relationships/slideLayout" Target="/ppt/slideLayouts/slideLayout2.xml" Id="R9ffe71019e004d2f" /><Relationship Type="http://schemas.openxmlformats.org/officeDocument/2006/relationships/slideLayout" Target="/ppt/slideLayouts/slideLayout3.xml" Id="R9e814fb0c3864617" /><Relationship Type="http://schemas.openxmlformats.org/officeDocument/2006/relationships/slideLayout" Target="/ppt/slideLayouts/slideLayout4.xml" Id="R38e8d37e1e284938" /><Relationship Type="http://schemas.openxmlformats.org/officeDocument/2006/relationships/slideLayout" Target="/ppt/slideLayouts/slideLayout5.xml" Id="R9c4685933527458b" /><Relationship Type="http://schemas.openxmlformats.org/officeDocument/2006/relationships/slideLayout" Target="/ppt/slideLayouts/slideLayout6.xml" Id="R44f4b58b701d4930" /><Relationship Type="http://schemas.openxmlformats.org/officeDocument/2006/relationships/slideLayout" Target="/ppt/slideLayouts/slideLayout7.xml" Id="R47a3629dba3d4a96" /><Relationship Type="http://schemas.openxmlformats.org/officeDocument/2006/relationships/slideLayout" Target="/ppt/slideLayouts/slideLayout8.xml" Id="R535b14382f9c420b" /><Relationship Type="http://schemas.openxmlformats.org/officeDocument/2006/relationships/slideLayout" Target="/ppt/slideLayouts/slideLayout9.xml" Id="Rb49559bbd57547eb" /><Relationship Type="http://schemas.openxmlformats.org/officeDocument/2006/relationships/slideLayout" Target="/ppt/slideLayouts/slideLayout10.xml" Id="R6bdbe9e98b7f456c" /><Relationship Type="http://schemas.openxmlformats.org/officeDocument/2006/relationships/slideLayout" Target="/ppt/slideLayouts/slideLayout11.xml" Id="R5a8b584d7aa042c2"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03BDFA1A-8275-4E8A-B607-B33FB5114002}"/>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0E97D2DE-2C53-4132-BCCC-C942FBCD6965}"/>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0697AAFA-622C-41CD-8245-43963B725C56}"/>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5e667accaae45ae"/>
    <p:sldLayoutId xmlns:r="http://schemas.openxmlformats.org/officeDocument/2006/relationships" id="2147483650" r:id="R9ffe71019e004d2f"/>
    <p:sldLayoutId xmlns:r="http://schemas.openxmlformats.org/officeDocument/2006/relationships" id="2147483651" r:id="R9e814fb0c3864617"/>
    <p:sldLayoutId xmlns:r="http://schemas.openxmlformats.org/officeDocument/2006/relationships" id="2147483652" r:id="R38e8d37e1e284938"/>
    <p:sldLayoutId xmlns:r="http://schemas.openxmlformats.org/officeDocument/2006/relationships" id="2147483653" r:id="R9c4685933527458b"/>
    <p:sldLayoutId xmlns:r="http://schemas.openxmlformats.org/officeDocument/2006/relationships" id="2147483654" r:id="R44f4b58b701d4930"/>
    <p:sldLayoutId xmlns:r="http://schemas.openxmlformats.org/officeDocument/2006/relationships" id="2147483655" r:id="R47a3629dba3d4a96"/>
    <p:sldLayoutId xmlns:r="http://schemas.openxmlformats.org/officeDocument/2006/relationships" id="2147483656" r:id="R535b14382f9c420b"/>
    <p:sldLayoutId xmlns:r="http://schemas.openxmlformats.org/officeDocument/2006/relationships" id="2147483657" r:id="Rb49559bbd57547eb"/>
    <p:sldLayoutId xmlns:r="http://schemas.openxmlformats.org/officeDocument/2006/relationships" id="2147483658" r:id="R6bdbe9e98b7f456c"/>
    <p:sldLayoutId xmlns:r="http://schemas.openxmlformats.org/officeDocument/2006/relationships" id="2147483659" r:id="R5a8b584d7aa042c2"/>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a62fc373180430b" /><Relationship Type="http://schemas.openxmlformats.org/officeDocument/2006/relationships/image" Target="/ppt/media/image.png" Id="R746d450c0a1949ff" /><Relationship Type="http://schemas.openxmlformats.org/officeDocument/2006/relationships/image" Target="/ppt/media/image2.png" Id="R0450bcd39eff4ab5" /><Relationship Type="http://schemas.openxmlformats.org/officeDocument/2006/relationships/notesSlide" Target="/ppt/notesSlides/notesSlide1.xml" Id="Ra9c1dd1a380f4e4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4d387a0b36d46c1" /><Relationship Type="http://schemas.openxmlformats.org/officeDocument/2006/relationships/image" Target="/ppt/media/image3.png" Id="R705f5e69a5c94270" /><Relationship Type="http://schemas.openxmlformats.org/officeDocument/2006/relationships/notesSlide" Target="/ppt/notesSlides/notesSlide2.xml" Id="Rbd8d021cb303414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1892e43d0714a4d" /><Relationship Type="http://schemas.openxmlformats.org/officeDocument/2006/relationships/image" Target="/ppt/media/image2.png" Id="Rb78b624c65f24f7d" /><Relationship Type="http://schemas.openxmlformats.org/officeDocument/2006/relationships/image" Target="/ppt/media/image3.png" Id="R9c6b8fe4c1c441e5" /><Relationship Type="http://schemas.openxmlformats.org/officeDocument/2006/relationships/notesSlide" Target="/ppt/notesSlides/notesSlide3.xml" Id="R17273330a4e5438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1487def30a24190" /><Relationship Type="http://schemas.openxmlformats.org/officeDocument/2006/relationships/image" Target="/ppt/media/image2.png" Id="Rd8bab798fe894cd3" /><Relationship Type="http://schemas.openxmlformats.org/officeDocument/2006/relationships/image" Target="/ppt/media/image3.png" Id="Ra1dc39a495c04cc3" /><Relationship Type="http://schemas.openxmlformats.org/officeDocument/2006/relationships/notesSlide" Target="/ppt/notesSlides/notesSlide4.xml" Id="R1327030f3ae9462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d1e3e978dd44af9" /><Relationship Type="http://schemas.openxmlformats.org/officeDocument/2006/relationships/image" Target="/ppt/media/image2.png" Id="R6ffac6ae8e734ad6" /><Relationship Type="http://schemas.openxmlformats.org/officeDocument/2006/relationships/image" Target="/ppt/media/image3.png" Id="R9ae4b034a79e4ca7" /><Relationship Type="http://schemas.openxmlformats.org/officeDocument/2006/relationships/notesSlide" Target="/ppt/notesSlides/notesSlide5.xml" Id="Rf114e8b57762463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9e2cba326294acd" /><Relationship Type="http://schemas.openxmlformats.org/officeDocument/2006/relationships/image" Target="/ppt/media/image2.png" Id="Ra66e12fab1014d26" /><Relationship Type="http://schemas.openxmlformats.org/officeDocument/2006/relationships/image" Target="/ppt/media/image3.png" Id="R5d65f0d0f44e4252" /><Relationship Type="http://schemas.openxmlformats.org/officeDocument/2006/relationships/image" Target="/ppt/media/image4.png" Id="Rdc52bf3598634142" /><Relationship Type="http://schemas.openxmlformats.org/officeDocument/2006/relationships/notesSlide" Target="/ppt/notesSlides/notesSlide6.xml" Id="R3a5ecfef7bda49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7c8ae6182054614" /><Relationship Type="http://schemas.openxmlformats.org/officeDocument/2006/relationships/image" Target="/ppt/media/image2.png" Id="Re0dd0b5773544581" /><Relationship Type="http://schemas.openxmlformats.org/officeDocument/2006/relationships/image" Target="/ppt/media/image3.png" Id="R9b4bb21d62354261" /><Relationship Type="http://schemas.openxmlformats.org/officeDocument/2006/relationships/notesSlide" Target="/ppt/notesSlides/notesSlide7.xml" Id="R72a4edc3d2e047b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d3470f7c1eb465c" /><Relationship Type="http://schemas.openxmlformats.org/officeDocument/2006/relationships/image" Target="/ppt/media/image2.png" Id="R3ee963e7c1d643f6" /><Relationship Type="http://schemas.openxmlformats.org/officeDocument/2006/relationships/image" Target="/ppt/media/image3.png" Id="R83a35b515c2d44d4" /><Relationship Type="http://schemas.openxmlformats.org/officeDocument/2006/relationships/notesSlide" Target="/ppt/notesSlides/notesSlide8.xml" Id="Rf4cd0dc2e0a349c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6a235623f945ee" /><Relationship Type="http://schemas.openxmlformats.org/officeDocument/2006/relationships/image" Target="/ppt/media/image2.png" Id="R69ad59b31b64488e" /><Relationship Type="http://schemas.openxmlformats.org/officeDocument/2006/relationships/image" Target="/ppt/media/image3.png" Id="R2ad202fe5ec949a1" /><Relationship Type="http://schemas.openxmlformats.org/officeDocument/2006/relationships/image" Target="/ppt/media/image5.png" Id="Rbec091b2b53048f2" /><Relationship Type="http://schemas.openxmlformats.org/officeDocument/2006/relationships/notesSlide" Target="/ppt/notesSlides/notesSlide9.xml" Id="Rc089c0bf1fd54d3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f91190e75bb4bad" /><Relationship Type="http://schemas.openxmlformats.org/officeDocument/2006/relationships/image" Target="/ppt/media/image2.png" Id="R27431c866568438d" /><Relationship Type="http://schemas.openxmlformats.org/officeDocument/2006/relationships/image" Target="/ppt/media/image3.png" Id="R2e767980f59744e5" /><Relationship Type="http://schemas.openxmlformats.org/officeDocument/2006/relationships/notesSlide" Target="/ppt/notesSlides/notesSlide10.xml" Id="R53be0267c91c404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4f2312db4e4631" /><Relationship Type="http://schemas.openxmlformats.org/officeDocument/2006/relationships/image" Target="/ppt/media/image2.png" Id="Rd90d01e3b8f446d8" /><Relationship Type="http://schemas.openxmlformats.org/officeDocument/2006/relationships/image" Target="/ppt/media/image3.png" Id="Rf2374e10ef0e441c" /><Relationship Type="http://schemas.openxmlformats.org/officeDocument/2006/relationships/notesSlide" Target="/ppt/notesSlides/notesSlide11.xml" Id="Raa13bc5b2c754bb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364776d1f794a68" /><Relationship Type="http://schemas.openxmlformats.org/officeDocument/2006/relationships/image" Target="/ppt/media/image2.png" Id="Re5be21e1e6414bfe" /><Relationship Type="http://schemas.openxmlformats.org/officeDocument/2006/relationships/image" Target="/ppt/media/image3.png" Id="Rd1ae0013ebb545b6" /><Relationship Type="http://schemas.openxmlformats.org/officeDocument/2006/relationships/hyperlink" Target="https://github.com/prabhakarcs786/twinops" TargetMode="External" Id="Rf1212f38d02342e1" /><Relationship Type="http://schemas.openxmlformats.org/officeDocument/2006/relationships/hyperlink" Target="https://youtu.be/wyze5IWUEC0" TargetMode="External" Id="R2b63ed3d073f43ab" /><Relationship Type="http://schemas.openxmlformats.org/officeDocument/2006/relationships/hyperlink" Target="https://twinops-live-705406130795.europe-west1.run.app/workbench" TargetMode="External" Id="R2cc76cee96d9442b" /><Relationship Type="http://schemas.openxmlformats.org/officeDocument/2006/relationships/hyperlink" Target="https://twinops-live-705406130795.europe-west1.run.app/metro/" TargetMode="External" Id="R2fef4abcf80b4b83" /><Relationship Type="http://schemas.openxmlformats.org/officeDocument/2006/relationships/hyperlink" Target="https://github.com/prabhakarcs786/twinops/blob/main/docs/JUDGE_GUIDE.md" TargetMode="External" Id="Rb42d4ed9b9f24d3f" /><Relationship Type="http://schemas.openxmlformats.org/officeDocument/2006/relationships/notesSlide" Target="/ppt/notesSlides/notesSlide12.xml" Id="Rcba573ac5a5b409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a2633f5a85f408f" /><Relationship Type="http://schemas.openxmlformats.org/officeDocument/2006/relationships/image" Target="/ppt/media/image2.png" Id="Ra84fb67824c34a3c" /><Relationship Type="http://schemas.openxmlformats.org/officeDocument/2006/relationships/image" Target="/ppt/media/image6.png" Id="Rd5c16497cb9443a4" /><Relationship Type="http://schemas.openxmlformats.org/officeDocument/2006/relationships/notesSlide" Target="/ppt/notesSlides/notesSlide13.xml" Id="R306e344c6bd5408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4" name="Google Shape;54;p13">
            <a:extLst xmlns:a="http://schemas.openxmlformats.org/drawingml/2006/main">
              <a:ext uri="{FF2B5EF4-FFF2-40B4-BE49-F238E27FC236}">
                <a16:creationId xmlns:a16="http://schemas.microsoft.com/office/drawing/2014/main" id="{0653C6BC-C923-4765-B080-E2091A8F2750}"/>
              </a:ext>
            </a:extLst>
          </p:cNvPr>
          <p:cNvSpPr>
            <a:spLocks xmlns:a="http://schemas.openxmlformats.org/drawingml/2006/main" noGrp="1"/>
          </p:cNvSpPr>
          <p:nvPr/>
        </p:nvSpPr>
        <p:spPr>
          <a:xfrm xmlns:a="http://schemas.openxmlformats.org/drawingml/2006/main">
            <a:off x="238125" y="2924175"/>
            <a:ext cx="85725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10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2100">
                <a:solidFill>
                  <a:srgbClr val="000000"/>
                </a:solidFill>
                <a:latin typeface="Google Sans Flex Medium"/>
                <a:ea typeface="Google Sans Flex Medium"/>
                <a:cs typeface="Google Sans Flex Medium"/>
              </a:defRPr>
            </a:pPr>
            <a:r>
              <a:rPr sz="2100">
                <a:solidFill>
                  <a:srgbClr val="000000"/>
                </a:solidFill>
                <a:latin typeface="Google Sans Flex Medium"/>
                <a:ea typeface="Google Sans Flex Medium"/>
                <a:cs typeface="Google Sans Flex Medium"/>
              </a:rPr>
              <a:t>Team Details</a:t>
            </a:r>
            <a:endParaRPr sz="2100">
              <a:latin typeface="Google Sans Flex SemiBold"/>
              <a:ea typeface="Google Sans Flex SemiBold"/>
              <a:cs typeface="Google Sans Flex SemiBold"/>
            </a:endParaRPr>
          </a:p>
        </p:txBody>
      </p:sp>
      <p:pic>
        <p:nvPicPr>
          <p:cNvPr id="55" name="Google Shape;55;p13">
            <a:extLst xmlns:a="http://schemas.openxmlformats.org/drawingml/2006/main">
              <a:ext uri="{FF2B5EF4-FFF2-40B4-BE49-F238E27FC236}">
                <a16:creationId xmlns:a16="http://schemas.microsoft.com/office/drawing/2014/main" id="{7A38DFA6-7333-4E6D-850A-145FCFB54821}"/>
              </a:ext>
            </a:extLst>
          </p:cNvPr>
          <p:cNvPicPr>
            <a:picLocks xmlns:a="http://schemas.openxmlformats.org/drawingml/2006/main" noChangeAspect="1"/>
          </p:cNvPicPr>
          <p:nvPr/>
        </p:nvPicPr>
        <p:blipFill>
          <a:blip xmlns:r="http://schemas.openxmlformats.org/officeDocument/2006/relationships" xmlns:a="http://schemas.openxmlformats.org/drawingml/2006/main" r:embed="R746d450c0a1949ff">
            <a:alphaModFix/>
          </a:blip>
          <a:stretch xmlns:a="http://schemas.openxmlformats.org/drawingml/2006/main">
            <a:fillRect l="0" t="0" r="0" b="0"/>
          </a:stretch>
        </p:blipFill>
        <p:spPr>
          <a:xfrm xmlns:a="http://schemas.openxmlformats.org/drawingml/2006/main">
            <a:off x="0" y="-3"/>
            <a:ext cx="9144000" cy="2715526"/>
          </a:xfrm>
          <a:prstGeom xmlns:a="http://schemas.openxmlformats.org/drawingml/2006/main" prst="rect">
            <a:avLst/>
          </a:prstGeom>
          <a:ln xmlns:a="http://schemas.openxmlformats.org/drawingml/2006/main">
            <a:noFill/>
          </a:ln>
        </p:spPr>
      </p:pic>
      <p:pic>
        <p:nvPicPr>
          <p:cNvPr id="56" name="Google Shape;56;p13">
            <a:extLst xmlns:a="http://schemas.openxmlformats.org/drawingml/2006/main">
              <a:ext uri="{FF2B5EF4-FFF2-40B4-BE49-F238E27FC236}">
                <a16:creationId xmlns:a16="http://schemas.microsoft.com/office/drawing/2014/main" id="{97B3C9D9-DE88-4622-89C2-CF4150C05228}"/>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0450bcd39eff4ab5">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sp>
        <p:nvSpPr>
          <p:cNvPr id="57" name="registered-team">
            <a:extLst xmlns:a="http://schemas.openxmlformats.org/drawingml/2006/main">
              <a:ext uri="{FF2B5EF4-FFF2-40B4-BE49-F238E27FC236}">
                <a16:creationId xmlns:a16="http://schemas.microsoft.com/office/drawing/2014/main" id="{AFD725AB-01D6-46E5-9B5E-32A1186E20B9}"/>
              </a:ext>
            </a:extLst>
          </p:cNvPr>
          <p:cNvSpPr>
            <a:spLocks xmlns:a="http://schemas.openxmlformats.org/drawingml/2006/main" noGrp="1"/>
          </p:cNvSpPr>
          <p:nvPr/>
        </p:nvSpPr>
        <p:spPr>
          <a:xfrm xmlns:a="http://schemas.openxmlformats.org/drawingml/2006/main">
            <a:off x="342900" y="3409950"/>
            <a:ext cx="828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02124"/>
                </a:solidFill>
                <a:latin typeface="Google Sans Flex"/>
                <a:ea typeface="Google Sans Flex"/>
                <a:cs typeface="Google Sans Flex"/>
              </a:defRPr>
            </a:defPPr>
          </a:lstStyle>
          <a:p xmlns:a="http://schemas.openxmlformats.org/drawingml/2006/main">
            <a:pPr>
              <a:defRPr sz="1800" b="0">
                <a:solidFill>
                  <a:srgbClr val="202124"/>
                </a:solidFill>
                <a:latin typeface="Google Sans Flex"/>
                <a:ea typeface="Google Sans Flex"/>
                <a:cs typeface="Google Sans Flex"/>
              </a:defRPr>
            </a:pPr>
            <a:r>
              <a:rPr sz="1800" b="0">
                <a:solidFill>
                  <a:srgbClr val="202124"/>
                </a:solidFill>
                <a:latin typeface="Google Sans Flex"/>
                <a:ea typeface="Google Sans Flex"/>
                <a:cs typeface="Google Sans Flex"/>
              </a:rPr>
              <a:t>Team name: HackSmith</a:t>
            </a:r>
          </a:p>
        </p:txBody>
      </p:sp>
      <p:sp>
        <p:nvSpPr>
          <p:cNvPr id="58" name="registered-leader">
            <a:extLst xmlns:a="http://schemas.openxmlformats.org/drawingml/2006/main">
              <a:ext uri="{FF2B5EF4-FFF2-40B4-BE49-F238E27FC236}">
                <a16:creationId xmlns:a16="http://schemas.microsoft.com/office/drawing/2014/main" id="{F24D7EFA-48F7-442F-A360-8D908AD481AA}"/>
              </a:ext>
            </a:extLst>
          </p:cNvPr>
          <p:cNvSpPr>
            <a:spLocks xmlns:a="http://schemas.openxmlformats.org/drawingml/2006/main" noGrp="1"/>
          </p:cNvSpPr>
          <p:nvPr/>
        </p:nvSpPr>
        <p:spPr>
          <a:xfrm xmlns:a="http://schemas.openxmlformats.org/drawingml/2006/main">
            <a:off x="342900" y="3790950"/>
            <a:ext cx="828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02124"/>
                </a:solidFill>
                <a:latin typeface="Google Sans Flex"/>
                <a:ea typeface="Google Sans Flex"/>
                <a:cs typeface="Google Sans Flex"/>
              </a:defRPr>
            </a:defPPr>
          </a:lstStyle>
          <a:p xmlns:a="http://schemas.openxmlformats.org/drawingml/2006/main">
            <a:pPr>
              <a:defRPr sz="1800" b="0">
                <a:solidFill>
                  <a:srgbClr val="202124"/>
                </a:solidFill>
                <a:latin typeface="Google Sans Flex"/>
                <a:ea typeface="Google Sans Flex"/>
                <a:cs typeface="Google Sans Flex"/>
              </a:defRPr>
            </a:pPr>
            <a:r>
              <a:rPr sz="1800" b="0">
                <a:solidFill>
                  <a:srgbClr val="202124"/>
                </a:solidFill>
                <a:latin typeface="Google Sans Flex"/>
                <a:ea typeface="Google Sans Flex"/>
                <a:cs typeface="Google Sans Flex"/>
              </a:rPr>
              <a:t>Team leader: Prabhakar Srivastava</a:t>
            </a:r>
          </a:p>
        </p:txBody>
      </p:sp>
      <p:sp>
        <p:nvSpPr>
          <p:cNvPr id="59" name="registered-member">
            <a:extLst xmlns:a="http://schemas.openxmlformats.org/drawingml/2006/main">
              <a:ext uri="{FF2B5EF4-FFF2-40B4-BE49-F238E27FC236}">
                <a16:creationId xmlns:a16="http://schemas.microsoft.com/office/drawing/2014/main" id="{2DCC5108-37E0-492F-AA34-98CD0FD21F48}"/>
              </a:ext>
            </a:extLst>
          </p:cNvPr>
          <p:cNvSpPr>
            <a:spLocks xmlns:a="http://schemas.openxmlformats.org/drawingml/2006/main" noGrp="1"/>
          </p:cNvSpPr>
          <p:nvPr/>
        </p:nvSpPr>
        <p:spPr>
          <a:xfrm xmlns:a="http://schemas.openxmlformats.org/drawingml/2006/main">
            <a:off x="342900" y="4171950"/>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02124"/>
                </a:solidFill>
                <a:latin typeface="Google Sans Flex"/>
                <a:ea typeface="Google Sans Flex"/>
                <a:cs typeface="Google Sans Flex"/>
              </a:defRPr>
            </a:defPPr>
          </a:lstStyle>
          <a:p xmlns:a="http://schemas.openxmlformats.org/drawingml/2006/main">
            <a:pPr>
              <a:defRPr sz="1650" b="0">
                <a:solidFill>
                  <a:srgbClr val="202124"/>
                </a:solidFill>
                <a:latin typeface="Google Sans Flex"/>
                <a:ea typeface="Google Sans Flex"/>
                <a:cs typeface="Google Sans Flex"/>
              </a:defRPr>
            </a:pPr>
            <a:r>
              <a:rPr sz="1650" b="0">
                <a:solidFill>
                  <a:srgbClr val="202124"/>
                </a:solidFill>
                <a:latin typeface="Google Sans Flex"/>
                <a:ea typeface="Google Sans Flex"/>
                <a:cs typeface="Google Sans Flex"/>
              </a:rPr>
              <a:t>Team member: Shivam Anand</a:t>
            </a:r>
          </a:p>
        </p:txBody>
      </p:sp>
      <p:sp>
        <p:nvSpPr>
          <p:cNvPr id="60" name="problem-statement">
            <a:extLst xmlns:a="http://schemas.openxmlformats.org/drawingml/2006/main">
              <a:ext uri="{FF2B5EF4-FFF2-40B4-BE49-F238E27FC236}">
                <a16:creationId xmlns:a16="http://schemas.microsoft.com/office/drawing/2014/main" id="{F2C320C3-8D7A-4E7F-8081-6170A018EBB1}"/>
              </a:ext>
            </a:extLst>
          </p:cNvPr>
          <p:cNvSpPr>
            <a:spLocks xmlns:a="http://schemas.openxmlformats.org/drawingml/2006/main" noGrp="1"/>
          </p:cNvSpPr>
          <p:nvPr/>
        </p:nvSpPr>
        <p:spPr>
          <a:xfrm xmlns:a="http://schemas.openxmlformats.org/drawingml/2006/main">
            <a:off x="342900" y="4572000"/>
            <a:ext cx="838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Problem statement: Safer AI-assisted network incident repair</a:t>
            </a:r>
          </a:p>
        </p:txBody>
      </p:sp>
    </p:spTree>
    <p:extLst>
      <p:ext uri="{BB962C8B-B14F-4D97-AF65-F5344CB8AC3E}">
        <p14:creationId xmlns:p14="http://schemas.microsoft.com/office/powerpoint/2010/main" val="123465860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69" name="Google Shape;69;p15">
            <a:extLst xmlns:a="http://schemas.openxmlformats.org/drawingml/2006/main">
              <a:ext uri="{FF2B5EF4-FFF2-40B4-BE49-F238E27FC236}">
                <a16:creationId xmlns:a16="http://schemas.microsoft.com/office/drawing/2014/main" id="{6EEB7D9F-93F6-4044-8CF0-B0FB92E82682}"/>
              </a:ext>
            </a:extLst>
          </p:cNvPr>
          <p:cNvPicPr>
            <a:picLocks xmlns:a="http://schemas.openxmlformats.org/drawingml/2006/main" noChangeAspect="1"/>
          </p:cNvPicPr>
          <p:nvPr/>
        </p:nvPicPr>
        <p:blipFill>
          <a:blip xmlns:r="http://schemas.openxmlformats.org/officeDocument/2006/relationships" xmlns:a="http://schemas.openxmlformats.org/drawingml/2006/main" r:embed="R705f5e69a5c94270">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70" name="Google Shape;70;p15">
            <a:extLst xmlns:a="http://schemas.openxmlformats.org/drawingml/2006/main">
              <a:ext uri="{FF2B5EF4-FFF2-40B4-BE49-F238E27FC236}">
                <a16:creationId xmlns:a16="http://schemas.microsoft.com/office/drawing/2014/main" id="{D768323C-A17E-4265-98B4-D5A13AC58F5E}"/>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71" name="Google Shape;71;p15">
            <a:extLst xmlns:a="http://schemas.openxmlformats.org/drawingml/2006/main">
              <a:ext uri="{FF2B5EF4-FFF2-40B4-BE49-F238E27FC236}">
                <a16:creationId xmlns:a16="http://schemas.microsoft.com/office/drawing/2014/main" id="{F788F3A9-DE62-4C70-9810-AF36D8AA3FF9}"/>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Brief about the idea</a:t>
            </a:r>
            <a:endParaRPr sz="1600">
              <a:latin typeface="Google Sans Flex Medium"/>
              <a:ea typeface="Google Sans Flex Medium"/>
              <a:cs typeface="Google Sans Flex Medium"/>
            </a:endParaRPr>
          </a:p>
        </p:txBody>
      </p:sp>
      <p:sp>
        <p:nvSpPr>
          <p:cNvPr id="72" name="product">
            <a:extLst xmlns:a="http://schemas.openxmlformats.org/drawingml/2006/main">
              <a:ext uri="{FF2B5EF4-FFF2-40B4-BE49-F238E27FC236}">
                <a16:creationId xmlns:a16="http://schemas.microsoft.com/office/drawing/2014/main" id="{11CDF51F-81D8-4D41-B5BF-6C4AB97A7390}"/>
              </a:ext>
            </a:extLst>
          </p:cNvPr>
          <p:cNvSpPr>
            <a:spLocks xmlns:a="http://schemas.openxmlformats.org/drawingml/2006/main" noGrp="1"/>
          </p:cNvSpPr>
          <p:nvPr/>
        </p:nvSpPr>
        <p:spPr>
          <a:xfrm xmlns:a="http://schemas.openxmlformats.org/drawingml/2006/main">
            <a:off x="342900" y="1362075"/>
            <a:ext cx="8458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967D2"/>
                </a:solidFill>
                <a:latin typeface="Google Sans Flex"/>
                <a:ea typeface="Google Sans Flex"/>
                <a:cs typeface="Google Sans Flex"/>
              </a:defRPr>
            </a:defPPr>
          </a:lstStyle>
          <a:p xmlns:a="http://schemas.openxmlformats.org/drawingml/2006/main">
            <a:pPr>
              <a:defRPr sz="3000" b="1">
                <a:solidFill>
                  <a:srgbClr val="1967D2"/>
                </a:solidFill>
                <a:latin typeface="Google Sans Flex"/>
                <a:ea typeface="Google Sans Flex"/>
                <a:cs typeface="Google Sans Flex"/>
              </a:defRPr>
            </a:pPr>
            <a:r>
              <a:rPr sz="3000" b="1">
                <a:solidFill>
                  <a:srgbClr val="1967D2"/>
                </a:solidFill>
                <a:latin typeface="Google Sans Flex"/>
                <a:ea typeface="Google Sans Flex"/>
                <a:cs typeface="Google Sans Flex"/>
              </a:rPr>
              <a:t>TwinOps</a:t>
            </a:r>
          </a:p>
        </p:txBody>
      </p:sp>
      <p:sp>
        <p:nvSpPr>
          <p:cNvPr id="73" name="idea">
            <a:extLst xmlns:a="http://schemas.openxmlformats.org/drawingml/2006/main">
              <a:ext uri="{FF2B5EF4-FFF2-40B4-BE49-F238E27FC236}">
                <a16:creationId xmlns:a16="http://schemas.microsoft.com/office/drawing/2014/main" id="{F8359546-3DA8-4A7B-A9BF-F9774789DEE7}"/>
              </a:ext>
            </a:extLst>
          </p:cNvPr>
          <p:cNvSpPr>
            <a:spLocks xmlns:a="http://schemas.openxmlformats.org/drawingml/2006/main" noGrp="1"/>
          </p:cNvSpPr>
          <p:nvPr/>
        </p:nvSpPr>
        <p:spPr>
          <a:xfrm xmlns:a="http://schemas.openxmlformats.org/drawingml/2006/main">
            <a:off x="342900" y="2009775"/>
            <a:ext cx="8458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202124"/>
                </a:solidFill>
                <a:latin typeface="Google Sans Flex"/>
                <a:ea typeface="Google Sans Flex"/>
                <a:cs typeface="Google Sans Flex"/>
              </a:defRPr>
            </a:defPPr>
          </a:lstStyle>
          <a:p xmlns:a="http://schemas.openxmlformats.org/drawingml/2006/main">
            <a:pPr>
              <a:defRPr sz="2175" b="0">
                <a:solidFill>
                  <a:srgbClr val="202124"/>
                </a:solidFill>
                <a:latin typeface="Google Sans Flex"/>
                <a:ea typeface="Google Sans Flex"/>
                <a:cs typeface="Google Sans Flex"/>
              </a:defRPr>
            </a:pPr>
            <a:r>
              <a:rPr sz="2175" b="0">
                <a:solidFill>
                  <a:srgbClr val="202124"/>
                </a:solidFill>
                <a:latin typeface="Google Sans Flex"/>
                <a:ea typeface="Google Sans Flex"/>
                <a:cs typeface="Google Sans Flex"/>
              </a:rPr>
              <a:t>AI proposes a network repair. A digital twin tests it.</a:t>
            </a:r>
          </a:p>
          <a:p xmlns:a="http://schemas.openxmlformats.org/drawingml/2006/main">
            <a:pPr>
              <a:defRPr sz="2175" b="0">
                <a:solidFill>
                  <a:srgbClr val="202124"/>
                </a:solidFill>
                <a:latin typeface="Google Sans Flex"/>
                <a:ea typeface="Google Sans Flex"/>
                <a:cs typeface="Google Sans Flex"/>
              </a:defRPr>
            </a:pPr>
            <a:r>
              <a:rPr sz="2175" b="0">
                <a:solidFill>
                  <a:srgbClr val="202124"/>
                </a:solidFill>
                <a:latin typeface="Google Sans Flex"/>
                <a:ea typeface="Google Sans Flex"/>
                <a:cs typeface="Google Sans Flex"/>
              </a:rPr>
              <a:t>An engineer approves the exact change.</a:t>
            </a:r>
          </a:p>
        </p:txBody>
      </p:sp>
      <p:sp>
        <p:nvSpPr>
          <p:cNvPr id="74" name="problem">
            <a:extLst xmlns:a="http://schemas.openxmlformats.org/drawingml/2006/main">
              <a:ext uri="{FF2B5EF4-FFF2-40B4-BE49-F238E27FC236}">
                <a16:creationId xmlns:a16="http://schemas.microsoft.com/office/drawing/2014/main" id="{CAAD88B3-544B-4CFF-84A2-A8CC837CE9CD}"/>
              </a:ext>
            </a:extLst>
          </p:cNvPr>
          <p:cNvSpPr>
            <a:spLocks xmlns:a="http://schemas.openxmlformats.org/drawingml/2006/main" noGrp="1"/>
          </p:cNvSpPr>
          <p:nvPr/>
        </p:nvSpPr>
        <p:spPr>
          <a:xfrm xmlns:a="http://schemas.openxmlformats.org/drawingml/2006/main">
            <a:off x="342900" y="3076575"/>
            <a:ext cx="8458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02124"/>
                </a:solidFill>
                <a:latin typeface="Google Sans Flex"/>
                <a:ea typeface="Google Sans Flex"/>
                <a:cs typeface="Google Sans Flex"/>
              </a:defRPr>
            </a:defPPr>
          </a:lstStyle>
          <a:p xmlns:a="http://schemas.openxmlformats.org/drawingml/2006/main">
            <a:pPr>
              <a:defRPr sz="1650" b="0">
                <a:solidFill>
                  <a:srgbClr val="202124"/>
                </a:solidFill>
                <a:latin typeface="Google Sans Flex"/>
                <a:ea typeface="Google Sans Flex"/>
                <a:cs typeface="Google Sans Flex"/>
              </a:defRPr>
            </a:pPr>
            <a:r>
              <a:rPr sz="1650" b="0">
                <a:solidFill>
                  <a:srgbClr val="202124"/>
                </a:solidFill>
                <a:latin typeface="Google Sans Flex"/>
                <a:ea typeface="Google Sans Flex"/>
                <a:cs typeface="Google Sans Flex"/>
              </a:rPr>
              <a:t>During an outage, a fix can restore one connection while breaking another.</a:t>
            </a:r>
          </a:p>
          <a:p xmlns:a="http://schemas.openxmlformats.org/drawingml/2006/main">
            <a:pPr>
              <a:defRPr sz="1650" b="0">
                <a:solidFill>
                  <a:srgbClr val="202124"/>
                </a:solidFill>
                <a:latin typeface="Google Sans Flex"/>
                <a:ea typeface="Google Sans Flex"/>
                <a:cs typeface="Google Sans Flex"/>
              </a:defRPr>
            </a:pPr>
            <a:r>
              <a:rPr sz="1650" b="0">
                <a:solidFill>
                  <a:srgbClr val="202124"/>
                </a:solidFill>
                <a:latin typeface="Google Sans Flex"/>
                <a:ea typeface="Google Sans Flex"/>
                <a:cs typeface="Google Sans Flex"/>
              </a:rPr>
              <a:t>TwinOps makes that trade-off visible before a change reaches the lab network.</a:t>
            </a:r>
          </a:p>
        </p:txBody>
      </p:sp>
      <p:sp>
        <p:nvSpPr>
          <p:cNvPr id="75" name="users">
            <a:extLst xmlns:a="http://schemas.openxmlformats.org/drawingml/2006/main">
              <a:ext uri="{FF2B5EF4-FFF2-40B4-BE49-F238E27FC236}">
                <a16:creationId xmlns:a16="http://schemas.microsoft.com/office/drawing/2014/main" id="{F200373B-0678-47D7-A126-EA2B9263A727}"/>
              </a:ext>
            </a:extLst>
          </p:cNvPr>
          <p:cNvSpPr>
            <a:spLocks xmlns:a="http://schemas.openxmlformats.org/drawingml/2006/main" noGrp="1"/>
          </p:cNvSpPr>
          <p:nvPr/>
        </p:nvSpPr>
        <p:spPr>
          <a:xfrm xmlns:a="http://schemas.openxmlformats.org/drawingml/2006/main">
            <a:off x="342900" y="4019550"/>
            <a:ext cx="8458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F6368"/>
                </a:solidFill>
                <a:latin typeface="Google Sans Flex"/>
                <a:ea typeface="Google Sans Flex"/>
                <a:cs typeface="Google Sans Flex"/>
              </a:defRPr>
            </a:defPPr>
          </a:lstStyle>
          <a:p xmlns:a="http://schemas.openxmlformats.org/drawingml/2006/main">
            <a:pPr>
              <a:defRPr sz="1500" b="0">
                <a:solidFill>
                  <a:srgbClr val="5F6368"/>
                </a:solidFill>
                <a:latin typeface="Google Sans Flex"/>
                <a:ea typeface="Google Sans Flex"/>
                <a:cs typeface="Google Sans Flex"/>
              </a:defRPr>
            </a:pPr>
            <a:r>
              <a:rPr sz="1500" b="0">
                <a:solidFill>
                  <a:srgbClr val="5F6368"/>
                </a:solidFill>
                <a:latin typeface="Google Sans Flex"/>
                <a:ea typeface="Google Sans Flex"/>
                <a:cs typeface="Google Sans Flex"/>
              </a:rPr>
              <a:t>For network operations engineers, SREs and change approvers.</a:t>
            </a:r>
          </a:p>
          <a:p xmlns:a="http://schemas.openxmlformats.org/drawingml/2006/main">
            <a:pPr>
              <a:defRPr sz="1500" b="0">
                <a:solidFill>
                  <a:srgbClr val="5F6368"/>
                </a:solidFill>
                <a:latin typeface="Google Sans Flex"/>
                <a:ea typeface="Google Sans Flex"/>
                <a:cs typeface="Google Sans Flex"/>
              </a:defRPr>
            </a:pPr>
            <a:r>
              <a:rPr sz="1500" b="0">
                <a:solidFill>
                  <a:srgbClr val="5F6368"/>
                </a:solidFill>
                <a:latin typeface="Google Sans Flex"/>
                <a:ea typeface="Google Sans Flex"/>
                <a:cs typeface="Google Sans Flex"/>
              </a:rPr>
              <a:t>Theme: Future of Work &amp; Enterprise Productivity.</a:t>
            </a:r>
          </a:p>
        </p:txBody>
      </p:sp>
    </p:spTree>
    <p:extLst>
      <p:ext uri="{BB962C8B-B14F-4D97-AF65-F5344CB8AC3E}">
        <p14:creationId xmlns:p14="http://schemas.microsoft.com/office/powerpoint/2010/main" val="66681702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76" name="Google Shape;76;p16">
            <a:extLst xmlns:a="http://schemas.openxmlformats.org/drawingml/2006/main">
              <a:ext uri="{FF2B5EF4-FFF2-40B4-BE49-F238E27FC236}">
                <a16:creationId xmlns:a16="http://schemas.microsoft.com/office/drawing/2014/main" id="{FEF21263-5B4B-4ECC-A5BF-6E8ED1AF0652}"/>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b78b624c65f24f7d">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77" name="Google Shape;77;p16">
            <a:extLst xmlns:a="http://schemas.openxmlformats.org/drawingml/2006/main">
              <a:ext uri="{FF2B5EF4-FFF2-40B4-BE49-F238E27FC236}">
                <a16:creationId xmlns:a16="http://schemas.microsoft.com/office/drawing/2014/main" id="{25BFD446-13CE-41FA-AEC4-6F33AEE15ABF}"/>
              </a:ext>
            </a:extLst>
          </p:cNvPr>
          <p:cNvPicPr>
            <a:picLocks xmlns:a="http://schemas.openxmlformats.org/drawingml/2006/main" noChangeAspect="1"/>
          </p:cNvPicPr>
          <p:nvPr/>
        </p:nvPicPr>
        <p:blipFill>
          <a:blip xmlns:r="http://schemas.openxmlformats.org/officeDocument/2006/relationships" xmlns:a="http://schemas.openxmlformats.org/drawingml/2006/main" r:embed="R9c6b8fe4c1c441e5">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78" name="Google Shape;78;p16">
            <a:extLst xmlns:a="http://schemas.openxmlformats.org/drawingml/2006/main">
              <a:ext uri="{FF2B5EF4-FFF2-40B4-BE49-F238E27FC236}">
                <a16:creationId xmlns:a16="http://schemas.microsoft.com/office/drawing/2014/main" id="{C70A2541-2DD0-4CA2-9481-61DF319134B2}"/>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79" name="Google Shape;79;p16">
            <a:extLst xmlns:a="http://schemas.openxmlformats.org/drawingml/2006/main">
              <a:ext uri="{FF2B5EF4-FFF2-40B4-BE49-F238E27FC236}">
                <a16:creationId xmlns:a16="http://schemas.microsoft.com/office/drawing/2014/main" id="{50138FD3-5113-411E-B193-3E258D5F875D}"/>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Opportunities</a:t>
            </a:r>
            <a:endParaRPr sz="1600">
              <a:latin typeface="Google Sans Flex SemiBold"/>
              <a:ea typeface="Google Sans Flex SemiBold"/>
              <a:cs typeface="Google Sans Flex SemiBold"/>
            </a:endParaRPr>
          </a:p>
        </p:txBody>
      </p:sp>
      <p:sp>
        <p:nvSpPr>
          <p:cNvPr id="80" name="opportunity-heading-0">
            <a:extLst xmlns:a="http://schemas.openxmlformats.org/drawingml/2006/main">
              <a:ext uri="{FF2B5EF4-FFF2-40B4-BE49-F238E27FC236}">
                <a16:creationId xmlns:a16="http://schemas.microsoft.com/office/drawing/2014/main" id="{6306FC20-DCFC-4FB4-93C6-72A518D6C8BF}"/>
              </a:ext>
            </a:extLst>
          </p:cNvPr>
          <p:cNvSpPr>
            <a:spLocks xmlns:a="http://schemas.openxmlformats.org/drawingml/2006/main" noGrp="1"/>
          </p:cNvSpPr>
          <p:nvPr/>
        </p:nvSpPr>
        <p:spPr>
          <a:xfrm xmlns:a="http://schemas.openxmlformats.org/drawingml/2006/main">
            <a:off x="342900" y="1381125"/>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967D2"/>
                </a:solidFill>
                <a:latin typeface="Google Sans Flex"/>
                <a:ea typeface="Google Sans Flex"/>
                <a:cs typeface="Google Sans Flex"/>
              </a:defRPr>
            </a:defPPr>
          </a:lstStyle>
          <a:p xmlns:a="http://schemas.openxmlformats.org/drawingml/2006/main">
            <a:pPr>
              <a:defRPr sz="1725" b="1">
                <a:solidFill>
                  <a:srgbClr val="1967D2"/>
                </a:solidFill>
                <a:latin typeface="Google Sans Flex"/>
                <a:ea typeface="Google Sans Flex"/>
                <a:cs typeface="Google Sans Flex"/>
              </a:defRPr>
            </a:pPr>
            <a:r>
              <a:rPr sz="1725" b="1">
                <a:solidFill>
                  <a:srgbClr val="1967D2"/>
                </a:solidFill>
                <a:latin typeface="Google Sans Flex"/>
                <a:ea typeface="Google Sans Flex"/>
                <a:cs typeface="Google Sans Flex"/>
              </a:rPr>
              <a:t>What differentiates it</a:t>
            </a:r>
          </a:p>
        </p:txBody>
      </p:sp>
      <p:sp>
        <p:nvSpPr>
          <p:cNvPr id="81" name="opportunity-body-0">
            <a:extLst xmlns:a="http://schemas.openxmlformats.org/drawingml/2006/main">
              <a:ext uri="{FF2B5EF4-FFF2-40B4-BE49-F238E27FC236}">
                <a16:creationId xmlns:a16="http://schemas.microsoft.com/office/drawing/2014/main" id="{0A54A5F5-8C64-499A-949D-6FB36CBAA929}"/>
              </a:ext>
            </a:extLst>
          </p:cNvPr>
          <p:cNvSpPr>
            <a:spLocks xmlns:a="http://schemas.openxmlformats.org/drawingml/2006/main" noGrp="1"/>
          </p:cNvSpPr>
          <p:nvPr/>
        </p:nvSpPr>
        <p:spPr>
          <a:xfrm xmlns:a="http://schemas.openxmlformats.org/drawingml/2006/main">
            <a:off x="342900" y="1752600"/>
            <a:ext cx="8458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02124"/>
                </a:solidFill>
                <a:latin typeface="Google Sans Flex"/>
                <a:ea typeface="Google Sans Flex"/>
                <a:cs typeface="Google Sans Flex"/>
              </a:defRPr>
            </a:defPPr>
          </a:lstStyle>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A repair proposal includes reproduced symptoms, rejected alternatives,</a:t>
            </a:r>
          </a:p>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challenge results and rollback evidence that an approver can inspect.</a:t>
            </a:r>
          </a:p>
        </p:txBody>
      </p:sp>
      <p:sp>
        <p:nvSpPr>
          <p:cNvPr id="82" name="opportunity-heading-1">
            <a:extLst xmlns:a="http://schemas.openxmlformats.org/drawingml/2006/main">
              <a:ext uri="{FF2B5EF4-FFF2-40B4-BE49-F238E27FC236}">
                <a16:creationId xmlns:a16="http://schemas.microsoft.com/office/drawing/2014/main" id="{A9D6F4DF-3A0E-458A-8637-1C814D19B5E1}"/>
              </a:ext>
            </a:extLst>
          </p:cNvPr>
          <p:cNvSpPr>
            <a:spLocks xmlns:a="http://schemas.openxmlformats.org/drawingml/2006/main" noGrp="1"/>
          </p:cNvSpPr>
          <p:nvPr/>
        </p:nvSpPr>
        <p:spPr>
          <a:xfrm xmlns:a="http://schemas.openxmlformats.org/drawingml/2006/main">
            <a:off x="342900" y="2476500"/>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967D2"/>
                </a:solidFill>
                <a:latin typeface="Google Sans Flex"/>
                <a:ea typeface="Google Sans Flex"/>
                <a:cs typeface="Google Sans Flex"/>
              </a:defRPr>
            </a:defPPr>
          </a:lstStyle>
          <a:p xmlns:a="http://schemas.openxmlformats.org/drawingml/2006/main">
            <a:pPr>
              <a:defRPr sz="1725" b="1">
                <a:solidFill>
                  <a:srgbClr val="1967D2"/>
                </a:solidFill>
                <a:latin typeface="Google Sans Flex"/>
                <a:ea typeface="Google Sans Flex"/>
                <a:cs typeface="Google Sans Flex"/>
              </a:defRPr>
            </a:pPr>
            <a:r>
              <a:rPr sz="1725" b="1">
                <a:solidFill>
                  <a:srgbClr val="1967D2"/>
                </a:solidFill>
                <a:latin typeface="Google Sans Flex"/>
                <a:ea typeface="Google Sans Flex"/>
                <a:cs typeface="Google Sans Flex"/>
              </a:rPr>
              <a:t>How it solves the problem</a:t>
            </a:r>
          </a:p>
        </p:txBody>
      </p:sp>
      <p:sp>
        <p:nvSpPr>
          <p:cNvPr id="83" name="opportunity-body-1">
            <a:extLst xmlns:a="http://schemas.openxmlformats.org/drawingml/2006/main">
              <a:ext uri="{FF2B5EF4-FFF2-40B4-BE49-F238E27FC236}">
                <a16:creationId xmlns:a16="http://schemas.microsoft.com/office/drawing/2014/main" id="{BD55F85D-9888-4E6E-85CD-D74CBFCE9720}"/>
              </a:ext>
            </a:extLst>
          </p:cNvPr>
          <p:cNvSpPr>
            <a:spLocks xmlns:a="http://schemas.openxmlformats.org/drawingml/2006/main" noGrp="1"/>
          </p:cNvSpPr>
          <p:nvPr/>
        </p:nvSpPr>
        <p:spPr>
          <a:xfrm xmlns:a="http://schemas.openxmlformats.org/drawingml/2006/main">
            <a:off x="342900" y="2847975"/>
            <a:ext cx="8458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02124"/>
                </a:solidFill>
                <a:latin typeface="Google Sans Flex"/>
                <a:ea typeface="Google Sans Flex"/>
                <a:cs typeface="Google Sans Flex"/>
              </a:defRPr>
            </a:defPPr>
          </a:lstStyle>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Competing fixes run on an isolated protocol twin. The recorded broad</a:t>
            </a:r>
          </a:p>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rollback restored the initial journeys but failed a later IPv6 challenge.</a:t>
            </a:r>
          </a:p>
        </p:txBody>
      </p:sp>
      <p:sp>
        <p:nvSpPr>
          <p:cNvPr id="84" name="opportunity-heading-2">
            <a:extLst xmlns:a="http://schemas.openxmlformats.org/drawingml/2006/main">
              <a:ext uri="{FF2B5EF4-FFF2-40B4-BE49-F238E27FC236}">
                <a16:creationId xmlns:a16="http://schemas.microsoft.com/office/drawing/2014/main" id="{D1BC73F1-1503-4D02-9DA3-D9D3449786CB}"/>
              </a:ext>
            </a:extLst>
          </p:cNvPr>
          <p:cNvSpPr>
            <a:spLocks xmlns:a="http://schemas.openxmlformats.org/drawingml/2006/main" noGrp="1"/>
          </p:cNvSpPr>
          <p:nvPr/>
        </p:nvSpPr>
        <p:spPr>
          <a:xfrm xmlns:a="http://schemas.openxmlformats.org/drawingml/2006/main">
            <a:off x="342900" y="3571875"/>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967D2"/>
                </a:solidFill>
                <a:latin typeface="Google Sans Flex"/>
                <a:ea typeface="Google Sans Flex"/>
                <a:cs typeface="Google Sans Flex"/>
              </a:defRPr>
            </a:defPPr>
          </a:lstStyle>
          <a:p xmlns:a="http://schemas.openxmlformats.org/drawingml/2006/main">
            <a:pPr>
              <a:defRPr sz="1725" b="1">
                <a:solidFill>
                  <a:srgbClr val="1967D2"/>
                </a:solidFill>
                <a:latin typeface="Google Sans Flex"/>
                <a:ea typeface="Google Sans Flex"/>
                <a:cs typeface="Google Sans Flex"/>
              </a:defRPr>
            </a:pPr>
            <a:r>
              <a:rPr sz="1725" b="1">
                <a:solidFill>
                  <a:srgbClr val="1967D2"/>
                </a:solidFill>
                <a:latin typeface="Google Sans Flex"/>
                <a:ea typeface="Google Sans Flex"/>
                <a:cs typeface="Google Sans Flex"/>
              </a:rPr>
              <a:t>Unique value proposition</a:t>
            </a:r>
          </a:p>
        </p:txBody>
      </p:sp>
      <p:sp>
        <p:nvSpPr>
          <p:cNvPr id="85" name="opportunity-body-2">
            <a:extLst xmlns:a="http://schemas.openxmlformats.org/drawingml/2006/main">
              <a:ext uri="{FF2B5EF4-FFF2-40B4-BE49-F238E27FC236}">
                <a16:creationId xmlns:a16="http://schemas.microsoft.com/office/drawing/2014/main" id="{77F69A4B-85B3-45B5-BD32-AF07C4B786F5}"/>
              </a:ext>
            </a:extLst>
          </p:cNvPr>
          <p:cNvSpPr>
            <a:spLocks xmlns:a="http://schemas.openxmlformats.org/drawingml/2006/main" noGrp="1"/>
          </p:cNvSpPr>
          <p:nvPr/>
        </p:nvSpPr>
        <p:spPr>
          <a:xfrm xmlns:a="http://schemas.openxmlformats.org/drawingml/2006/main">
            <a:off x="342900" y="3943350"/>
            <a:ext cx="8458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02124"/>
                </a:solidFill>
                <a:latin typeface="Google Sans Flex"/>
                <a:ea typeface="Google Sans Flex"/>
                <a:cs typeface="Google Sans Flex"/>
              </a:defRPr>
            </a:defPPr>
          </a:lstStyle>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Approval is bound to the tested change and target state. Fresh checks</a:t>
            </a:r>
          </a:p>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verify the outcome; missing evidence can stop the workflow.</a:t>
            </a:r>
          </a:p>
        </p:txBody>
      </p:sp>
    </p:spTree>
    <p:extLst>
      <p:ext uri="{BB962C8B-B14F-4D97-AF65-F5344CB8AC3E}">
        <p14:creationId xmlns:p14="http://schemas.microsoft.com/office/powerpoint/2010/main" val="192676415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84" name="Google Shape;84;p17">
            <a:extLst xmlns:a="http://schemas.openxmlformats.org/drawingml/2006/main">
              <a:ext uri="{FF2B5EF4-FFF2-40B4-BE49-F238E27FC236}">
                <a16:creationId xmlns:a16="http://schemas.microsoft.com/office/drawing/2014/main" id="{9B41ED82-40EA-4F9F-BD45-C25A326670E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d8bab798fe894cd3">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85" name="Google Shape;85;p17">
            <a:extLst xmlns:a="http://schemas.openxmlformats.org/drawingml/2006/main">
              <a:ext uri="{FF2B5EF4-FFF2-40B4-BE49-F238E27FC236}">
                <a16:creationId xmlns:a16="http://schemas.microsoft.com/office/drawing/2014/main" id="{DB4EFD2D-FCF0-4388-87CD-0C3F6F06FD31}"/>
              </a:ext>
            </a:extLst>
          </p:cNvPr>
          <p:cNvPicPr>
            <a:picLocks xmlns:a="http://schemas.openxmlformats.org/drawingml/2006/main" noChangeAspect="1"/>
          </p:cNvPicPr>
          <p:nvPr/>
        </p:nvPicPr>
        <p:blipFill>
          <a:blip xmlns:r="http://schemas.openxmlformats.org/officeDocument/2006/relationships" xmlns:a="http://schemas.openxmlformats.org/drawingml/2006/main" r:embed="Ra1dc39a495c04cc3">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86" name="Google Shape;86;p17">
            <a:extLst xmlns:a="http://schemas.openxmlformats.org/drawingml/2006/main">
              <a:ext uri="{FF2B5EF4-FFF2-40B4-BE49-F238E27FC236}">
                <a16:creationId xmlns:a16="http://schemas.microsoft.com/office/drawing/2014/main" id="{956F43C0-2D14-473F-8239-351EC606CB49}"/>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7" name="Google Shape;87;p17">
            <a:extLst xmlns:a="http://schemas.openxmlformats.org/drawingml/2006/main">
              <a:ext uri="{FF2B5EF4-FFF2-40B4-BE49-F238E27FC236}">
                <a16:creationId xmlns:a16="http://schemas.microsoft.com/office/drawing/2014/main" id="{269305C3-CC67-4F53-8300-9E0823E65538}"/>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List of features offered by the solution</a:t>
            </a:r>
            <a:endParaRPr sz="1600">
              <a:latin typeface="Google Sans Flex Medium"/>
              <a:ea typeface="Google Sans Flex Medium"/>
              <a:cs typeface="Google Sans Flex Medium"/>
            </a:endParaRPr>
          </a:p>
        </p:txBody>
      </p:sp>
      <p:sp>
        <p:nvSpPr>
          <p:cNvPr id="88" name="feature-heading-0">
            <a:extLst xmlns:a="http://schemas.openxmlformats.org/drawingml/2006/main">
              <a:ext uri="{FF2B5EF4-FFF2-40B4-BE49-F238E27FC236}">
                <a16:creationId xmlns:a16="http://schemas.microsoft.com/office/drawing/2014/main" id="{E8311609-03D8-4E66-BF9A-DCC4CC3CF02F}"/>
              </a:ext>
            </a:extLst>
          </p:cNvPr>
          <p:cNvSpPr>
            <a:spLocks xmlns:a="http://schemas.openxmlformats.org/drawingml/2006/main" noGrp="1"/>
          </p:cNvSpPr>
          <p:nvPr/>
        </p:nvSpPr>
        <p:spPr>
          <a:xfrm xmlns:a="http://schemas.openxmlformats.org/drawingml/2006/main">
            <a:off x="342900" y="136207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Incident detection</a:t>
            </a:r>
          </a:p>
        </p:txBody>
      </p:sp>
      <p:sp>
        <p:nvSpPr>
          <p:cNvPr id="89" name="feature-body-0">
            <a:extLst xmlns:a="http://schemas.openxmlformats.org/drawingml/2006/main">
              <a:ext uri="{FF2B5EF4-FFF2-40B4-BE49-F238E27FC236}">
                <a16:creationId xmlns:a16="http://schemas.microsoft.com/office/drawing/2014/main" id="{131C25B8-B1FB-4EFB-B431-E952DB6F0110}"/>
              </a:ext>
            </a:extLst>
          </p:cNvPr>
          <p:cNvSpPr>
            <a:spLocks xmlns:a="http://schemas.openxmlformats.org/drawingml/2006/main" noGrp="1"/>
          </p:cNvSpPr>
          <p:nvPr/>
        </p:nvSpPr>
        <p:spPr>
          <a:xfrm xmlns:a="http://schemas.openxmlformats.org/drawingml/2006/main">
            <a:off x="2714625" y="136207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Reads Metro observations without receiving the selected fault label.</a:t>
            </a:r>
          </a:p>
        </p:txBody>
      </p:sp>
      <p:sp>
        <p:nvSpPr>
          <p:cNvPr id="90" name="feature-heading-1">
            <a:extLst xmlns:a="http://schemas.openxmlformats.org/drawingml/2006/main">
              <a:ext uri="{FF2B5EF4-FFF2-40B4-BE49-F238E27FC236}">
                <a16:creationId xmlns:a16="http://schemas.microsoft.com/office/drawing/2014/main" id="{C241B4F9-54E5-44F2-91D0-1059AF15BBFA}"/>
              </a:ext>
            </a:extLst>
          </p:cNvPr>
          <p:cNvSpPr>
            <a:spLocks xmlns:a="http://schemas.openxmlformats.org/drawingml/2006/main" noGrp="1"/>
          </p:cNvSpPr>
          <p:nvPr/>
        </p:nvSpPr>
        <p:spPr>
          <a:xfrm xmlns:a="http://schemas.openxmlformats.org/drawingml/2006/main">
            <a:off x="342900" y="191452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Gemini investigation</a:t>
            </a:r>
          </a:p>
        </p:txBody>
      </p:sp>
      <p:sp>
        <p:nvSpPr>
          <p:cNvPr id="91" name="feature-body-1">
            <a:extLst xmlns:a="http://schemas.openxmlformats.org/drawingml/2006/main">
              <a:ext uri="{FF2B5EF4-FFF2-40B4-BE49-F238E27FC236}">
                <a16:creationId xmlns:a16="http://schemas.microsoft.com/office/drawing/2014/main" id="{F7F7C1F7-FA87-40F8-988B-346463A78238}"/>
              </a:ext>
            </a:extLst>
          </p:cNvPr>
          <p:cNvSpPr>
            <a:spLocks xmlns:a="http://schemas.openxmlformats.org/drawingml/2006/main" noGrp="1"/>
          </p:cNvSpPr>
          <p:nvPr/>
        </p:nvSpPr>
        <p:spPr>
          <a:xfrm xmlns:a="http://schemas.openxmlformats.org/drawingml/2006/main">
            <a:off x="2714625" y="191452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Ranks hypotheses and proposes typed, allow-listed repairs.</a:t>
            </a:r>
          </a:p>
        </p:txBody>
      </p:sp>
      <p:sp>
        <p:nvSpPr>
          <p:cNvPr id="92" name="feature-heading-2">
            <a:extLst xmlns:a="http://schemas.openxmlformats.org/drawingml/2006/main">
              <a:ext uri="{FF2B5EF4-FFF2-40B4-BE49-F238E27FC236}">
                <a16:creationId xmlns:a16="http://schemas.microsoft.com/office/drawing/2014/main" id="{FC883C30-AA64-4BE6-8FAE-127BD8F0911C}"/>
              </a:ext>
            </a:extLst>
          </p:cNvPr>
          <p:cNvSpPr>
            <a:spLocks xmlns:a="http://schemas.openxmlformats.org/drawingml/2006/main" noGrp="1"/>
          </p:cNvSpPr>
          <p:nvPr/>
        </p:nvSpPr>
        <p:spPr>
          <a:xfrm xmlns:a="http://schemas.openxmlformats.org/drawingml/2006/main">
            <a:off x="342900" y="246697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Twin experiments</a:t>
            </a:r>
          </a:p>
        </p:txBody>
      </p:sp>
      <p:sp>
        <p:nvSpPr>
          <p:cNvPr id="93" name="feature-body-2">
            <a:extLst xmlns:a="http://schemas.openxmlformats.org/drawingml/2006/main">
              <a:ext uri="{FF2B5EF4-FFF2-40B4-BE49-F238E27FC236}">
                <a16:creationId xmlns:a16="http://schemas.microsoft.com/office/drawing/2014/main" id="{314A4487-939C-4EA8-A2AE-F5A5488714B3}"/>
              </a:ext>
            </a:extLst>
          </p:cNvPr>
          <p:cNvSpPr>
            <a:spLocks xmlns:a="http://schemas.openxmlformats.org/drawingml/2006/main" noGrp="1"/>
          </p:cNvSpPr>
          <p:nvPr/>
        </p:nvSpPr>
        <p:spPr>
          <a:xfrm xmlns:a="http://schemas.openxmlformats.org/drawingml/2006/main">
            <a:off x="2714625" y="246697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Tests real routing, DNS and TLS in a separate network.</a:t>
            </a:r>
          </a:p>
        </p:txBody>
      </p:sp>
      <p:sp>
        <p:nvSpPr>
          <p:cNvPr id="94" name="feature-heading-3">
            <a:extLst xmlns:a="http://schemas.openxmlformats.org/drawingml/2006/main">
              <a:ext uri="{FF2B5EF4-FFF2-40B4-BE49-F238E27FC236}">
                <a16:creationId xmlns:a16="http://schemas.microsoft.com/office/drawing/2014/main" id="{7C85C7FC-68CB-44D7-A645-EE2CD06B1BF1}"/>
              </a:ext>
            </a:extLst>
          </p:cNvPr>
          <p:cNvSpPr>
            <a:spLocks xmlns:a="http://schemas.openxmlformats.org/drawingml/2006/main" noGrp="1"/>
          </p:cNvSpPr>
          <p:nvPr/>
        </p:nvSpPr>
        <p:spPr>
          <a:xfrm xmlns:a="http://schemas.openxmlformats.org/drawingml/2006/main">
            <a:off x="342900" y="301942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Adversarial checks</a:t>
            </a:r>
          </a:p>
        </p:txBody>
      </p:sp>
      <p:sp>
        <p:nvSpPr>
          <p:cNvPr id="95" name="feature-body-3">
            <a:extLst xmlns:a="http://schemas.openxmlformats.org/drawingml/2006/main">
              <a:ext uri="{FF2B5EF4-FFF2-40B4-BE49-F238E27FC236}">
                <a16:creationId xmlns:a16="http://schemas.microsoft.com/office/drawing/2014/main" id="{AEE10311-D852-4F0C-9B61-CAE362FAC1C2}"/>
              </a:ext>
            </a:extLst>
          </p:cNvPr>
          <p:cNvSpPr>
            <a:spLocks xmlns:a="http://schemas.openxmlformats.org/drawingml/2006/main" noGrp="1"/>
          </p:cNvSpPr>
          <p:nvPr/>
        </p:nvSpPr>
        <p:spPr>
          <a:xfrm xmlns:a="http://schemas.openxmlformats.org/drawingml/2006/main">
            <a:off x="2714625" y="301942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Challenges candidate repairs and retests bounded revisions.</a:t>
            </a:r>
          </a:p>
        </p:txBody>
      </p:sp>
      <p:sp>
        <p:nvSpPr>
          <p:cNvPr id="96" name="feature-heading-4">
            <a:extLst xmlns:a="http://schemas.openxmlformats.org/drawingml/2006/main">
              <a:ext uri="{FF2B5EF4-FFF2-40B4-BE49-F238E27FC236}">
                <a16:creationId xmlns:a16="http://schemas.microsoft.com/office/drawing/2014/main" id="{712E9562-6D19-4052-B1B4-C2BE6D0B8536}"/>
              </a:ext>
            </a:extLst>
          </p:cNvPr>
          <p:cNvSpPr>
            <a:spLocks xmlns:a="http://schemas.openxmlformats.org/drawingml/2006/main" noGrp="1"/>
          </p:cNvSpPr>
          <p:nvPr/>
        </p:nvSpPr>
        <p:spPr>
          <a:xfrm xmlns:a="http://schemas.openxmlformats.org/drawingml/2006/main">
            <a:off x="342900" y="357187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Human decision</a:t>
            </a:r>
          </a:p>
        </p:txBody>
      </p:sp>
      <p:sp>
        <p:nvSpPr>
          <p:cNvPr id="97" name="feature-body-4">
            <a:extLst xmlns:a="http://schemas.openxmlformats.org/drawingml/2006/main">
              <a:ext uri="{FF2B5EF4-FFF2-40B4-BE49-F238E27FC236}">
                <a16:creationId xmlns:a16="http://schemas.microsoft.com/office/drawing/2014/main" id="{B7AC1BA1-C840-4670-8C28-9F38FA3036E4}"/>
              </a:ext>
            </a:extLst>
          </p:cNvPr>
          <p:cNvSpPr>
            <a:spLocks xmlns:a="http://schemas.openxmlformats.org/drawingml/2006/main" noGrp="1"/>
          </p:cNvSpPr>
          <p:nvPr/>
        </p:nvSpPr>
        <p:spPr>
          <a:xfrm xmlns:a="http://schemas.openxmlformats.org/drawingml/2006/main">
            <a:off x="2714625" y="357187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Shows the exact diff, evidence limits and rehearsed rollback.</a:t>
            </a:r>
          </a:p>
        </p:txBody>
      </p:sp>
      <p:sp>
        <p:nvSpPr>
          <p:cNvPr id="98" name="feature-heading-5">
            <a:extLst xmlns:a="http://schemas.openxmlformats.org/drawingml/2006/main">
              <a:ext uri="{FF2B5EF4-FFF2-40B4-BE49-F238E27FC236}">
                <a16:creationId xmlns:a16="http://schemas.microsoft.com/office/drawing/2014/main" id="{CD1347CB-7FDD-40C6-B5D8-54B8C61463CA}"/>
              </a:ext>
            </a:extLst>
          </p:cNvPr>
          <p:cNvSpPr>
            <a:spLocks xmlns:a="http://schemas.openxmlformats.org/drawingml/2006/main" noGrp="1"/>
          </p:cNvSpPr>
          <p:nvPr/>
        </p:nvSpPr>
        <p:spPr>
          <a:xfrm xmlns:a="http://schemas.openxmlformats.org/drawingml/2006/main">
            <a:off x="342900" y="412432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Verified outcome</a:t>
            </a:r>
          </a:p>
        </p:txBody>
      </p:sp>
      <p:sp>
        <p:nvSpPr>
          <p:cNvPr id="99" name="feature-body-5">
            <a:extLst xmlns:a="http://schemas.openxmlformats.org/drawingml/2006/main">
              <a:ext uri="{FF2B5EF4-FFF2-40B4-BE49-F238E27FC236}">
                <a16:creationId xmlns:a16="http://schemas.microsoft.com/office/drawing/2014/main" id="{6EC39209-FA7B-479C-AE70-A588D0E7A3DF}"/>
              </a:ext>
            </a:extLst>
          </p:cNvPr>
          <p:cNvSpPr>
            <a:spLocks xmlns:a="http://schemas.openxmlformats.org/drawingml/2006/main" noGrp="1"/>
          </p:cNvSpPr>
          <p:nvPr/>
        </p:nvSpPr>
        <p:spPr>
          <a:xfrm xmlns:a="http://schemas.openxmlformats.org/drawingml/2006/main">
            <a:off x="2714625" y="4124325"/>
            <a:ext cx="6086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Checks recovery after apply and exports the Proof Pack.</a:t>
            </a:r>
          </a:p>
        </p:txBody>
      </p:sp>
    </p:spTree>
    <p:extLst>
      <p:ext uri="{BB962C8B-B14F-4D97-AF65-F5344CB8AC3E}">
        <p14:creationId xmlns:p14="http://schemas.microsoft.com/office/powerpoint/2010/main" val="144007936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cxnSp>
        <p:nvCxnSpPr>
          <p:cNvPr id="111" name="">
            <a:extLst xmlns:a="http://schemas.openxmlformats.org/drawingml/2006/main">
              <a:ext uri="{FF2B5EF4-FFF2-40B4-BE49-F238E27FC236}">
                <a16:creationId xmlns:a16="http://schemas.microsoft.com/office/drawing/2014/main" id="{838421A9-23EA-4E5D-A7BA-D4F61D51F5B2}"/>
              </a:ext>
            </a:extLst>
          </p:cNvPr>
          <p:cNvCxnSpPr>
            <a:stCxn xmlns:a="http://schemas.openxmlformats.org/drawingml/2006/main" id="107" idx="3"/>
            <a:endCxn xmlns:a="http://schemas.openxmlformats.org/drawingml/2006/main" id="108" idx="1"/>
          </p:cNvCxnSpPr>
          <p:nvPr/>
        </p:nvCxnSpPr>
        <p:spPr>
          <a:xfrm xmlns:a="http://schemas.openxmlformats.org/drawingml/2006/main">
            <a:off x="6572250" y="3752850"/>
            <a:ext cx="200025"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10" name="">
            <a:extLst xmlns:a="http://schemas.openxmlformats.org/drawingml/2006/main">
              <a:ext uri="{FF2B5EF4-FFF2-40B4-BE49-F238E27FC236}">
                <a16:creationId xmlns:a16="http://schemas.microsoft.com/office/drawing/2014/main" id="{94F06BF2-13BF-4DE1-A860-186A44D59131}"/>
              </a:ext>
            </a:extLst>
          </p:cNvPr>
          <p:cNvCxnSpPr>
            <a:stCxn xmlns:a="http://schemas.openxmlformats.org/drawingml/2006/main" id="106" idx="3"/>
            <a:endCxn xmlns:a="http://schemas.openxmlformats.org/drawingml/2006/main" id="107" idx="1"/>
          </p:cNvCxnSpPr>
          <p:nvPr/>
        </p:nvCxnSpPr>
        <p:spPr>
          <a:xfrm xmlns:a="http://schemas.openxmlformats.org/drawingml/2006/main">
            <a:off x="4429125" y="3752850"/>
            <a:ext cx="200025"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09" name="">
            <a:extLst xmlns:a="http://schemas.openxmlformats.org/drawingml/2006/main">
              <a:ext uri="{FF2B5EF4-FFF2-40B4-BE49-F238E27FC236}">
                <a16:creationId xmlns:a16="http://schemas.microsoft.com/office/drawing/2014/main" id="{8D8E00D1-1895-4714-9B0F-3009E60241E6}"/>
              </a:ext>
            </a:extLst>
          </p:cNvPr>
          <p:cNvCxnSpPr>
            <a:stCxn xmlns:a="http://schemas.openxmlformats.org/drawingml/2006/main" id="105" idx="3"/>
            <a:endCxn xmlns:a="http://schemas.openxmlformats.org/drawingml/2006/main" id="106" idx="1"/>
          </p:cNvCxnSpPr>
          <p:nvPr/>
        </p:nvCxnSpPr>
        <p:spPr>
          <a:xfrm xmlns:a="http://schemas.openxmlformats.org/drawingml/2006/main">
            <a:off x="2286000" y="3752850"/>
            <a:ext cx="200025"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03" name="">
            <a:extLst xmlns:a="http://schemas.openxmlformats.org/drawingml/2006/main">
              <a:ext uri="{FF2B5EF4-FFF2-40B4-BE49-F238E27FC236}">
                <a16:creationId xmlns:a16="http://schemas.microsoft.com/office/drawing/2014/main" id="{A17AC099-05B0-4D3D-A08A-B71594C1E7F9}"/>
              </a:ext>
            </a:extLst>
          </p:cNvPr>
          <p:cNvCxnSpPr>
            <a:stCxn xmlns:a="http://schemas.openxmlformats.org/drawingml/2006/main" id="99" idx="3"/>
            <a:endCxn xmlns:a="http://schemas.openxmlformats.org/drawingml/2006/main" id="100" idx="1"/>
          </p:cNvCxnSpPr>
          <p:nvPr/>
        </p:nvCxnSpPr>
        <p:spPr>
          <a:xfrm xmlns:a="http://schemas.openxmlformats.org/drawingml/2006/main">
            <a:off x="6572250" y="2190750"/>
            <a:ext cx="200025"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02" name="">
            <a:extLst xmlns:a="http://schemas.openxmlformats.org/drawingml/2006/main">
              <a:ext uri="{FF2B5EF4-FFF2-40B4-BE49-F238E27FC236}">
                <a16:creationId xmlns:a16="http://schemas.microsoft.com/office/drawing/2014/main" id="{36925E96-8A9B-4B47-ADBF-A525CC63F4F7}"/>
              </a:ext>
            </a:extLst>
          </p:cNvPr>
          <p:cNvCxnSpPr>
            <a:stCxn xmlns:a="http://schemas.openxmlformats.org/drawingml/2006/main" id="98" idx="3"/>
            <a:endCxn xmlns:a="http://schemas.openxmlformats.org/drawingml/2006/main" id="99" idx="1"/>
          </p:cNvCxnSpPr>
          <p:nvPr/>
        </p:nvCxnSpPr>
        <p:spPr>
          <a:xfrm xmlns:a="http://schemas.openxmlformats.org/drawingml/2006/main">
            <a:off x="4429125" y="2190750"/>
            <a:ext cx="200025"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01" name="">
            <a:extLst xmlns:a="http://schemas.openxmlformats.org/drawingml/2006/main">
              <a:ext uri="{FF2B5EF4-FFF2-40B4-BE49-F238E27FC236}">
                <a16:creationId xmlns:a16="http://schemas.microsoft.com/office/drawing/2014/main" id="{111EFF8A-5FA4-4389-A537-C8BA2FDD3EB6}"/>
              </a:ext>
            </a:extLst>
          </p:cNvPr>
          <p:cNvCxnSpPr>
            <a:stCxn xmlns:a="http://schemas.openxmlformats.org/drawingml/2006/main" id="97" idx="3"/>
            <a:endCxn xmlns:a="http://schemas.openxmlformats.org/drawingml/2006/main" id="98" idx="1"/>
          </p:cNvCxnSpPr>
          <p:nvPr/>
        </p:nvCxnSpPr>
        <p:spPr>
          <a:xfrm xmlns:a="http://schemas.openxmlformats.org/drawingml/2006/main">
            <a:off x="2286000" y="2190750"/>
            <a:ext cx="200025" cy="0"/>
          </a:xfrm>
          <a:prstGeom xmlns:a="http://schemas.openxmlformats.org/drawingml/2006/main" prst="straightConnector1">
            <a:avLst/>
          </a:prstGeom>
          <a:ln xmlns:a="http://schemas.openxmlformats.org/drawingml/2006/main" w="14288">
            <a:solidFill>
              <a:srgbClr val="1967D2"/>
            </a:solidFill>
            <a:tailEnd type="triangle" w="sm" len="sm"/>
          </a:ln>
        </p:spPr>
      </p:cxnSp>
      <p:pic>
        <p:nvPicPr>
          <p:cNvPr id="92" name="Google Shape;92;p18">
            <a:extLst xmlns:a="http://schemas.openxmlformats.org/drawingml/2006/main">
              <a:ext uri="{FF2B5EF4-FFF2-40B4-BE49-F238E27FC236}">
                <a16:creationId xmlns:a16="http://schemas.microsoft.com/office/drawing/2014/main" id="{A99E30AE-EB50-44FF-89B9-6283A858C8B5}"/>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6ffac6ae8e734ad6">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93" name="Google Shape;93;p18">
            <a:extLst xmlns:a="http://schemas.openxmlformats.org/drawingml/2006/main">
              <a:ext uri="{FF2B5EF4-FFF2-40B4-BE49-F238E27FC236}">
                <a16:creationId xmlns:a16="http://schemas.microsoft.com/office/drawing/2014/main" id="{A2217792-F025-4224-9CC7-6E490E41978E}"/>
              </a:ext>
            </a:extLst>
          </p:cNvPr>
          <p:cNvPicPr>
            <a:picLocks xmlns:a="http://schemas.openxmlformats.org/drawingml/2006/main" noChangeAspect="1"/>
          </p:cNvPicPr>
          <p:nvPr/>
        </p:nvPicPr>
        <p:blipFill>
          <a:blip xmlns:r="http://schemas.openxmlformats.org/officeDocument/2006/relationships" xmlns:a="http://schemas.openxmlformats.org/drawingml/2006/main" r:embed="R9ae4b034a79e4ca7">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94" name="Google Shape;94;p18">
            <a:extLst xmlns:a="http://schemas.openxmlformats.org/drawingml/2006/main">
              <a:ext uri="{FF2B5EF4-FFF2-40B4-BE49-F238E27FC236}">
                <a16:creationId xmlns:a16="http://schemas.microsoft.com/office/drawing/2014/main" id="{64177766-D102-4CAE-9B94-6BFCA3F7281F}"/>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95" name="Google Shape;95;p18">
            <a:extLst xmlns:a="http://schemas.openxmlformats.org/drawingml/2006/main">
              <a:ext uri="{FF2B5EF4-FFF2-40B4-BE49-F238E27FC236}">
                <a16:creationId xmlns:a16="http://schemas.microsoft.com/office/drawing/2014/main" id="{347B563C-50CB-49EC-916C-B354500CAEC3}"/>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Process flow diagram</a:t>
            </a:r>
            <a:endParaRPr sz="1600">
              <a:latin typeface="Google Sans Flex Medium"/>
              <a:ea typeface="Google Sans Flex Medium"/>
              <a:cs typeface="Google Sans Flex Medium"/>
            </a:endParaRPr>
          </a:p>
        </p:txBody>
      </p:sp>
      <p:sp>
        <p:nvSpPr>
          <p:cNvPr id="96" name="process-boundary">
            <a:extLst xmlns:a="http://schemas.openxmlformats.org/drawingml/2006/main">
              <a:ext uri="{FF2B5EF4-FFF2-40B4-BE49-F238E27FC236}">
                <a16:creationId xmlns:a16="http://schemas.microsoft.com/office/drawing/2014/main" id="{EC8775CC-ECB4-4582-BC6C-4C2136393930}"/>
              </a:ext>
            </a:extLst>
          </p:cNvPr>
          <p:cNvSpPr>
            <a:spLocks xmlns:a="http://schemas.openxmlformats.org/drawingml/2006/main" noGrp="1"/>
          </p:cNvSpPr>
          <p:nvPr/>
        </p:nvSpPr>
        <p:spPr>
          <a:xfrm xmlns:a="http://schemas.openxmlformats.org/drawingml/2006/main">
            <a:off x="342900" y="1362075"/>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967D2"/>
                </a:solidFill>
                <a:latin typeface="Google Sans Flex"/>
                <a:ea typeface="Google Sans Flex"/>
                <a:cs typeface="Google Sans Flex"/>
              </a:defRPr>
            </a:defPPr>
          </a:lstStyle>
          <a:p xmlns:a="http://schemas.openxmlformats.org/drawingml/2006/main">
            <a:pPr>
              <a:defRPr sz="1650" b="1">
                <a:solidFill>
                  <a:srgbClr val="1967D2"/>
                </a:solidFill>
                <a:latin typeface="Google Sans Flex"/>
                <a:ea typeface="Google Sans Flex"/>
                <a:cs typeface="Google Sans Flex"/>
              </a:defRPr>
            </a:pPr>
            <a:r>
              <a:rPr sz="1650" b="1">
                <a:solidFill>
                  <a:srgbClr val="1967D2"/>
                </a:solidFill>
                <a:latin typeface="Google Sans Flex"/>
                <a:ea typeface="Google Sans Flex"/>
                <a:cs typeface="Google Sans Flex"/>
              </a:rPr>
              <a:t>Observation and experiments</a:t>
            </a:r>
          </a:p>
        </p:txBody>
      </p:sp>
      <p:sp>
        <p:nvSpPr>
          <p:cNvPr id="97" name="step-1">
            <a:extLst xmlns:a="http://schemas.openxmlformats.org/drawingml/2006/main">
              <a:ext uri="{FF2B5EF4-FFF2-40B4-BE49-F238E27FC236}">
                <a16:creationId xmlns:a16="http://schemas.microsoft.com/office/drawing/2014/main" id="{5BA253F9-FFA6-45BF-9890-06777CE436D0}"/>
              </a:ext>
            </a:extLst>
          </p:cNvPr>
          <p:cNvSpPr>
            <a:spLocks xmlns:a="http://schemas.openxmlformats.org/drawingml/2006/main" noGrp="1"/>
          </p:cNvSpPr>
          <p:nvPr/>
        </p:nvSpPr>
        <p:spPr>
          <a:xfrm xmlns:a="http://schemas.openxmlformats.org/drawingml/2006/main">
            <a:off x="342900" y="18288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1  Observe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Metro symptoms</a:t>
            </a:r>
          </a:p>
        </p:txBody>
      </p:sp>
      <p:sp>
        <p:nvSpPr>
          <p:cNvPr id="98" name="step-2">
            <a:extLst xmlns:a="http://schemas.openxmlformats.org/drawingml/2006/main">
              <a:ext uri="{FF2B5EF4-FFF2-40B4-BE49-F238E27FC236}">
                <a16:creationId xmlns:a16="http://schemas.microsoft.com/office/drawing/2014/main" id="{80A4B250-CA4E-4A15-8B1F-A52BC219A81D}"/>
              </a:ext>
            </a:extLst>
          </p:cNvPr>
          <p:cNvSpPr>
            <a:spLocks xmlns:a="http://schemas.openxmlformats.org/drawingml/2006/main" noGrp="1"/>
          </p:cNvSpPr>
          <p:nvPr/>
        </p:nvSpPr>
        <p:spPr>
          <a:xfrm xmlns:a="http://schemas.openxmlformats.org/drawingml/2006/main">
            <a:off x="2486025" y="18288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2  Diagnose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Gemini hypotheses</a:t>
            </a:r>
          </a:p>
        </p:txBody>
      </p:sp>
      <p:sp>
        <p:nvSpPr>
          <p:cNvPr id="99" name="step-3">
            <a:extLst xmlns:a="http://schemas.openxmlformats.org/drawingml/2006/main">
              <a:ext uri="{FF2B5EF4-FFF2-40B4-BE49-F238E27FC236}">
                <a16:creationId xmlns:a16="http://schemas.microsoft.com/office/drawing/2014/main" id="{8C60B4E7-8F39-4A5B-B6F9-89AE13E96E29}"/>
              </a:ext>
            </a:extLst>
          </p:cNvPr>
          <p:cNvSpPr>
            <a:spLocks xmlns:a="http://schemas.openxmlformats.org/drawingml/2006/main" noGrp="1"/>
          </p:cNvSpPr>
          <p:nvPr/>
        </p:nvSpPr>
        <p:spPr>
          <a:xfrm xmlns:a="http://schemas.openxmlformats.org/drawingml/2006/main">
            <a:off x="4629150" y="18288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3  Reproduce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Isolated twin</a:t>
            </a:r>
          </a:p>
        </p:txBody>
      </p:sp>
      <p:sp>
        <p:nvSpPr>
          <p:cNvPr id="100" name="step-4">
            <a:extLst xmlns:a="http://schemas.openxmlformats.org/drawingml/2006/main">
              <a:ext uri="{FF2B5EF4-FFF2-40B4-BE49-F238E27FC236}">
                <a16:creationId xmlns:a16="http://schemas.microsoft.com/office/drawing/2014/main" id="{BF73E411-8EB0-424E-94FC-565CD6336F9A}"/>
              </a:ext>
            </a:extLst>
          </p:cNvPr>
          <p:cNvSpPr>
            <a:spLocks xmlns:a="http://schemas.openxmlformats.org/drawingml/2006/main" noGrp="1"/>
          </p:cNvSpPr>
          <p:nvPr/>
        </p:nvSpPr>
        <p:spPr>
          <a:xfrm xmlns:a="http://schemas.openxmlformats.org/drawingml/2006/main">
            <a:off x="6772275" y="18288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4  Experiment</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Candidate repairs</a:t>
            </a:r>
          </a:p>
        </p:txBody>
      </p:sp>
      <p:sp>
        <p:nvSpPr>
          <p:cNvPr id="104" name="decision-boundary">
            <a:extLst xmlns:a="http://schemas.openxmlformats.org/drawingml/2006/main">
              <a:ext uri="{FF2B5EF4-FFF2-40B4-BE49-F238E27FC236}">
                <a16:creationId xmlns:a16="http://schemas.microsoft.com/office/drawing/2014/main" id="{7702901A-CAC0-4813-A3EB-13C3CDEDB20F}"/>
              </a:ext>
            </a:extLst>
          </p:cNvPr>
          <p:cNvSpPr>
            <a:spLocks xmlns:a="http://schemas.openxmlformats.org/drawingml/2006/main" noGrp="1"/>
          </p:cNvSpPr>
          <p:nvPr/>
        </p:nvSpPr>
        <p:spPr>
          <a:xfrm xmlns:a="http://schemas.openxmlformats.org/drawingml/2006/main">
            <a:off x="342900" y="2924175"/>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37333"/>
                </a:solidFill>
                <a:latin typeface="Google Sans Flex"/>
                <a:ea typeface="Google Sans Flex"/>
                <a:cs typeface="Google Sans Flex"/>
              </a:defRPr>
            </a:defPPr>
          </a:lstStyle>
          <a:p xmlns:a="http://schemas.openxmlformats.org/drawingml/2006/main">
            <a:pPr>
              <a:defRPr sz="1650" b="1">
                <a:solidFill>
                  <a:srgbClr val="137333"/>
                </a:solidFill>
                <a:latin typeface="Google Sans Flex"/>
                <a:ea typeface="Google Sans Flex"/>
                <a:cs typeface="Google Sans Flex"/>
              </a:defRPr>
            </a:pPr>
            <a:r>
              <a:rPr sz="1650" b="1">
                <a:solidFill>
                  <a:srgbClr val="137333"/>
                </a:solidFill>
                <a:latin typeface="Google Sans Flex"/>
                <a:ea typeface="Google Sans Flex"/>
                <a:cs typeface="Google Sans Flex"/>
              </a:rPr>
              <a:t>Evidence and authorized change</a:t>
            </a:r>
          </a:p>
        </p:txBody>
      </p:sp>
      <p:sp>
        <p:nvSpPr>
          <p:cNvPr id="105" name="step-5">
            <a:extLst xmlns:a="http://schemas.openxmlformats.org/drawingml/2006/main">
              <a:ext uri="{FF2B5EF4-FFF2-40B4-BE49-F238E27FC236}">
                <a16:creationId xmlns:a16="http://schemas.microsoft.com/office/drawing/2014/main" id="{A2FC793A-A35B-4459-AB67-F705C1938EBB}"/>
              </a:ext>
            </a:extLst>
          </p:cNvPr>
          <p:cNvSpPr>
            <a:spLocks xmlns:a="http://schemas.openxmlformats.org/drawingml/2006/main" noGrp="1"/>
          </p:cNvSpPr>
          <p:nvPr/>
        </p:nvSpPr>
        <p:spPr>
          <a:xfrm xmlns:a="http://schemas.openxmlformats.org/drawingml/2006/main">
            <a:off x="342900" y="33909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5  Challenge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Regressions and policy</a:t>
            </a:r>
          </a:p>
        </p:txBody>
      </p:sp>
      <p:sp>
        <p:nvSpPr>
          <p:cNvPr id="106" name="step-6">
            <a:extLst xmlns:a="http://schemas.openxmlformats.org/drawingml/2006/main">
              <a:ext uri="{FF2B5EF4-FFF2-40B4-BE49-F238E27FC236}">
                <a16:creationId xmlns:a16="http://schemas.microsoft.com/office/drawing/2014/main" id="{72427D4F-B3C2-45AC-B3E5-09D41FF68039}"/>
              </a:ext>
            </a:extLst>
          </p:cNvPr>
          <p:cNvSpPr>
            <a:spLocks xmlns:a="http://schemas.openxmlformats.org/drawingml/2006/main" noGrp="1"/>
          </p:cNvSpPr>
          <p:nvPr/>
        </p:nvSpPr>
        <p:spPr>
          <a:xfrm xmlns:a="http://schemas.openxmlformats.org/drawingml/2006/main">
            <a:off x="2486025" y="33909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6  Review</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Proof Gate and diff</a:t>
            </a:r>
          </a:p>
        </p:txBody>
      </p:sp>
      <p:sp>
        <p:nvSpPr>
          <p:cNvPr id="107" name="step-7">
            <a:extLst xmlns:a="http://schemas.openxmlformats.org/drawingml/2006/main">
              <a:ext uri="{FF2B5EF4-FFF2-40B4-BE49-F238E27FC236}">
                <a16:creationId xmlns:a16="http://schemas.microsoft.com/office/drawing/2014/main" id="{3192F912-B2B6-483B-8152-65561CFEB573}"/>
              </a:ext>
            </a:extLst>
          </p:cNvPr>
          <p:cNvSpPr>
            <a:spLocks xmlns:a="http://schemas.openxmlformats.org/drawingml/2006/main" noGrp="1"/>
          </p:cNvSpPr>
          <p:nvPr/>
        </p:nvSpPr>
        <p:spPr>
          <a:xfrm xmlns:a="http://schemas.openxmlformats.org/drawingml/2006/main">
            <a:off x="4629150" y="33909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7  Approve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Exact change + state</a:t>
            </a:r>
          </a:p>
        </p:txBody>
      </p:sp>
      <p:sp>
        <p:nvSpPr>
          <p:cNvPr id="108" name="step-8">
            <a:extLst xmlns:a="http://schemas.openxmlformats.org/drawingml/2006/main">
              <a:ext uri="{FF2B5EF4-FFF2-40B4-BE49-F238E27FC236}">
                <a16:creationId xmlns:a16="http://schemas.microsoft.com/office/drawing/2014/main" id="{CA528093-AA31-40EB-A546-DDB70F387731}"/>
              </a:ext>
            </a:extLst>
          </p:cNvPr>
          <p:cNvSpPr>
            <a:spLocks xmlns:a="http://schemas.openxmlformats.org/drawingml/2006/main" noGrp="1"/>
          </p:cNvSpPr>
          <p:nvPr/>
        </p:nvSpPr>
        <p:spPr>
          <a:xfrm xmlns:a="http://schemas.openxmlformats.org/drawingml/2006/main">
            <a:off x="6772275" y="339090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8  Apply + verify</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Fresh recovery probes</a:t>
            </a:r>
          </a:p>
        </p:txBody>
      </p:sp>
      <p:sp>
        <p:nvSpPr>
          <p:cNvPr id="112" name="process-transition">
            <a:extLst xmlns:a="http://schemas.openxmlformats.org/drawingml/2006/main">
              <a:ext uri="{FF2B5EF4-FFF2-40B4-BE49-F238E27FC236}">
                <a16:creationId xmlns:a16="http://schemas.microsoft.com/office/drawing/2014/main" id="{B3DC4CCF-697D-41F9-B294-51F0CC22DCA1}"/>
              </a:ext>
            </a:extLst>
          </p:cNvPr>
          <p:cNvSpPr>
            <a:spLocks xmlns:a="http://schemas.openxmlformats.org/drawingml/2006/main" noGrp="1"/>
          </p:cNvSpPr>
          <p:nvPr/>
        </p:nvSpPr>
        <p:spPr>
          <a:xfrm xmlns:a="http://schemas.openxmlformats.org/drawingml/2006/main">
            <a:off x="342900" y="2647950"/>
            <a:ext cx="8458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F6368"/>
                </a:solidFill>
                <a:latin typeface="Google Sans Flex"/>
                <a:ea typeface="Google Sans Flex"/>
                <a:cs typeface="Google Sans Flex"/>
              </a:defRPr>
            </a:defPPr>
          </a:lstStyle>
          <a:p xmlns:a="http://schemas.openxmlformats.org/drawingml/2006/main">
            <a:pPr>
              <a:defRPr sz="1275" b="0">
                <a:solidFill>
                  <a:srgbClr val="5F6368"/>
                </a:solidFill>
                <a:latin typeface="Google Sans Flex"/>
                <a:ea typeface="Google Sans Flex"/>
                <a:cs typeface="Google Sans Flex"/>
              </a:defRPr>
            </a:pPr>
            <a:r>
              <a:rPr sz="1275" b="0">
                <a:solidFill>
                  <a:srgbClr val="5F6368"/>
                </a:solidFill>
                <a:latin typeface="Google Sans Flex"/>
                <a:ea typeface="Google Sans Flex"/>
                <a:cs typeface="Google Sans Flex"/>
              </a:rPr>
              <a:t>After experiments, challenge each eligible repair before review.</a:t>
            </a:r>
          </a:p>
        </p:txBody>
      </p:sp>
      <p:sp>
        <p:nvSpPr>
          <p:cNvPr id="113" name="process-stop">
            <a:extLst xmlns:a="http://schemas.openxmlformats.org/drawingml/2006/main">
              <a:ext uri="{FF2B5EF4-FFF2-40B4-BE49-F238E27FC236}">
                <a16:creationId xmlns:a16="http://schemas.microsoft.com/office/drawing/2014/main" id="{CC025A33-B9C6-442D-B40E-2ADDC0E266B5}"/>
              </a:ext>
            </a:extLst>
          </p:cNvPr>
          <p:cNvSpPr>
            <a:spLocks xmlns:a="http://schemas.openxmlformats.org/drawingml/2006/main" noGrp="1"/>
          </p:cNvSpPr>
          <p:nvPr/>
        </p:nvSpPr>
        <p:spPr>
          <a:xfrm xmlns:a="http://schemas.openxmlformats.org/drawingml/2006/main">
            <a:off x="342900" y="4438650"/>
            <a:ext cx="845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F6368"/>
                </a:solidFill>
                <a:latin typeface="Google Sans Flex"/>
                <a:ea typeface="Google Sans Flex"/>
                <a:cs typeface="Google Sans Flex"/>
              </a:defRPr>
            </a:defPPr>
          </a:lstStyle>
          <a:p xmlns:a="http://schemas.openxmlformats.org/drawingml/2006/main">
            <a:pPr>
              <a:defRPr sz="1350" b="0">
                <a:solidFill>
                  <a:srgbClr val="5F6368"/>
                </a:solidFill>
                <a:latin typeface="Google Sans Flex"/>
                <a:ea typeface="Google Sans Flex"/>
                <a:cs typeface="Google Sans Flex"/>
              </a:defRPr>
            </a:pPr>
            <a:r>
              <a:rPr sz="1350" b="0">
                <a:solidFill>
                  <a:srgbClr val="5F6368"/>
                </a:solidFill>
                <a:latin typeface="Google Sans Flex"/>
                <a:ea typeface="Google Sans Flex"/>
                <a:cs typeface="Google Sans Flex"/>
              </a:rPr>
              <a:t>Insufficient evidence stops approval. A failed apply or recovery check triggers rollback handling.</a:t>
            </a:r>
          </a:p>
        </p:txBody>
      </p:sp>
    </p:spTree>
    <p:extLst>
      <p:ext uri="{BB962C8B-B14F-4D97-AF65-F5344CB8AC3E}">
        <p14:creationId xmlns:p14="http://schemas.microsoft.com/office/powerpoint/2010/main" val="33228272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00" name="Google Shape;100;p19">
            <a:extLst xmlns:a="http://schemas.openxmlformats.org/drawingml/2006/main">
              <a:ext uri="{FF2B5EF4-FFF2-40B4-BE49-F238E27FC236}">
                <a16:creationId xmlns:a16="http://schemas.microsoft.com/office/drawing/2014/main" id="{99274B49-EF83-46B8-97E5-DFFF6B67952D}"/>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a66e12fab1014d26">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01" name="Google Shape;101;p19">
            <a:extLst xmlns:a="http://schemas.openxmlformats.org/drawingml/2006/main">
              <a:ext uri="{FF2B5EF4-FFF2-40B4-BE49-F238E27FC236}">
                <a16:creationId xmlns:a16="http://schemas.microsoft.com/office/drawing/2014/main" id="{073672C2-A132-4AE9-A1D2-85398F280609}"/>
              </a:ext>
            </a:extLst>
          </p:cNvPr>
          <p:cNvPicPr>
            <a:picLocks xmlns:a="http://schemas.openxmlformats.org/drawingml/2006/main" noChangeAspect="1"/>
          </p:cNvPicPr>
          <p:nvPr/>
        </p:nvPicPr>
        <p:blipFill>
          <a:blip xmlns:r="http://schemas.openxmlformats.org/officeDocument/2006/relationships" xmlns:a="http://schemas.openxmlformats.org/drawingml/2006/main" r:embed="R5d65f0d0f44e4252">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02" name="Google Shape;102;p19">
            <a:extLst xmlns:a="http://schemas.openxmlformats.org/drawingml/2006/main">
              <a:ext uri="{FF2B5EF4-FFF2-40B4-BE49-F238E27FC236}">
                <a16:creationId xmlns:a16="http://schemas.microsoft.com/office/drawing/2014/main" id="{F6CDA4C7-E8DB-4356-97DE-4223978024EB}"/>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03" name="Google Shape;103;p19">
            <a:extLst xmlns:a="http://schemas.openxmlformats.org/drawingml/2006/main">
              <a:ext uri="{FF2B5EF4-FFF2-40B4-BE49-F238E27FC236}">
                <a16:creationId xmlns:a16="http://schemas.microsoft.com/office/drawing/2014/main" id="{5C1FF9D3-6D79-4522-BA37-1E4A295EAA29}"/>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Wireframes / interface: the implemented workbench</a:t>
            </a:r>
            <a:endParaRPr sz="1600">
              <a:latin typeface="Google Sans Flex Medium"/>
              <a:ea typeface="Google Sans Flex Medium"/>
              <a:cs typeface="Google Sans Flex Medium"/>
            </a:endParaRPr>
          </a:p>
        </p:txBody>
      </p:sp>
      <p:pic>
        <p:nvPicPr>
          <p:cNvPr id="104" name="">
            <a:extLst xmlns:a="http://schemas.openxmlformats.org/drawingml/2006/main">
              <a:ext uri="{FF2B5EF4-FFF2-40B4-BE49-F238E27FC236}">
                <a16:creationId xmlns:a16="http://schemas.microsoft.com/office/drawing/2014/main" id="{F4A90075-DD50-4C0F-BAD2-7AE3DE3561AB}"/>
              </a:ext>
            </a:extLst>
          </p:cNvPr>
          <p:cNvPicPr>
            <a:picLocks xmlns:a="http://schemas.openxmlformats.org/drawingml/2006/main" noChangeAspect="1"/>
          </p:cNvPicPr>
          <p:nvPr/>
        </p:nvPicPr>
        <p:blipFill>
          <a:blip xmlns:r="http://schemas.openxmlformats.org/officeDocument/2006/relationships" xmlns:a="http://schemas.openxmlformats.org/drawingml/2006/main" r:embed="Rdc52bf3598634142"/>
          <a:stretch xmlns:a="http://schemas.openxmlformats.org/drawingml/2006/main"/>
        </p:blipFill>
        <p:spPr>
          <a:xfrm xmlns:a="http://schemas.openxmlformats.org/drawingml/2006/main">
            <a:off x="348192" y="1362075"/>
            <a:ext cx="6180667" cy="3476625"/>
          </a:xfrm>
          <a:prstGeom xmlns:a="http://schemas.openxmlformats.org/drawingml/2006/main" prst="rect">
            <a:avLst/>
          </a:prstGeom>
        </p:spPr>
      </p:pic>
      <p:sp>
        <p:nvSpPr>
          <p:cNvPr id="105" name="interface-explanation">
            <a:extLst xmlns:a="http://schemas.openxmlformats.org/drawingml/2006/main">
              <a:ext uri="{FF2B5EF4-FFF2-40B4-BE49-F238E27FC236}">
                <a16:creationId xmlns:a16="http://schemas.microsoft.com/office/drawing/2014/main" id="{DE9D39A4-8F08-4BB2-B41D-A7A912ECB501}"/>
              </a:ext>
            </a:extLst>
          </p:cNvPr>
          <p:cNvSpPr>
            <a:spLocks xmlns:a="http://schemas.openxmlformats.org/drawingml/2006/main" noGrp="1"/>
          </p:cNvSpPr>
          <p:nvPr/>
        </p:nvSpPr>
        <p:spPr>
          <a:xfrm xmlns:a="http://schemas.openxmlformats.org/drawingml/2006/main">
            <a:off x="6800850" y="1438275"/>
            <a:ext cx="2000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967D2"/>
                </a:solidFill>
                <a:latin typeface="Google Sans Flex"/>
                <a:ea typeface="Google Sans Flex"/>
                <a:cs typeface="Google Sans Flex"/>
              </a:defRPr>
            </a:defPPr>
          </a:lstStyle>
          <a:p xmlns:a="http://schemas.openxmlformats.org/drawingml/2006/main">
            <a:pPr>
              <a:defRPr sz="1650" b="1">
                <a:solidFill>
                  <a:srgbClr val="1967D2"/>
                </a:solidFill>
                <a:latin typeface="Google Sans Flex"/>
                <a:ea typeface="Google Sans Flex"/>
                <a:cs typeface="Google Sans Flex"/>
              </a:defRPr>
            </a:pPr>
            <a:r>
              <a:rPr sz="1650" b="1">
                <a:solidFill>
                  <a:srgbClr val="1967D2"/>
                </a:solidFill>
                <a:latin typeface="Google Sans Flex"/>
                <a:ea typeface="Google Sans Flex"/>
                <a:cs typeface="Google Sans Flex"/>
              </a:rPr>
              <a:t>Decision review</a:t>
            </a:r>
          </a:p>
        </p:txBody>
      </p:sp>
      <p:sp>
        <p:nvSpPr>
          <p:cNvPr id="106" name="interface-body">
            <a:extLst xmlns:a="http://schemas.openxmlformats.org/drawingml/2006/main">
              <a:ext uri="{FF2B5EF4-FFF2-40B4-BE49-F238E27FC236}">
                <a16:creationId xmlns:a16="http://schemas.microsoft.com/office/drawing/2014/main" id="{E8D58842-5D10-481A-892A-5FB578B96226}"/>
              </a:ext>
            </a:extLst>
          </p:cNvPr>
          <p:cNvSpPr>
            <a:spLocks xmlns:a="http://schemas.openxmlformats.org/drawingml/2006/main" noGrp="1"/>
          </p:cNvSpPr>
          <p:nvPr/>
        </p:nvSpPr>
        <p:spPr>
          <a:xfrm xmlns:a="http://schemas.openxmlformats.org/drawingml/2006/main">
            <a:off x="6800850" y="1905000"/>
            <a:ext cx="200025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The operator sees</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the selected repair,</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remaining impact</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and supporting tests.</a:t>
            </a:r>
          </a:p>
          <a:p xmlns:a="http://schemas.openxmlformats.org/drawingml/2006/main">
            <a:r>
              <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Approval is still</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pending here.</a:t>
            </a:r>
          </a:p>
          <a:p xmlns:a="http://schemas.openxmlformats.org/drawingml/2006/main">
            <a:r>
              <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The passing twin</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result alone does</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not change Metro.</a:t>
            </a:r>
          </a:p>
        </p:txBody>
      </p:sp>
    </p:spTree>
    <p:extLst>
      <p:ext uri="{BB962C8B-B14F-4D97-AF65-F5344CB8AC3E}">
        <p14:creationId xmlns:p14="http://schemas.microsoft.com/office/powerpoint/2010/main" val="14092884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cxnSp>
        <p:nvCxnSpPr>
          <p:cNvPr id="124" name="">
            <a:extLst xmlns:a="http://schemas.openxmlformats.org/drawingml/2006/main">
              <a:ext uri="{FF2B5EF4-FFF2-40B4-BE49-F238E27FC236}">
                <a16:creationId xmlns:a16="http://schemas.microsoft.com/office/drawing/2014/main" id="{FE224068-A39A-4578-AB6C-0E466F04D053}"/>
              </a:ext>
            </a:extLst>
          </p:cNvPr>
          <p:cNvCxnSpPr>
            <a:stCxn xmlns:a="http://schemas.openxmlformats.org/drawingml/2006/main" id="119" idx="3"/>
            <a:endCxn xmlns:a="http://schemas.openxmlformats.org/drawingml/2006/main" id="120" idx="1"/>
          </p:cNvCxnSpPr>
          <p:nvPr/>
        </p:nvCxnSpPr>
        <p:spPr>
          <a:xfrm xmlns:a="http://schemas.openxmlformats.org/drawingml/2006/main">
            <a:off x="5905500" y="3590925"/>
            <a:ext cx="800100"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23" name="">
            <a:extLst xmlns:a="http://schemas.openxmlformats.org/drawingml/2006/main">
              <a:ext uri="{FF2B5EF4-FFF2-40B4-BE49-F238E27FC236}">
                <a16:creationId xmlns:a16="http://schemas.microsoft.com/office/drawing/2014/main" id="{38970B25-BBEF-4003-8D8E-B5488DE75A65}"/>
              </a:ext>
            </a:extLst>
          </p:cNvPr>
          <p:cNvCxnSpPr>
            <a:stCxn xmlns:a="http://schemas.openxmlformats.org/drawingml/2006/main" id="118" idx="3"/>
            <a:endCxn xmlns:a="http://schemas.openxmlformats.org/drawingml/2006/main" id="119" idx="1"/>
          </p:cNvCxnSpPr>
          <p:nvPr/>
        </p:nvCxnSpPr>
        <p:spPr>
          <a:xfrm xmlns:a="http://schemas.openxmlformats.org/drawingml/2006/main">
            <a:off x="2438400" y="3590925"/>
            <a:ext cx="800100"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22" name="">
            <a:extLst xmlns:a="http://schemas.openxmlformats.org/drawingml/2006/main">
              <a:ext uri="{FF2B5EF4-FFF2-40B4-BE49-F238E27FC236}">
                <a16:creationId xmlns:a16="http://schemas.microsoft.com/office/drawing/2014/main" id="{B1938C22-DCE7-49FF-BAAC-D868D41CBEC6}"/>
              </a:ext>
            </a:extLst>
          </p:cNvPr>
          <p:cNvCxnSpPr>
            <a:stCxn xmlns:a="http://schemas.openxmlformats.org/drawingml/2006/main" id="114" idx="2"/>
            <a:endCxn xmlns:a="http://schemas.openxmlformats.org/drawingml/2006/main" id="119" idx="0"/>
          </p:cNvCxnSpPr>
          <p:nvPr/>
        </p:nvCxnSpPr>
        <p:spPr>
          <a:xfrm xmlns:a="http://schemas.openxmlformats.org/drawingml/2006/main">
            <a:off x="4572000" y="2476500"/>
            <a:ext cx="0" cy="74295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21" name="">
            <a:extLst xmlns:a="http://schemas.openxmlformats.org/drawingml/2006/main">
              <a:ext uri="{FF2B5EF4-FFF2-40B4-BE49-F238E27FC236}">
                <a16:creationId xmlns:a16="http://schemas.microsoft.com/office/drawing/2014/main" id="{0D33E66B-9257-46D6-A53F-257CCC3B9AEB}"/>
              </a:ext>
            </a:extLst>
          </p:cNvPr>
          <p:cNvCxnSpPr>
            <a:stCxn xmlns:a="http://schemas.openxmlformats.org/drawingml/2006/main" id="114" idx="1"/>
            <a:endCxn xmlns:a="http://schemas.openxmlformats.org/drawingml/2006/main" id="118" idx="0"/>
          </p:cNvCxnSpPr>
          <p:nvPr/>
        </p:nvCxnSpPr>
        <p:spPr>
          <a:xfrm xmlns:a="http://schemas.openxmlformats.org/drawingml/2006/main" flipH="1">
            <a:off x="1390650" y="2143125"/>
            <a:ext cx="1847850" cy="1076325"/>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17" name="">
            <a:extLst xmlns:a="http://schemas.openxmlformats.org/drawingml/2006/main">
              <a:ext uri="{FF2B5EF4-FFF2-40B4-BE49-F238E27FC236}">
                <a16:creationId xmlns:a16="http://schemas.microsoft.com/office/drawing/2014/main" id="{05B4842D-AD80-4F24-981A-F9BFEC68A661}"/>
              </a:ext>
            </a:extLst>
          </p:cNvPr>
          <p:cNvCxnSpPr>
            <a:stCxn xmlns:a="http://schemas.openxmlformats.org/drawingml/2006/main" id="114" idx="3"/>
            <a:endCxn xmlns:a="http://schemas.openxmlformats.org/drawingml/2006/main" id="115" idx="1"/>
          </p:cNvCxnSpPr>
          <p:nvPr/>
        </p:nvCxnSpPr>
        <p:spPr>
          <a:xfrm xmlns:a="http://schemas.openxmlformats.org/drawingml/2006/main">
            <a:off x="5905500" y="2143125"/>
            <a:ext cx="800100"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16" name="">
            <a:extLst xmlns:a="http://schemas.openxmlformats.org/drawingml/2006/main">
              <a:ext uri="{FF2B5EF4-FFF2-40B4-BE49-F238E27FC236}">
                <a16:creationId xmlns:a16="http://schemas.microsoft.com/office/drawing/2014/main" id="{3B0E1F91-A909-4BB1-B2DF-8130A664C25D}"/>
              </a:ext>
            </a:extLst>
          </p:cNvPr>
          <p:cNvCxnSpPr>
            <a:stCxn xmlns:a="http://schemas.openxmlformats.org/drawingml/2006/main" id="113" idx="3"/>
            <a:endCxn xmlns:a="http://schemas.openxmlformats.org/drawingml/2006/main" id="114" idx="1"/>
          </p:cNvCxnSpPr>
          <p:nvPr/>
        </p:nvCxnSpPr>
        <p:spPr>
          <a:xfrm xmlns:a="http://schemas.openxmlformats.org/drawingml/2006/main">
            <a:off x="2438400" y="2143125"/>
            <a:ext cx="800100" cy="0"/>
          </a:xfrm>
          <a:prstGeom xmlns:a="http://schemas.openxmlformats.org/drawingml/2006/main" prst="straightConnector1">
            <a:avLst/>
          </a:prstGeom>
          <a:ln xmlns:a="http://schemas.openxmlformats.org/drawingml/2006/main" w="14288">
            <a:solidFill>
              <a:srgbClr val="1967D2"/>
            </a:solidFill>
            <a:tailEnd type="triangle" w="sm" len="sm"/>
          </a:ln>
        </p:spPr>
      </p:cxnSp>
      <p:pic>
        <p:nvPicPr>
          <p:cNvPr id="108" name="Google Shape;108;p20">
            <a:extLst xmlns:a="http://schemas.openxmlformats.org/drawingml/2006/main">
              <a:ext uri="{FF2B5EF4-FFF2-40B4-BE49-F238E27FC236}">
                <a16:creationId xmlns:a16="http://schemas.microsoft.com/office/drawing/2014/main" id="{C3BE93DB-FFE1-4B3E-8AA8-3CAC2873277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0dd0b5773544581">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09" name="Google Shape;109;p20">
            <a:extLst xmlns:a="http://schemas.openxmlformats.org/drawingml/2006/main">
              <a:ext uri="{FF2B5EF4-FFF2-40B4-BE49-F238E27FC236}">
                <a16:creationId xmlns:a16="http://schemas.microsoft.com/office/drawing/2014/main" id="{516B7E6B-D801-4768-933F-337C7BEC26F8}"/>
              </a:ext>
            </a:extLst>
          </p:cNvPr>
          <p:cNvPicPr>
            <a:picLocks xmlns:a="http://schemas.openxmlformats.org/drawingml/2006/main" noChangeAspect="1"/>
          </p:cNvPicPr>
          <p:nvPr/>
        </p:nvPicPr>
        <p:blipFill>
          <a:blip xmlns:r="http://schemas.openxmlformats.org/officeDocument/2006/relationships" xmlns:a="http://schemas.openxmlformats.org/drawingml/2006/main" r:embed="R9b4bb21d62354261">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10" name="Google Shape;110;p20">
            <a:extLst xmlns:a="http://schemas.openxmlformats.org/drawingml/2006/main">
              <a:ext uri="{FF2B5EF4-FFF2-40B4-BE49-F238E27FC236}">
                <a16:creationId xmlns:a16="http://schemas.microsoft.com/office/drawing/2014/main" id="{F3F42318-9707-4019-8992-A73DA09EDA97}"/>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11" name="Google Shape;111;p20">
            <a:extLst xmlns:a="http://schemas.openxmlformats.org/drawingml/2006/main">
              <a:ext uri="{FF2B5EF4-FFF2-40B4-BE49-F238E27FC236}">
                <a16:creationId xmlns:a16="http://schemas.microsoft.com/office/drawing/2014/main" id="{B9C2C3D3-C404-4954-9E14-0B7FFCCD147A}"/>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Architecture diagram of the proposed solution</a:t>
            </a:r>
            <a:endParaRPr sz="1600">
              <a:latin typeface="Google Sans Flex Medium"/>
              <a:ea typeface="Google Sans Flex Medium"/>
              <a:cs typeface="Google Sans Flex Medium"/>
            </a:endParaRPr>
          </a:p>
        </p:txBody>
      </p:sp>
      <p:sp>
        <p:nvSpPr>
          <p:cNvPr id="112" name="architecture-runtime">
            <a:extLst xmlns:a="http://schemas.openxmlformats.org/drawingml/2006/main">
              <a:ext uri="{FF2B5EF4-FFF2-40B4-BE49-F238E27FC236}">
                <a16:creationId xmlns:a16="http://schemas.microsoft.com/office/drawing/2014/main" id="{547D4339-007C-4934-870E-7A2F8D4C870E}"/>
              </a:ext>
            </a:extLst>
          </p:cNvPr>
          <p:cNvSpPr>
            <a:spLocks xmlns:a="http://schemas.openxmlformats.org/drawingml/2006/main" noGrp="1"/>
          </p:cNvSpPr>
          <p:nvPr/>
        </p:nvSpPr>
        <p:spPr>
          <a:xfrm xmlns:a="http://schemas.openxmlformats.org/drawingml/2006/main">
            <a:off x="342900" y="1295400"/>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F6368"/>
                </a:solidFill>
                <a:latin typeface="Google Sans Flex"/>
                <a:ea typeface="Google Sans Flex"/>
                <a:cs typeface="Google Sans Flex"/>
              </a:defRPr>
            </a:defPPr>
          </a:lstStyle>
          <a:p xmlns:a="http://schemas.openxmlformats.org/drawingml/2006/main">
            <a:pPr>
              <a:defRPr sz="1500" b="0">
                <a:solidFill>
                  <a:srgbClr val="5F6368"/>
                </a:solidFill>
                <a:latin typeface="Google Sans Flex"/>
                <a:ea typeface="Google Sans Flex"/>
                <a:cs typeface="Google Sans Flex"/>
              </a:defRPr>
            </a:pPr>
            <a:r>
              <a:rPr sz="1500" b="0">
                <a:solidFill>
                  <a:srgbClr val="5F6368"/>
                </a:solidFill>
                <a:latin typeface="Google Sans Flex"/>
                <a:ea typeface="Google Sans Flex"/>
                <a:cs typeface="Google Sans Flex"/>
              </a:rPr>
              <a:t>Application and lab networks on Cloud Run. Model access through Vertex AI.</a:t>
            </a:r>
          </a:p>
        </p:txBody>
      </p:sp>
      <p:sp>
        <p:nvSpPr>
          <p:cNvPr id="113" name="workbench-node">
            <a:extLst xmlns:a="http://schemas.openxmlformats.org/drawingml/2006/main">
              <a:ext uri="{FF2B5EF4-FFF2-40B4-BE49-F238E27FC236}">
                <a16:creationId xmlns:a16="http://schemas.microsoft.com/office/drawing/2014/main" id="{C728789B-213E-429A-BB5D-C55E8E67C699}"/>
              </a:ext>
            </a:extLst>
          </p:cNvPr>
          <p:cNvSpPr>
            <a:spLocks xmlns:a="http://schemas.openxmlformats.org/drawingml/2006/main" noGrp="1"/>
          </p:cNvSpPr>
          <p:nvPr/>
        </p:nvSpPr>
        <p:spPr>
          <a:xfrm xmlns:a="http://schemas.openxmlformats.org/drawingml/2006/main">
            <a:off x="342900" y="1809750"/>
            <a:ext cx="209550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React workbench</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Human review</a:t>
            </a:r>
          </a:p>
        </p:txBody>
      </p:sp>
      <p:sp>
        <p:nvSpPr>
          <p:cNvPr id="114" name="orchestrator-node">
            <a:extLst xmlns:a="http://schemas.openxmlformats.org/drawingml/2006/main">
              <a:ext uri="{FF2B5EF4-FFF2-40B4-BE49-F238E27FC236}">
                <a16:creationId xmlns:a16="http://schemas.microsoft.com/office/drawing/2014/main" id="{A8310B50-B59A-4D44-B79D-341B80F0C5D1}"/>
              </a:ext>
            </a:extLst>
          </p:cNvPr>
          <p:cNvSpPr>
            <a:spLocks xmlns:a="http://schemas.openxmlformats.org/drawingml/2006/main" noGrp="1"/>
          </p:cNvSpPr>
          <p:nvPr/>
        </p:nvSpPr>
        <p:spPr>
          <a:xfrm xmlns:a="http://schemas.openxmlformats.org/drawingml/2006/main">
            <a:off x="3238500" y="1809750"/>
            <a:ext cx="266700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FastAPI orchestrator</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Evidence and event stream</a:t>
            </a:r>
          </a:p>
        </p:txBody>
      </p:sp>
      <p:sp>
        <p:nvSpPr>
          <p:cNvPr id="115" name="model-node">
            <a:extLst xmlns:a="http://schemas.openxmlformats.org/drawingml/2006/main">
              <a:ext uri="{FF2B5EF4-FFF2-40B4-BE49-F238E27FC236}">
                <a16:creationId xmlns:a16="http://schemas.microsoft.com/office/drawing/2014/main" id="{E4EAC411-FE47-428A-820E-3786232D0BC2}"/>
              </a:ext>
            </a:extLst>
          </p:cNvPr>
          <p:cNvSpPr>
            <a:spLocks xmlns:a="http://schemas.openxmlformats.org/drawingml/2006/main" noGrp="1"/>
          </p:cNvSpPr>
          <p:nvPr/>
        </p:nvSpPr>
        <p:spPr>
          <a:xfrm xmlns:a="http://schemas.openxmlformats.org/drawingml/2006/main">
            <a:off x="6705600" y="1809750"/>
            <a:ext cx="209550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Vertex AI</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Gemini 2.5 Flash</a:t>
            </a:r>
          </a:p>
        </p:txBody>
      </p:sp>
      <p:sp>
        <p:nvSpPr>
          <p:cNvPr id="118" name="twin-node">
            <a:extLst xmlns:a="http://schemas.openxmlformats.org/drawingml/2006/main">
              <a:ext uri="{FF2B5EF4-FFF2-40B4-BE49-F238E27FC236}">
                <a16:creationId xmlns:a16="http://schemas.microsoft.com/office/drawing/2014/main" id="{457DB231-426B-4C36-BD3B-F7130D8F5A0C}"/>
              </a:ext>
            </a:extLst>
          </p:cNvPr>
          <p:cNvSpPr>
            <a:spLocks xmlns:a="http://schemas.openxmlformats.org/drawingml/2006/main" noGrp="1"/>
          </p:cNvSpPr>
          <p:nvPr/>
        </p:nvSpPr>
        <p:spPr>
          <a:xfrm xmlns:a="http://schemas.openxmlformats.org/drawingml/2006/main">
            <a:off x="342900" y="3219450"/>
            <a:ext cx="209550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Isolated twin</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FRR / CoreDNS / nginx</a:t>
            </a:r>
          </a:p>
        </p:txBody>
      </p:sp>
      <p:sp>
        <p:nvSpPr>
          <p:cNvPr id="119" name="gate-node">
            <a:extLst xmlns:a="http://schemas.openxmlformats.org/drawingml/2006/main">
              <a:ext uri="{FF2B5EF4-FFF2-40B4-BE49-F238E27FC236}">
                <a16:creationId xmlns:a16="http://schemas.microsoft.com/office/drawing/2014/main" id="{AE73648F-3950-4051-8CF9-3618CD9F4B9D}"/>
              </a:ext>
            </a:extLst>
          </p:cNvPr>
          <p:cNvSpPr>
            <a:spLocks xmlns:a="http://schemas.openxmlformats.org/drawingml/2006/main" noGrp="1"/>
          </p:cNvSpPr>
          <p:nvPr/>
        </p:nvSpPr>
        <p:spPr>
          <a:xfrm xmlns:a="http://schemas.openxmlformats.org/drawingml/2006/main">
            <a:off x="3238500" y="3219450"/>
            <a:ext cx="266700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Proof Gate + apply gateway</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Requires human approval</a:t>
            </a:r>
          </a:p>
        </p:txBody>
      </p:sp>
      <p:sp>
        <p:nvSpPr>
          <p:cNvPr id="120" name="metro-node">
            <a:extLst xmlns:a="http://schemas.openxmlformats.org/drawingml/2006/main">
              <a:ext uri="{FF2B5EF4-FFF2-40B4-BE49-F238E27FC236}">
                <a16:creationId xmlns:a16="http://schemas.microsoft.com/office/drawing/2014/main" id="{F682680F-7138-4629-B09D-9FE5BCB02249}"/>
              </a:ext>
            </a:extLst>
          </p:cNvPr>
          <p:cNvSpPr>
            <a:spLocks xmlns:a="http://schemas.openxmlformats.org/drawingml/2006/main" noGrp="1"/>
          </p:cNvSpPr>
          <p:nvPr/>
        </p:nvSpPr>
        <p:spPr>
          <a:xfrm xmlns:a="http://schemas.openxmlformats.org/drawingml/2006/main">
            <a:off x="6705600" y="3219450"/>
            <a:ext cx="209550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Metro application lab</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Real protocol probes</a:t>
            </a:r>
          </a:p>
        </p:txBody>
      </p:sp>
      <p:sp>
        <p:nvSpPr>
          <p:cNvPr id="125" name="gateway-control3">
            <a:extLst xmlns:a="http://schemas.openxmlformats.org/drawingml/2006/main">
              <a:ext uri="{FF2B5EF4-FFF2-40B4-BE49-F238E27FC236}">
                <a16:creationId xmlns:a16="http://schemas.microsoft.com/office/drawing/2014/main" id="{961806E4-AAD7-4A96-9954-3712B691FA95}"/>
              </a:ext>
            </a:extLst>
          </p:cNvPr>
          <p:cNvSpPr>
            <a:spLocks xmlns:a="http://schemas.openxmlformats.org/drawingml/2006/main" noGrp="1"/>
          </p:cNvSpPr>
          <p:nvPr/>
        </p:nvSpPr>
        <p:spPr>
          <a:xfrm xmlns:a="http://schemas.openxmlformats.org/drawingml/2006/main">
            <a:off x="6400800" y="2781300"/>
            <a:ext cx="2514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137333"/>
                </a:solidFill>
                <a:latin typeface="Google Sans Flex"/>
                <a:ea typeface="Google Sans Flex"/>
                <a:cs typeface="Google Sans Flex"/>
              </a:defRPr>
            </a:defPPr>
          </a:lstStyle>
          <a:p xmlns:a="http://schemas.openxmlformats.org/drawingml/2006/main">
            <a:pPr>
              <a:defRPr sz="1200" b="0">
                <a:solidFill>
                  <a:srgbClr val="137333"/>
                </a:solidFill>
                <a:latin typeface="Google Sans Flex"/>
                <a:ea typeface="Google Sans Flex"/>
                <a:cs typeface="Google Sans Flex"/>
              </a:defRPr>
            </a:pPr>
            <a:r>
              <a:rPr sz="1200" b="0">
                <a:solidFill>
                  <a:srgbClr val="137333"/>
                </a:solidFill>
                <a:latin typeface="Google Sans Flex"/>
                <a:ea typeface="Google Sans Flex"/>
                <a:cs typeface="Google Sans Flex"/>
              </a:rPr>
              <a:t>Approved apply, then recovery checks</a:t>
            </a:r>
          </a:p>
        </p:txBody>
      </p:sp>
      <p:sp>
        <p:nvSpPr>
          <p:cNvPr id="126" name="architecture-services">
            <a:extLst xmlns:a="http://schemas.openxmlformats.org/drawingml/2006/main">
              <a:ext uri="{FF2B5EF4-FFF2-40B4-BE49-F238E27FC236}">
                <a16:creationId xmlns:a16="http://schemas.microsoft.com/office/drawing/2014/main" id="{D3D9ACD4-CD93-40C1-B993-F7752EE8FA93}"/>
              </a:ext>
            </a:extLst>
          </p:cNvPr>
          <p:cNvSpPr>
            <a:spLocks xmlns:a="http://schemas.openxmlformats.org/drawingml/2006/main" noGrp="1"/>
          </p:cNvSpPr>
          <p:nvPr/>
        </p:nvSpPr>
        <p:spPr>
          <a:xfrm xmlns:a="http://schemas.openxmlformats.org/drawingml/2006/main">
            <a:off x="342900" y="4295775"/>
            <a:ext cx="8458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F6368"/>
                </a:solidFill>
                <a:latin typeface="Google Sans Flex"/>
                <a:ea typeface="Google Sans Flex"/>
                <a:cs typeface="Google Sans Flex"/>
              </a:defRPr>
            </a:defPPr>
          </a:lstStyle>
          <a:p xmlns:a="http://schemas.openxmlformats.org/drawingml/2006/main">
            <a:pPr>
              <a:defRPr sz="1350" b="0">
                <a:solidFill>
                  <a:srgbClr val="5F6368"/>
                </a:solidFill>
                <a:latin typeface="Google Sans Flex"/>
                <a:ea typeface="Google Sans Flex"/>
                <a:cs typeface="Google Sans Flex"/>
              </a:defRPr>
            </a:pPr>
            <a:r>
              <a:rPr sz="1350" b="0">
                <a:solidFill>
                  <a:srgbClr val="5F6368"/>
                </a:solidFill>
                <a:latin typeface="Google Sans Flex"/>
                <a:ea typeface="Google Sans Flex"/>
                <a:cs typeface="Google Sans Flex"/>
              </a:rPr>
              <a:t>SQLite journals evidence on the instance. Secret Manager supplies the approval credential.</a:t>
            </a:r>
          </a:p>
          <a:p xmlns:a="http://schemas.openxmlformats.org/drawingml/2006/main">
            <a:pPr>
              <a:defRPr sz="1350" b="0">
                <a:solidFill>
                  <a:srgbClr val="5F6368"/>
                </a:solidFill>
                <a:latin typeface="Google Sans Flex"/>
                <a:ea typeface="Google Sans Flex"/>
                <a:cs typeface="Google Sans Flex"/>
              </a:defRPr>
            </a:pPr>
            <a:r>
              <a:rPr sz="1350" b="0">
                <a:solidFill>
                  <a:srgbClr val="5F6368"/>
                </a:solidFill>
                <a:latin typeface="Google Sans Flex"/>
                <a:ea typeface="Google Sans Flex"/>
                <a:cs typeface="Google Sans Flex"/>
              </a:rPr>
              <a:t>Cloud Build and Artifact Registry build and store the deployment image.</a:t>
            </a:r>
          </a:p>
        </p:txBody>
      </p:sp>
    </p:spTree>
    <p:extLst>
      <p:ext uri="{BB962C8B-B14F-4D97-AF65-F5344CB8AC3E}">
        <p14:creationId xmlns:p14="http://schemas.microsoft.com/office/powerpoint/2010/main" val="43450796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16" name="Google Shape;116;p21">
            <a:extLst xmlns:a="http://schemas.openxmlformats.org/drawingml/2006/main">
              <a:ext uri="{FF2B5EF4-FFF2-40B4-BE49-F238E27FC236}">
                <a16:creationId xmlns:a16="http://schemas.microsoft.com/office/drawing/2014/main" id="{D3D3ECF8-DB08-45B3-8846-183248C671C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3ee963e7c1d643f6">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17" name="Google Shape;117;p21">
            <a:extLst xmlns:a="http://schemas.openxmlformats.org/drawingml/2006/main">
              <a:ext uri="{FF2B5EF4-FFF2-40B4-BE49-F238E27FC236}">
                <a16:creationId xmlns:a16="http://schemas.microsoft.com/office/drawing/2014/main" id="{44259332-9413-4021-8B3D-B7A9F01E4406}"/>
              </a:ext>
            </a:extLst>
          </p:cNvPr>
          <p:cNvPicPr>
            <a:picLocks xmlns:a="http://schemas.openxmlformats.org/drawingml/2006/main" noChangeAspect="1"/>
          </p:cNvPicPr>
          <p:nvPr/>
        </p:nvPicPr>
        <p:blipFill>
          <a:blip xmlns:r="http://schemas.openxmlformats.org/officeDocument/2006/relationships" xmlns:a="http://schemas.openxmlformats.org/drawingml/2006/main" r:embed="R83a35b515c2d44d4">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18" name="Google Shape;118;p21">
            <a:extLst xmlns:a="http://schemas.openxmlformats.org/drawingml/2006/main">
              <a:ext uri="{FF2B5EF4-FFF2-40B4-BE49-F238E27FC236}">
                <a16:creationId xmlns:a16="http://schemas.microsoft.com/office/drawing/2014/main" id="{347F1A81-B780-466B-90FA-CA18C34A05F2}"/>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19" name="Google Shape;119;p21">
            <a:extLst xmlns:a="http://schemas.openxmlformats.org/drawingml/2006/main">
              <a:ext uri="{FF2B5EF4-FFF2-40B4-BE49-F238E27FC236}">
                <a16:creationId xmlns:a16="http://schemas.microsoft.com/office/drawing/2014/main" id="{E5D458A8-A87A-43D8-8D8C-95E7522BE293}"/>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Technologies used in the solution</a:t>
            </a:r>
            <a:endParaRPr sz="1600">
              <a:latin typeface="Google Sans Flex Medium"/>
              <a:ea typeface="Google Sans Flex Medium"/>
              <a:cs typeface="Google Sans Flex Medium"/>
            </a:endParaRPr>
          </a:p>
        </p:txBody>
      </p:sp>
      <p:graphicFrame>
        <p:nvGraphicFramePr>
          <p:cNvPr id="120" name="">
            <a:extLst xmlns:a="http://schemas.openxmlformats.org/drawingml/2006/main">
              <a:ext uri="{FF2B5EF4-FFF2-40B4-BE49-F238E27FC236}">
                <a16:creationId xmlns:a16="http://schemas.microsoft.com/office/drawing/2014/main" id="{81572768-45C9-4B16-B3FD-163C9E51CEAB}"/>
              </a:ext>
            </a:extLst>
          </p:cNvPr>
          <p:cNvGraphicFramePr/>
          <p:nvPr/>
        </p:nvGraphicFramePr>
        <p:xfrm>
          <a:off xmlns:a="http://schemas.openxmlformats.org/drawingml/2006/main" x="342900" y="1323975"/>
          <a:ext xmlns:a="http://schemas.openxmlformats.org/drawingml/2006/main" cx="8458200" cy="3200400"/>
        </p:xfrm>
        <a:graphic xmlns:a="http://schemas.openxmlformats.org/drawingml/2006/main">
          <a:graphicData uri="http://schemas.openxmlformats.org/drawingml/2006/table">
            <a:tbl>
              <a:tblPr firstRow="1" bandRow="0"/>
              <a:tblGrid>
                <a:gridCol w="2857500"/>
                <a:gridCol w="5600700"/>
              </a:tblGrid>
              <a:tr h="400050">
                <a:tc>
                  <a:txBody>
                    <a:bodyPr wrap="square" lIns="76200" tIns="76200" rIns="76200" bIns="76200">
                      <a:noAutofit/>
                    </a:bodyPr>
                    <a:lstStyle/>
                    <a:p>
                      <a:r>
                        <a:rPr sz="1350" b="1">
                          <a:solidFill>
                            <a:srgbClr val="FFFFFF"/>
                          </a:solidFill>
                          <a:latin typeface="Google Sans Flex"/>
                          <a:ea typeface="Google Sans Flex"/>
                          <a:cs typeface="Google Sans Flex"/>
                        </a:rPr>
                        <a:t>Technology</a:t>
                      </a:r>
                    </a:p>
                  </a:txBody>
                  <a:tcPr marL="91440" marR="91440" marT="45720" marB="45720" anchor="ctr">
                    <a:lnL w="4763">
                      <a:solidFill>
                        <a:srgbClr val="DADCE0"/>
                      </a:solidFill>
                      <a:prstDash val="solid"/>
                    </a:lnL>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c>
                  <a:txBody>
                    <a:bodyPr wrap="square" lIns="76200" tIns="76200" rIns="76200" bIns="76200">
                      <a:noAutofit/>
                    </a:bodyPr>
                    <a:lstStyle/>
                    <a:p>
                      <a:r>
                        <a:rPr sz="1350" b="1">
                          <a:solidFill>
                            <a:srgbClr val="FFFFFF"/>
                          </a:solidFill>
                          <a:latin typeface="Google Sans Flex"/>
                          <a:ea typeface="Google Sans Flex"/>
                          <a:cs typeface="Google Sans Flex"/>
                        </a:rPr>
                        <a:t>Role in the working prototype</a:t>
                      </a:r>
                    </a:p>
                  </a:txBody>
                  <a:tcPr marL="91440" marR="91440" marT="45720" marB="45720" anchor="ctr">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Cloud Run (second generation)</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Hosts TwinOps, Metro and isolated Linux namespace networks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Gemini 2.5 Flash / Vertex AI</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Hypotheses, repair proposals, challenges and bounded revisions</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Google Gen AI SDK</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Structured model requests with schema and catalogue validation</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Secret Manager</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Provides the private operator approval credential</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Cloud Build / Artifact Registry</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Builds and stores the deployment container</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React / FastAPI / SQLite</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Review interface, orchestration and instance-local evidence</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FRR / CoreDNS / nginx</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Real routing, DNS, IPv4/IPv6 and TLS experiments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bl>
          </a:graphicData>
        </a:graphic>
      </p:graphicFrame>
      <p:sp>
        <p:nvSpPr>
          <p:cNvPr id="121" name="tech-scope">
            <a:extLst xmlns:a="http://schemas.openxmlformats.org/drawingml/2006/main">
              <a:ext uri="{FF2B5EF4-FFF2-40B4-BE49-F238E27FC236}">
                <a16:creationId xmlns:a16="http://schemas.microsoft.com/office/drawing/2014/main" id="{D3E42F36-61B2-42D8-84CA-0B4372237A12}"/>
              </a:ext>
            </a:extLst>
          </p:cNvPr>
          <p:cNvSpPr>
            <a:spLocks xmlns:a="http://schemas.openxmlformats.org/drawingml/2006/main" noGrp="1"/>
          </p:cNvSpPr>
          <p:nvPr/>
        </p:nvSpPr>
        <p:spPr>
          <a:xfrm xmlns:a="http://schemas.openxmlformats.org/drawingml/2006/main">
            <a:off x="342900" y="4676775"/>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F6368"/>
                </a:solidFill>
                <a:latin typeface="Google Sans Flex"/>
                <a:ea typeface="Google Sans Flex"/>
                <a:cs typeface="Google Sans Flex"/>
              </a:defRPr>
            </a:defPPr>
          </a:lstStyle>
          <a:p xmlns:a="http://schemas.openxmlformats.org/drawingml/2006/main">
            <a:pPr>
              <a:defRPr sz="1275" b="0">
                <a:solidFill>
                  <a:srgbClr val="5F6368"/>
                </a:solidFill>
                <a:latin typeface="Google Sans Flex"/>
                <a:ea typeface="Google Sans Flex"/>
                <a:cs typeface="Google Sans Flex"/>
              </a:defRPr>
            </a:pPr>
            <a:r>
              <a:rPr sz="1275" b="0">
                <a:solidFill>
                  <a:srgbClr val="5F6368"/>
                </a:solidFill>
                <a:latin typeface="Google Sans Flex"/>
                <a:ea typeface="Google Sans Flex"/>
                <a:cs typeface="Google Sans Flex"/>
              </a:rPr>
              <a:t>Firebase and Firestore are not used. Cloud Run provides the deployment path.</a:t>
            </a:r>
          </a:p>
        </p:txBody>
      </p:sp>
    </p:spTree>
    <p:extLst>
      <p:ext uri="{BB962C8B-B14F-4D97-AF65-F5344CB8AC3E}">
        <p14:creationId xmlns:p14="http://schemas.microsoft.com/office/powerpoint/2010/main" val="193784434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32" name="Google Shape;132;p23">
            <a:extLst xmlns:a="http://schemas.openxmlformats.org/drawingml/2006/main">
              <a:ext uri="{FF2B5EF4-FFF2-40B4-BE49-F238E27FC236}">
                <a16:creationId xmlns:a16="http://schemas.microsoft.com/office/drawing/2014/main" id="{B0E84B3F-2011-45FF-AE40-8DC44CEB5F5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69ad59b31b64488e">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33" name="Google Shape;133;p23">
            <a:extLst xmlns:a="http://schemas.openxmlformats.org/drawingml/2006/main">
              <a:ext uri="{FF2B5EF4-FFF2-40B4-BE49-F238E27FC236}">
                <a16:creationId xmlns:a16="http://schemas.microsoft.com/office/drawing/2014/main" id="{6DFB67AA-39C0-4F62-88D3-B8846E4404FD}"/>
              </a:ext>
            </a:extLst>
          </p:cNvPr>
          <p:cNvPicPr>
            <a:picLocks xmlns:a="http://schemas.openxmlformats.org/drawingml/2006/main" noChangeAspect="1"/>
          </p:cNvPicPr>
          <p:nvPr/>
        </p:nvPicPr>
        <p:blipFill>
          <a:blip xmlns:r="http://schemas.openxmlformats.org/officeDocument/2006/relationships" xmlns:a="http://schemas.openxmlformats.org/drawingml/2006/main" r:embed="R2ad202fe5ec949a1">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34" name="Google Shape;134;p23">
            <a:extLst xmlns:a="http://schemas.openxmlformats.org/drawingml/2006/main">
              <a:ext uri="{FF2B5EF4-FFF2-40B4-BE49-F238E27FC236}">
                <a16:creationId xmlns:a16="http://schemas.microsoft.com/office/drawing/2014/main" id="{D05EDE70-19E5-4A6A-BA7B-11F7DF8EA4E2}"/>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35" name="Google Shape;135;p23">
            <a:extLst xmlns:a="http://schemas.openxmlformats.org/drawingml/2006/main">
              <a:ext uri="{FF2B5EF4-FFF2-40B4-BE49-F238E27FC236}">
                <a16:creationId xmlns:a16="http://schemas.microsoft.com/office/drawing/2014/main" id="{A4DA3C77-1F4E-4130-AB83-1420FF60E272}"/>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Snapshots of the prototype</a:t>
            </a:r>
            <a:endParaRPr sz="1600">
              <a:latin typeface="Google Sans Flex Medium"/>
              <a:ea typeface="Google Sans Flex Medium"/>
              <a:cs typeface="Google Sans Flex Medium"/>
            </a:endParaRPr>
          </a:p>
        </p:txBody>
      </p:sp>
      <p:pic>
        <p:nvPicPr>
          <p:cNvPr id="136" name="">
            <a:extLst xmlns:a="http://schemas.openxmlformats.org/drawingml/2006/main">
              <a:ext uri="{FF2B5EF4-FFF2-40B4-BE49-F238E27FC236}">
                <a16:creationId xmlns:a16="http://schemas.microsoft.com/office/drawing/2014/main" id="{A7226437-5355-4E27-AB62-60A22773FA06}"/>
              </a:ext>
            </a:extLst>
          </p:cNvPr>
          <p:cNvPicPr>
            <a:picLocks xmlns:a="http://schemas.openxmlformats.org/drawingml/2006/main" noChangeAspect="1"/>
          </p:cNvPicPr>
          <p:nvPr/>
        </p:nvPicPr>
        <p:blipFill>
          <a:blip xmlns:r="http://schemas.openxmlformats.org/officeDocument/2006/relationships" xmlns:a="http://schemas.openxmlformats.org/drawingml/2006/main" r:embed="Rbec091b2b53048f2"/>
          <a:stretch xmlns:a="http://schemas.openxmlformats.org/drawingml/2006/main"/>
        </p:blipFill>
        <p:spPr>
          <a:xfrm xmlns:a="http://schemas.openxmlformats.org/drawingml/2006/main">
            <a:off x="342900" y="1297186"/>
            <a:ext cx="6191250" cy="3482578"/>
          </a:xfrm>
          <a:prstGeom xmlns:a="http://schemas.openxmlformats.org/drawingml/2006/main" prst="rect">
            <a:avLst/>
          </a:prstGeom>
        </p:spPr>
      </p:pic>
      <p:sp>
        <p:nvSpPr>
          <p:cNvPr id="137" name="snapshot-heading">
            <a:extLst xmlns:a="http://schemas.openxmlformats.org/drawingml/2006/main">
              <a:ext uri="{FF2B5EF4-FFF2-40B4-BE49-F238E27FC236}">
                <a16:creationId xmlns:a16="http://schemas.microsoft.com/office/drawing/2014/main" id="{D372365D-10A0-4C57-8CFE-E96BFA05EF63}"/>
              </a:ext>
            </a:extLst>
          </p:cNvPr>
          <p:cNvSpPr>
            <a:spLocks xmlns:a="http://schemas.openxmlformats.org/drawingml/2006/main" noGrp="1"/>
          </p:cNvSpPr>
          <p:nvPr/>
        </p:nvSpPr>
        <p:spPr>
          <a:xfrm xmlns:a="http://schemas.openxmlformats.org/drawingml/2006/main">
            <a:off x="6800850" y="1438275"/>
            <a:ext cx="2000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37333"/>
                </a:solidFill>
                <a:latin typeface="Google Sans Flex"/>
                <a:ea typeface="Google Sans Flex"/>
                <a:cs typeface="Google Sans Flex"/>
              </a:defRPr>
            </a:defPPr>
          </a:lstStyle>
          <a:p xmlns:a="http://schemas.openxmlformats.org/drawingml/2006/main">
            <a:pPr>
              <a:defRPr sz="1650" b="1">
                <a:solidFill>
                  <a:srgbClr val="137333"/>
                </a:solidFill>
                <a:latin typeface="Google Sans Flex"/>
                <a:ea typeface="Google Sans Flex"/>
                <a:cs typeface="Google Sans Flex"/>
              </a:defRPr>
            </a:pPr>
            <a:r>
              <a:rPr sz="1650" b="1">
                <a:solidFill>
                  <a:srgbClr val="137333"/>
                </a:solidFill>
                <a:latin typeface="Google Sans Flex"/>
                <a:ea typeface="Google Sans Flex"/>
                <a:cs typeface="Google Sans Flex"/>
              </a:rPr>
              <a:t>Measured recovery</a:t>
            </a:r>
          </a:p>
        </p:txBody>
      </p:sp>
      <p:sp>
        <p:nvSpPr>
          <p:cNvPr id="138" name="snapshot-text">
            <a:extLst xmlns:a="http://schemas.openxmlformats.org/drawingml/2006/main">
              <a:ext uri="{FF2B5EF4-FFF2-40B4-BE49-F238E27FC236}">
                <a16:creationId xmlns:a16="http://schemas.microsoft.com/office/drawing/2014/main" id="{1D09C656-EC84-4571-BD30-9EFF2099E62C}"/>
              </a:ext>
            </a:extLst>
          </p:cNvPr>
          <p:cNvSpPr>
            <a:spLocks xmlns:a="http://schemas.openxmlformats.org/drawingml/2006/main" noGrp="1"/>
          </p:cNvSpPr>
          <p:nvPr/>
        </p:nvSpPr>
        <p:spPr>
          <a:xfrm xmlns:a="http://schemas.openxmlformats.org/drawingml/2006/main">
            <a:off x="6800850" y="2057400"/>
            <a:ext cx="2000250" cy="2600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Berlin and Hamburg</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failed during the fault.</a:t>
            </a:r>
          </a:p>
          <a:p xmlns:a="http://schemas.openxmlformats.org/drawingml/2006/main">
            <a:r>
              <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One approved rule</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removal restored</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all four journeys.</a:t>
            </a:r>
          </a:p>
          <a:p xmlns:a="http://schemas.openxmlformats.org/drawingml/2006/main">
            <a:r>
              <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Metro measures the</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outcome separately</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from the planner.</a:t>
            </a:r>
          </a:p>
        </p:txBody>
      </p:sp>
    </p:spTree>
    <p:extLst>
      <p:ext uri="{BB962C8B-B14F-4D97-AF65-F5344CB8AC3E}">
        <p14:creationId xmlns:p14="http://schemas.microsoft.com/office/powerpoint/2010/main" val="193254140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40" name="Google Shape;140;p24">
            <a:extLst xmlns:a="http://schemas.openxmlformats.org/drawingml/2006/main">
              <a:ext uri="{FF2B5EF4-FFF2-40B4-BE49-F238E27FC236}">
                <a16:creationId xmlns:a16="http://schemas.microsoft.com/office/drawing/2014/main" id="{F0407D94-F4CD-4401-9B44-66FA16E4C8D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27431c866568438d">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41" name="Google Shape;141;p24">
            <a:extLst xmlns:a="http://schemas.openxmlformats.org/drawingml/2006/main">
              <a:ext uri="{FF2B5EF4-FFF2-40B4-BE49-F238E27FC236}">
                <a16:creationId xmlns:a16="http://schemas.microsoft.com/office/drawing/2014/main" id="{2C102E39-5862-4E84-8CB3-99714510339F}"/>
              </a:ext>
            </a:extLst>
          </p:cNvPr>
          <p:cNvPicPr>
            <a:picLocks xmlns:a="http://schemas.openxmlformats.org/drawingml/2006/main" noChangeAspect="1"/>
          </p:cNvPicPr>
          <p:nvPr/>
        </p:nvPicPr>
        <p:blipFill>
          <a:blip xmlns:r="http://schemas.openxmlformats.org/officeDocument/2006/relationships" xmlns:a="http://schemas.openxmlformats.org/drawingml/2006/main" r:embed="R2e767980f59744e5">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42" name="Google Shape;142;p24">
            <a:extLst xmlns:a="http://schemas.openxmlformats.org/drawingml/2006/main">
              <a:ext uri="{FF2B5EF4-FFF2-40B4-BE49-F238E27FC236}">
                <a16:creationId xmlns:a16="http://schemas.microsoft.com/office/drawing/2014/main" id="{610C7996-3031-4523-9A0A-4ECE2D3315B3}"/>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3" name="Google Shape;143;p24">
            <a:extLst xmlns:a="http://schemas.openxmlformats.org/drawingml/2006/main">
              <a:ext uri="{FF2B5EF4-FFF2-40B4-BE49-F238E27FC236}">
                <a16:creationId xmlns:a16="http://schemas.microsoft.com/office/drawing/2014/main" id="{D45B5447-D1D8-481F-BD8A-316E0F844248}"/>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Prototype performance report / benchmarking</a:t>
            </a:r>
            <a:endParaRPr sz="1600">
              <a:latin typeface="Google Sans Flex Medium"/>
              <a:ea typeface="Google Sans Flex Medium"/>
              <a:cs typeface="Google Sans Flex Medium"/>
            </a:endParaRPr>
          </a:p>
        </p:txBody>
      </p:sp>
      <p:graphicFrame>
        <p:nvGraphicFramePr>
          <p:cNvPr id="144" name="">
            <a:extLst xmlns:a="http://schemas.openxmlformats.org/drawingml/2006/main">
              <a:ext uri="{FF2B5EF4-FFF2-40B4-BE49-F238E27FC236}">
                <a16:creationId xmlns:a16="http://schemas.microsoft.com/office/drawing/2014/main" id="{2A9068EB-CA25-450B-B04F-0DFC33F3A1C5}"/>
              </a:ext>
            </a:extLst>
          </p:cNvPr>
          <p:cNvGraphicFramePr/>
          <p:nvPr/>
        </p:nvGraphicFramePr>
        <p:xfrm>
          <a:off xmlns:a="http://schemas.openxmlformats.org/drawingml/2006/main" x="342900" y="1362075"/>
          <a:ext xmlns:a="http://schemas.openxmlformats.org/drawingml/2006/main" cx="8458200" cy="2733675"/>
        </p:xfrm>
        <a:graphic xmlns:a="http://schemas.openxmlformats.org/drawingml/2006/main">
          <a:graphicData uri="http://schemas.openxmlformats.org/drawingml/2006/table">
            <a:tbl>
              <a:tblPr firstRow="1" bandRow="0"/>
              <a:tblGrid>
                <a:gridCol w="2857500"/>
                <a:gridCol w="5600700"/>
              </a:tblGrid>
              <a:tr h="546735">
                <a:tc>
                  <a:txBody>
                    <a:bodyPr wrap="square" lIns="76200" tIns="76200" rIns="76200" bIns="76200">
                      <a:noAutofit/>
                    </a:bodyPr>
                    <a:lstStyle/>
                    <a:p>
                      <a:r>
                        <a:rPr sz="1350" b="1">
                          <a:solidFill>
                            <a:srgbClr val="FFFFFF"/>
                          </a:solidFill>
                          <a:latin typeface="Google Sans Flex"/>
                          <a:ea typeface="Google Sans Flex"/>
                          <a:cs typeface="Google Sans Flex"/>
                        </a:rPr>
                        <a:t>Evidence scope</a:t>
                      </a:r>
                    </a:p>
                  </a:txBody>
                  <a:tcPr marL="91440" marR="91440" marT="45720" marB="45720" anchor="ctr">
                    <a:lnL w="4763">
                      <a:solidFill>
                        <a:srgbClr val="DADCE0"/>
                      </a:solidFill>
                      <a:prstDash val="solid"/>
                    </a:lnL>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c>
                  <a:txBody>
                    <a:bodyPr wrap="square" lIns="76200" tIns="76200" rIns="76200" bIns="76200">
                      <a:noAutofit/>
                    </a:bodyPr>
                    <a:lstStyle/>
                    <a:p>
                      <a:r>
                        <a:rPr sz="1350" b="1">
                          <a:solidFill>
                            <a:srgbClr val="FFFFFF"/>
                          </a:solidFill>
                          <a:latin typeface="Google Sans Flex"/>
                          <a:ea typeface="Google Sans Flex"/>
                          <a:cs typeface="Google Sans Flex"/>
                        </a:rPr>
                        <a:t>Observed result</a:t>
                      </a:r>
                    </a:p>
                  </a:txBody>
                  <a:tcPr marL="91440" marR="91440" marT="45720" marB="45720" anchor="ctr">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Hosted Gemini repair</a:t>
                      </a:r>
                    </a:p>
                    <a:p>
                      <a:r>
                        <a:rPr sz="1275" b="0">
                          <a:solidFill>
                            <a:srgbClr val="202124"/>
                          </a:solidFill>
                          <a:latin typeface="Google Sans Flex"/>
                          <a:ea typeface="Google Sans Flex"/>
                          <a:cs typeface="Google Sans Flex"/>
                        </a:rPr>
                        <a:t>15 October 2026</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10 model calls, 0 fallbacks and 0 diagnosis writes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Candidate experiments</a:t>
                      </a:r>
                    </a:p>
                    <a:p>
                      <a:r>
                        <a:rPr sz="1275" b="0">
                          <a:solidFill>
                            <a:srgbClr val="202124"/>
                          </a:solidFill>
                          <a:latin typeface="Google Sans Flex"/>
                          <a:ea typeface="Google Sans Flex"/>
                          <a:cs typeface="Google Sans Flex"/>
                        </a:rPr>
                        <a:t>Same hosted repair</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5 experiments, 13 challenges and 79 probes</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Post-change recovery</a:t>
                      </a:r>
                    </a:p>
                    <a:p>
                      <a:r>
                        <a:rPr sz="1275" b="0">
                          <a:solidFill>
                            <a:srgbClr val="202124"/>
                          </a:solidFill>
                          <a:latin typeface="Google Sans Flex"/>
                          <a:ea typeface="Google Sans Flex"/>
                          <a:cs typeface="Google Sans Flex"/>
                        </a:rPr>
                        <a:t>Same hosted repair</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11/11 checks passed in each of 3 observation windows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Deterministic evaluation</a:t>
                      </a:r>
                    </a:p>
                    <a:p>
                      <a:r>
                        <a:rPr sz="1275" b="0">
                          <a:solidFill>
                            <a:srgbClr val="202124"/>
                          </a:solidFill>
                          <a:latin typeface="Google Sans Flex"/>
                          <a:ea typeface="Google Sans Flex"/>
                          <a:cs typeface="Google Sans Flex"/>
                        </a:rPr>
                        <a:t>13 October 2026</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320 cases: 200 verified repairs, 120 abstentions,</a:t>
                      </a:r>
                    </a:p>
                    <a:p>
                      <a:r>
                        <a:rPr sz="1275" b="0">
                          <a:solidFill>
                            <a:srgbClr val="202124"/>
                          </a:solidFill>
                          <a:latin typeface="Google Sans Flex"/>
                          <a:ea typeface="Google Sans Flex"/>
                          <a:cs typeface="Google Sans Flex"/>
                        </a:rPr>
                        <a:t>0 unsafe passes; 13/13 controls passed</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bl>
          </a:graphicData>
        </a:graphic>
      </p:graphicFrame>
      <p:sp>
        <p:nvSpPr>
          <p:cNvPr id="145" name="benchmark-limit">
            <a:extLst xmlns:a="http://schemas.openxmlformats.org/drawingml/2006/main">
              <a:ext uri="{FF2B5EF4-FFF2-40B4-BE49-F238E27FC236}">
                <a16:creationId xmlns:a16="http://schemas.microsoft.com/office/drawing/2014/main" id="{DAD05063-9DF2-4F0D-9E1F-0491CA0E157C}"/>
              </a:ext>
            </a:extLst>
          </p:cNvPr>
          <p:cNvSpPr>
            <a:spLocks xmlns:a="http://schemas.openxmlformats.org/drawingml/2006/main" noGrp="1"/>
          </p:cNvSpPr>
          <p:nvPr/>
        </p:nvSpPr>
        <p:spPr>
          <a:xfrm xmlns:a="http://schemas.openxmlformats.org/drawingml/2006/main">
            <a:off x="342900" y="4352925"/>
            <a:ext cx="8458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F6368"/>
                </a:solidFill>
                <a:latin typeface="Google Sans Flex"/>
                <a:ea typeface="Google Sans Flex"/>
                <a:cs typeface="Google Sans Flex"/>
              </a:defRPr>
            </a:defPPr>
          </a:lstStyle>
          <a:p xmlns:a="http://schemas.openxmlformats.org/drawingml/2006/main">
            <a:pPr>
              <a:defRPr sz="1425" b="0">
                <a:solidFill>
                  <a:srgbClr val="5F6368"/>
                </a:solidFill>
                <a:latin typeface="Google Sans Flex"/>
                <a:ea typeface="Google Sans Flex"/>
                <a:cs typeface="Google Sans Flex"/>
              </a:defRPr>
            </a:pPr>
            <a:r>
              <a:rPr sz="1425" b="0">
                <a:solidFill>
                  <a:srgbClr val="5F6368"/>
                </a:solidFill>
                <a:latin typeface="Google Sans Flex"/>
                <a:ea typeface="Google Sans Flex"/>
                <a:cs typeface="Google Sans Flex"/>
              </a:rPr>
              <a:t>The 320-case suite uses the runbook/model twin and makes zero Gemini calls.</a:t>
            </a:r>
          </a:p>
          <a:p xmlns:a="http://schemas.openxmlformats.org/drawingml/2006/main">
            <a:pPr>
              <a:defRPr sz="1425" b="0">
                <a:solidFill>
                  <a:srgbClr val="5F6368"/>
                </a:solidFill>
                <a:latin typeface="Google Sans Flex"/>
                <a:ea typeface="Google Sans Flex"/>
                <a:cs typeface="Google Sans Flex"/>
              </a:defRPr>
            </a:pPr>
            <a:r>
              <a:rPr sz="1425" b="0">
                <a:solidFill>
                  <a:srgbClr val="5F6368"/>
                </a:solidFill>
                <a:latin typeface="Google Sans Flex"/>
                <a:ea typeface="Google Sans Flex"/>
                <a:cs typeface="Google Sans Flex"/>
              </a:rPr>
              <a:t>One hosted repair does not establish production reliability or measured time savings.</a:t>
            </a:r>
          </a:p>
        </p:txBody>
      </p:sp>
    </p:spTree>
    <p:extLst>
      <p:ext uri="{BB962C8B-B14F-4D97-AF65-F5344CB8AC3E}">
        <p14:creationId xmlns:p14="http://schemas.microsoft.com/office/powerpoint/2010/main" val="183779990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48" name="Google Shape;148;p25">
            <a:extLst xmlns:a="http://schemas.openxmlformats.org/drawingml/2006/main">
              <a:ext uri="{FF2B5EF4-FFF2-40B4-BE49-F238E27FC236}">
                <a16:creationId xmlns:a16="http://schemas.microsoft.com/office/drawing/2014/main" id="{1CED328A-08D3-4046-8E18-C3192695CB9A}"/>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d90d01e3b8f446d8">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49" name="Google Shape;149;p25">
            <a:extLst xmlns:a="http://schemas.openxmlformats.org/drawingml/2006/main">
              <a:ext uri="{FF2B5EF4-FFF2-40B4-BE49-F238E27FC236}">
                <a16:creationId xmlns:a16="http://schemas.microsoft.com/office/drawing/2014/main" id="{DC8830BF-9B6A-4BE2-8053-8E4667D2420A}"/>
              </a:ext>
            </a:extLst>
          </p:cNvPr>
          <p:cNvPicPr>
            <a:picLocks xmlns:a="http://schemas.openxmlformats.org/drawingml/2006/main" noChangeAspect="1"/>
          </p:cNvPicPr>
          <p:nvPr/>
        </p:nvPicPr>
        <p:blipFill>
          <a:blip xmlns:r="http://schemas.openxmlformats.org/officeDocument/2006/relationships" xmlns:a="http://schemas.openxmlformats.org/drawingml/2006/main" r:embed="Rf2374e10ef0e441c">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50" name="Google Shape;150;p25">
            <a:extLst xmlns:a="http://schemas.openxmlformats.org/drawingml/2006/main">
              <a:ext uri="{FF2B5EF4-FFF2-40B4-BE49-F238E27FC236}">
                <a16:creationId xmlns:a16="http://schemas.microsoft.com/office/drawing/2014/main" id="{5C7652F4-6DA7-4CEB-B1F6-EF98E51AA16F}"/>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1" name="Google Shape;151;p25">
            <a:extLst xmlns:a="http://schemas.openxmlformats.org/drawingml/2006/main">
              <a:ext uri="{FF2B5EF4-FFF2-40B4-BE49-F238E27FC236}">
                <a16:creationId xmlns:a16="http://schemas.microsoft.com/office/drawing/2014/main" id="{0DAC952A-851C-46B5-B58E-F65FA75B5561}"/>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Additional details / future development</a:t>
            </a:r>
            <a:endParaRPr sz="1600">
              <a:latin typeface="Google Sans Flex Medium"/>
              <a:ea typeface="Google Sans Flex Medium"/>
              <a:cs typeface="Google Sans Flex Medium"/>
            </a:endParaRPr>
          </a:p>
        </p:txBody>
      </p:sp>
      <p:sp>
        <p:nvSpPr>
          <p:cNvPr id="152" name="future-heading-0">
            <a:extLst xmlns:a="http://schemas.openxmlformats.org/drawingml/2006/main">
              <a:ext uri="{FF2B5EF4-FFF2-40B4-BE49-F238E27FC236}">
                <a16:creationId xmlns:a16="http://schemas.microsoft.com/office/drawing/2014/main" id="{B5F2C73C-7A3B-463C-BF6A-F803DB4F008B}"/>
              </a:ext>
            </a:extLst>
          </p:cNvPr>
          <p:cNvSpPr>
            <a:spLocks xmlns:a="http://schemas.openxmlformats.org/drawingml/2006/main" noGrp="1"/>
          </p:cNvSpPr>
          <p:nvPr/>
        </p:nvSpPr>
        <p:spPr>
          <a:xfrm xmlns:a="http://schemas.openxmlformats.org/drawingml/2006/main">
            <a:off x="342900" y="135255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Today: a shared prototype</a:t>
            </a:r>
          </a:p>
        </p:txBody>
      </p:sp>
      <p:sp>
        <p:nvSpPr>
          <p:cNvPr id="153" name="future-body-0">
            <a:extLst xmlns:a="http://schemas.openxmlformats.org/drawingml/2006/main">
              <a:ext uri="{FF2B5EF4-FFF2-40B4-BE49-F238E27FC236}">
                <a16:creationId xmlns:a16="http://schemas.microsoft.com/office/drawing/2014/main" id="{9EAEE4E8-8BC6-424D-9EE5-8BEA98CD81A4}"/>
              </a:ext>
            </a:extLst>
          </p:cNvPr>
          <p:cNvSpPr>
            <a:spLocks xmlns:a="http://schemas.openxmlformats.org/drawingml/2006/main" noGrp="1"/>
          </p:cNvSpPr>
          <p:nvPr/>
        </p:nvSpPr>
        <p:spPr>
          <a:xfrm xmlns:a="http://schemas.openxmlformats.org/drawingml/2006/main">
            <a:off x="342900" y="1666875"/>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Routing, DNS and TLS exercises on synthetic topology.</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One lab instance, ephemeral evidence and a shared approval credential.</a:t>
            </a:r>
          </a:p>
        </p:txBody>
      </p:sp>
      <p:sp>
        <p:nvSpPr>
          <p:cNvPr id="154" name="future-heading-1">
            <a:extLst xmlns:a="http://schemas.openxmlformats.org/drawingml/2006/main">
              <a:ext uri="{FF2B5EF4-FFF2-40B4-BE49-F238E27FC236}">
                <a16:creationId xmlns:a16="http://schemas.microsoft.com/office/drawing/2014/main" id="{08B03C73-EEE9-4CCA-A3A4-26A4A6B30568}"/>
              </a:ext>
            </a:extLst>
          </p:cNvPr>
          <p:cNvSpPr>
            <a:spLocks xmlns:a="http://schemas.openxmlformats.org/drawingml/2006/main" noGrp="1"/>
          </p:cNvSpPr>
          <p:nvPr/>
        </p:nvSpPr>
        <p:spPr>
          <a:xfrm xmlns:a="http://schemas.openxmlformats.org/drawingml/2006/main">
            <a:off x="342900" y="221932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Next: operator evaluation</a:t>
            </a:r>
          </a:p>
        </p:txBody>
      </p:sp>
      <p:sp>
        <p:nvSpPr>
          <p:cNvPr id="155" name="future-body-1">
            <a:extLst xmlns:a="http://schemas.openxmlformats.org/drawingml/2006/main">
              <a:ext uri="{FF2B5EF4-FFF2-40B4-BE49-F238E27FC236}">
                <a16:creationId xmlns:a16="http://schemas.microsoft.com/office/drawing/2014/main" id="{6C7E5F53-F3BC-4480-B24A-10C48CE186AB}"/>
              </a:ext>
            </a:extLst>
          </p:cNvPr>
          <p:cNvSpPr>
            <a:spLocks xmlns:a="http://schemas.openxmlformats.org/drawingml/2006/main" noGrp="1"/>
          </p:cNvSpPr>
          <p:nvPr/>
        </p:nvSpPr>
        <p:spPr>
          <a:xfrm xmlns:a="http://schemas.openxmlformats.org/drawingml/2006/main">
            <a:off x="342900" y="2533650"/>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Compare investigation and review effort against a baseline.</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Measure escalation, rollback outcomes and decision quality.</a:t>
            </a:r>
          </a:p>
        </p:txBody>
      </p:sp>
      <p:sp>
        <p:nvSpPr>
          <p:cNvPr id="156" name="future-heading-2">
            <a:extLst xmlns:a="http://schemas.openxmlformats.org/drawingml/2006/main">
              <a:ext uri="{FF2B5EF4-FFF2-40B4-BE49-F238E27FC236}">
                <a16:creationId xmlns:a16="http://schemas.microsoft.com/office/drawing/2014/main" id="{078DA8A5-9747-4C7E-BF72-467804EB54E4}"/>
              </a:ext>
            </a:extLst>
          </p:cNvPr>
          <p:cNvSpPr>
            <a:spLocks xmlns:a="http://schemas.openxmlformats.org/drawingml/2006/main" noGrp="1"/>
          </p:cNvSpPr>
          <p:nvPr/>
        </p:nvSpPr>
        <p:spPr>
          <a:xfrm xmlns:a="http://schemas.openxmlformats.org/drawingml/2006/main">
            <a:off x="342900" y="308610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Then: a read-only shadow pilot</a:t>
            </a:r>
          </a:p>
        </p:txBody>
      </p:sp>
      <p:sp>
        <p:nvSpPr>
          <p:cNvPr id="157" name="future-body-2">
            <a:extLst xmlns:a="http://schemas.openxmlformats.org/drawingml/2006/main">
              <a:ext uri="{FF2B5EF4-FFF2-40B4-BE49-F238E27FC236}">
                <a16:creationId xmlns:a16="http://schemas.microsoft.com/office/drawing/2014/main" id="{916B47E0-F9A3-47FB-B622-56395FFA0ECC}"/>
              </a:ext>
            </a:extLst>
          </p:cNvPr>
          <p:cNvSpPr>
            <a:spLocks xmlns:a="http://schemas.openxmlformats.org/drawingml/2006/main" noGrp="1"/>
          </p:cNvSpPr>
          <p:nvPr/>
        </p:nvSpPr>
        <p:spPr>
          <a:xfrm xmlns:a="http://schemas.openxmlformats.org/drawingml/2006/main">
            <a:off x="342900" y="3400425"/>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Validate network adapters and twin coverage against real environments</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before enabling operational change.</a:t>
            </a:r>
          </a:p>
        </p:txBody>
      </p:sp>
      <p:sp>
        <p:nvSpPr>
          <p:cNvPr id="158" name="future-heading-3">
            <a:extLst xmlns:a="http://schemas.openxmlformats.org/drawingml/2006/main">
              <a:ext uri="{FF2B5EF4-FFF2-40B4-BE49-F238E27FC236}">
                <a16:creationId xmlns:a16="http://schemas.microsoft.com/office/drawing/2014/main" id="{2AFF7B90-F50D-4638-B43C-F4AFA2F948D8}"/>
              </a:ext>
            </a:extLst>
          </p:cNvPr>
          <p:cNvSpPr>
            <a:spLocks xmlns:a="http://schemas.openxmlformats.org/drawingml/2006/main" noGrp="1"/>
          </p:cNvSpPr>
          <p:nvPr/>
        </p:nvSpPr>
        <p:spPr>
          <a:xfrm xmlns:a="http://schemas.openxmlformats.org/drawingml/2006/main">
            <a:off x="342900" y="395287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For wider deployment</a:t>
            </a:r>
          </a:p>
        </p:txBody>
      </p:sp>
      <p:sp>
        <p:nvSpPr>
          <p:cNvPr id="159" name="future-body-3">
            <a:extLst xmlns:a="http://schemas.openxmlformats.org/drawingml/2006/main">
              <a:ext uri="{FF2B5EF4-FFF2-40B4-BE49-F238E27FC236}">
                <a16:creationId xmlns:a16="http://schemas.microsoft.com/office/drawing/2014/main" id="{EE4B0CEF-7E5C-40E6-AC05-C21C7EC138D5}"/>
              </a:ext>
            </a:extLst>
          </p:cNvPr>
          <p:cNvSpPr>
            <a:spLocks xmlns:a="http://schemas.openxmlformats.org/drawingml/2006/main" noGrp="1"/>
          </p:cNvSpPr>
          <p:nvPr/>
        </p:nvSpPr>
        <p:spPr>
          <a:xfrm xmlns:a="http://schemas.openxmlformats.org/drawingml/2006/main">
            <a:off x="342900" y="4267200"/>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Durable evidence storage, individual identity, per-target isolation,</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owned monitoring and tested recovery are required.</a:t>
            </a:r>
          </a:p>
        </p:txBody>
      </p:sp>
    </p:spTree>
    <p:extLst>
      <p:ext uri="{BB962C8B-B14F-4D97-AF65-F5344CB8AC3E}">
        <p14:creationId xmlns:p14="http://schemas.microsoft.com/office/powerpoint/2010/main" val="45050036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156" name="Google Shape;156;p26">
            <a:extLst xmlns:a="http://schemas.openxmlformats.org/drawingml/2006/main">
              <a:ext uri="{FF2B5EF4-FFF2-40B4-BE49-F238E27FC236}">
                <a16:creationId xmlns:a16="http://schemas.microsoft.com/office/drawing/2014/main" id="{92BEA44A-290C-47E3-AE78-B4382E40D80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5be21e1e6414bfe">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57" name="Google Shape;157;p26">
            <a:extLst xmlns:a="http://schemas.openxmlformats.org/drawingml/2006/main">
              <a:ext uri="{FF2B5EF4-FFF2-40B4-BE49-F238E27FC236}">
                <a16:creationId xmlns:a16="http://schemas.microsoft.com/office/drawing/2014/main" id="{B8D9773F-33C7-4CB8-8234-C5ADEE60A99C}"/>
              </a:ext>
            </a:extLst>
          </p:cNvPr>
          <p:cNvPicPr>
            <a:picLocks xmlns:a="http://schemas.openxmlformats.org/drawingml/2006/main" noChangeAspect="1"/>
          </p:cNvPicPr>
          <p:nvPr/>
        </p:nvPicPr>
        <p:blipFill>
          <a:blip xmlns:r="http://schemas.openxmlformats.org/officeDocument/2006/relationships" xmlns:a="http://schemas.openxmlformats.org/drawingml/2006/main" r:embed="Rd1ae0013ebb545b6">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58" name="Google Shape;158;p26">
            <a:extLst xmlns:a="http://schemas.openxmlformats.org/drawingml/2006/main">
              <a:ext uri="{FF2B5EF4-FFF2-40B4-BE49-F238E27FC236}">
                <a16:creationId xmlns:a16="http://schemas.microsoft.com/office/drawing/2014/main" id="{F2476B64-72C7-4CB1-8230-635A3EA134BB}"/>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9" name="Google Shape;159;p26">
            <a:extLst xmlns:a="http://schemas.openxmlformats.org/drawingml/2006/main">
              <a:ext uri="{FF2B5EF4-FFF2-40B4-BE49-F238E27FC236}">
                <a16:creationId xmlns:a16="http://schemas.microsoft.com/office/drawing/2014/main" id="{38DA41A9-5298-408F-B4AE-0139E7627510}"/>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Public repository, demo video and final product</a:t>
            </a:r>
            <a:endParaRPr sz="1600">
              <a:latin typeface="Google Sans Flex Medium"/>
              <a:ea typeface="Google Sans Flex Medium"/>
              <a:cs typeface="Google Sans Flex Medium"/>
            </a:endParaRPr>
          </a:p>
        </p:txBody>
      </p:sp>
      <p:sp>
        <p:nvSpPr>
          <p:cNvPr id="160" name="GitHub public repository label">
            <a:extLst xmlns:a="http://schemas.openxmlformats.org/drawingml/2006/main">
              <a:ext uri="{FF2B5EF4-FFF2-40B4-BE49-F238E27FC236}">
                <a16:creationId xmlns:a16="http://schemas.microsoft.com/office/drawing/2014/main" id="{DEFC0C26-47A5-4C76-B2CC-81EE812D4007}"/>
              </a:ext>
            </a:extLst>
          </p:cNvPr>
          <p:cNvSpPr>
            <a:spLocks xmlns:a="http://schemas.openxmlformats.org/drawingml/2006/main" noGrp="1"/>
          </p:cNvSpPr>
          <p:nvPr/>
        </p:nvSpPr>
        <p:spPr>
          <a:xfrm xmlns:a="http://schemas.openxmlformats.org/drawingml/2006/main">
            <a:off x="342900" y="1362075"/>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GitHub public repository</a:t>
            </a:r>
          </a:p>
        </p:txBody>
      </p:sp>
      <p:sp>
        <p:nvSpPr>
          <p:cNvPr id="161" name="GitHub public repository URL">
            <a:extLst xmlns:a="http://schemas.openxmlformats.org/drawingml/2006/main">
              <a:ext uri="{FF2B5EF4-FFF2-40B4-BE49-F238E27FC236}">
                <a16:creationId xmlns:a16="http://schemas.microsoft.com/office/drawing/2014/main" id="{E56422A8-75F6-480E-9C81-D254E7F73105}"/>
              </a:ext>
            </a:extLst>
          </p:cNvPr>
          <p:cNvSpPr>
            <a:spLocks xmlns:a="http://schemas.openxmlformats.org/drawingml/2006/main" noGrp="1"/>
          </p:cNvSpPr>
          <p:nvPr/>
        </p:nvSpPr>
        <p:spPr>
          <a:xfrm xmlns:a="http://schemas.openxmlformats.org/drawingml/2006/main">
            <a:off x="342900" y="165735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f1212f38d02342e1"/>
              </a:rPr>
              <a:t>https://github.com/prabhakarcs786/twinops</a:t>
            </a:r>
          </a:p>
        </p:txBody>
      </p:sp>
      <p:sp>
        <p:nvSpPr>
          <p:cNvPr id="162" name="Demo video label">
            <a:extLst xmlns:a="http://schemas.openxmlformats.org/drawingml/2006/main">
              <a:ext uri="{FF2B5EF4-FFF2-40B4-BE49-F238E27FC236}">
                <a16:creationId xmlns:a16="http://schemas.microsoft.com/office/drawing/2014/main" id="{4D2C36DE-4BB3-4AA9-98B8-9A48C99E2FC4}"/>
              </a:ext>
            </a:extLst>
          </p:cNvPr>
          <p:cNvSpPr>
            <a:spLocks xmlns:a="http://schemas.openxmlformats.org/drawingml/2006/main" noGrp="1"/>
          </p:cNvSpPr>
          <p:nvPr/>
        </p:nvSpPr>
        <p:spPr>
          <a:xfrm xmlns:a="http://schemas.openxmlformats.org/drawingml/2006/main">
            <a:off x="342900" y="2114550"/>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Demo video</a:t>
            </a:r>
          </a:p>
        </p:txBody>
      </p:sp>
      <p:sp>
        <p:nvSpPr>
          <p:cNvPr id="163" name="Demo video URL">
            <a:extLst xmlns:a="http://schemas.openxmlformats.org/drawingml/2006/main">
              <a:ext uri="{FF2B5EF4-FFF2-40B4-BE49-F238E27FC236}">
                <a16:creationId xmlns:a16="http://schemas.microsoft.com/office/drawing/2014/main" id="{1EFDDA32-B5C4-4148-BC3F-966A91F14214}"/>
              </a:ext>
            </a:extLst>
          </p:cNvPr>
          <p:cNvSpPr>
            <a:spLocks xmlns:a="http://schemas.openxmlformats.org/drawingml/2006/main" noGrp="1"/>
          </p:cNvSpPr>
          <p:nvPr/>
        </p:nvSpPr>
        <p:spPr>
          <a:xfrm xmlns:a="http://schemas.openxmlformats.org/drawingml/2006/main">
            <a:off x="342900" y="240982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2b63ed3d073f43ab"/>
              </a:rPr>
              <a:t>https://youtu.be/wyze5IWUEC0</a:t>
            </a:r>
          </a:p>
        </p:txBody>
      </p:sp>
      <p:sp>
        <p:nvSpPr>
          <p:cNvPr id="164" name="Final product: TwinOps workbench label">
            <a:extLst xmlns:a="http://schemas.openxmlformats.org/drawingml/2006/main">
              <a:ext uri="{FF2B5EF4-FFF2-40B4-BE49-F238E27FC236}">
                <a16:creationId xmlns:a16="http://schemas.microsoft.com/office/drawing/2014/main" id="{86BD364F-2173-49C8-926D-BCD0E6341228}"/>
              </a:ext>
            </a:extLst>
          </p:cNvPr>
          <p:cNvSpPr>
            <a:spLocks xmlns:a="http://schemas.openxmlformats.org/drawingml/2006/main" noGrp="1"/>
          </p:cNvSpPr>
          <p:nvPr/>
        </p:nvSpPr>
        <p:spPr>
          <a:xfrm xmlns:a="http://schemas.openxmlformats.org/drawingml/2006/main">
            <a:off x="342900" y="2867025"/>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Final product: TwinOps workbench</a:t>
            </a:r>
          </a:p>
        </p:txBody>
      </p:sp>
      <p:sp>
        <p:nvSpPr>
          <p:cNvPr id="165" name="Final product: TwinOps workbench URL">
            <a:extLst xmlns:a="http://schemas.openxmlformats.org/drawingml/2006/main">
              <a:ext uri="{FF2B5EF4-FFF2-40B4-BE49-F238E27FC236}">
                <a16:creationId xmlns:a16="http://schemas.microsoft.com/office/drawing/2014/main" id="{748F9E3C-4997-4DC9-8473-472740ACBBF3}"/>
              </a:ext>
            </a:extLst>
          </p:cNvPr>
          <p:cNvSpPr>
            <a:spLocks xmlns:a="http://schemas.openxmlformats.org/drawingml/2006/main" noGrp="1"/>
          </p:cNvSpPr>
          <p:nvPr/>
        </p:nvSpPr>
        <p:spPr>
          <a:xfrm xmlns:a="http://schemas.openxmlformats.org/drawingml/2006/main">
            <a:off x="342900" y="316230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2cc76cee96d9442b"/>
              </a:rPr>
              <a:t>https://twinops-live-705406130795.europe-west1.run.app/workbench</a:t>
            </a:r>
          </a:p>
        </p:txBody>
      </p:sp>
      <p:sp>
        <p:nvSpPr>
          <p:cNvPr id="166" name="Connected application: Metro Network label">
            <a:extLst xmlns:a="http://schemas.openxmlformats.org/drawingml/2006/main">
              <a:ext uri="{FF2B5EF4-FFF2-40B4-BE49-F238E27FC236}">
                <a16:creationId xmlns:a16="http://schemas.microsoft.com/office/drawing/2014/main" id="{8CA6C681-475C-4CE0-9A1C-B32BEC55F197}"/>
              </a:ext>
            </a:extLst>
          </p:cNvPr>
          <p:cNvSpPr>
            <a:spLocks xmlns:a="http://schemas.openxmlformats.org/drawingml/2006/main" noGrp="1"/>
          </p:cNvSpPr>
          <p:nvPr/>
        </p:nvSpPr>
        <p:spPr>
          <a:xfrm xmlns:a="http://schemas.openxmlformats.org/drawingml/2006/main">
            <a:off x="342900" y="3619500"/>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Connected application: Metro Network</a:t>
            </a:r>
          </a:p>
        </p:txBody>
      </p:sp>
      <p:sp>
        <p:nvSpPr>
          <p:cNvPr id="167" name="Connected application: Metro Network URL">
            <a:extLst xmlns:a="http://schemas.openxmlformats.org/drawingml/2006/main">
              <a:ext uri="{FF2B5EF4-FFF2-40B4-BE49-F238E27FC236}">
                <a16:creationId xmlns:a16="http://schemas.microsoft.com/office/drawing/2014/main" id="{DF1FBDE3-AC31-4FC5-B9D4-9F8E637D9044}"/>
              </a:ext>
            </a:extLst>
          </p:cNvPr>
          <p:cNvSpPr>
            <a:spLocks xmlns:a="http://schemas.openxmlformats.org/drawingml/2006/main" noGrp="1"/>
          </p:cNvSpPr>
          <p:nvPr/>
        </p:nvSpPr>
        <p:spPr>
          <a:xfrm xmlns:a="http://schemas.openxmlformats.org/drawingml/2006/main">
            <a:off x="342900" y="391477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2fef4abcf80b4b83"/>
              </a:rPr>
              <a:t>https://twinops-live-705406130795.europe-west1.run.app/metro/</a:t>
            </a:r>
          </a:p>
        </p:txBody>
      </p:sp>
      <p:sp>
        <p:nvSpPr>
          <p:cNvPr id="168" name="judge-guide">
            <a:extLst xmlns:a="http://schemas.openxmlformats.org/drawingml/2006/main">
              <a:ext uri="{FF2B5EF4-FFF2-40B4-BE49-F238E27FC236}">
                <a16:creationId xmlns:a16="http://schemas.microsoft.com/office/drawing/2014/main" id="{74F1F05C-6D45-4627-8F5F-59A3BDB0AB27}"/>
              </a:ext>
            </a:extLst>
          </p:cNvPr>
          <p:cNvSpPr>
            <a:spLocks xmlns:a="http://schemas.openxmlformats.org/drawingml/2006/main" noGrp="1"/>
          </p:cNvSpPr>
          <p:nvPr/>
        </p:nvSpPr>
        <p:spPr>
          <a:xfrm xmlns:a="http://schemas.openxmlformats.org/drawingml/2006/main">
            <a:off x="342900" y="456247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b42d4ed9b9f24d3f"/>
              </a:rPr>
              <a:t>Review access and walkthrough: GitHub / docs / JUDGE_GUIDE.md</a:t>
            </a:r>
          </a:p>
        </p:txBody>
      </p:sp>
    </p:spTree>
    <p:extLst>
      <p:ext uri="{BB962C8B-B14F-4D97-AF65-F5344CB8AC3E}">
        <p14:creationId xmlns:p14="http://schemas.microsoft.com/office/powerpoint/2010/main" val="77224081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71" name="Google Shape;171;p28">
            <a:extLst xmlns:a="http://schemas.openxmlformats.org/drawingml/2006/main">
              <a:ext uri="{FF2B5EF4-FFF2-40B4-BE49-F238E27FC236}">
                <a16:creationId xmlns:a16="http://schemas.microsoft.com/office/drawing/2014/main" id="{4D908D84-CA14-480B-8BA5-92729AFA730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a84fb67824c34a3c">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72" name="Google Shape;172;p28">
            <a:extLst xmlns:a="http://schemas.openxmlformats.org/drawingml/2006/main">
              <a:ext uri="{FF2B5EF4-FFF2-40B4-BE49-F238E27FC236}">
                <a16:creationId xmlns:a16="http://schemas.microsoft.com/office/drawing/2014/main" id="{D70C0CCF-0198-4490-AD77-36FFC6C26C36}"/>
              </a:ext>
            </a:extLst>
          </p:cNvPr>
          <p:cNvPicPr>
            <a:picLocks xmlns:a="http://schemas.openxmlformats.org/drawingml/2006/main" noChangeAspect="1"/>
          </p:cNvPicPr>
          <p:nvPr/>
        </p:nvPicPr>
        <p:blipFill>
          <a:blip xmlns:r="http://schemas.openxmlformats.org/officeDocument/2006/relationships" xmlns:a="http://schemas.openxmlformats.org/drawingml/2006/main" r:embed="Rd5c16497cb9443a4">
            <a:alphaModFix/>
          </a:blip>
          <a:stretch xmlns:a="http://schemas.openxmlformats.org/drawingml/2006/main">
            <a:fillRect l="0" t="0" r="0" b="0"/>
          </a:stretch>
        </p:blipFill>
        <p:spPr>
          <a:xfrm xmlns:a="http://schemas.openxmlformats.org/drawingml/2006/main">
            <a:off x="0" y="0"/>
            <a:ext cx="9144000" cy="5143516"/>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632445138"/>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2026-10-16T05:08:23.6410000Z</dcterms:created>
  <dcterms:modified xsi:type="dcterms:W3CDTF">2026-10-16T05:08:23.6410000Z</dcterms:modified>
</coreProperties>
</file>